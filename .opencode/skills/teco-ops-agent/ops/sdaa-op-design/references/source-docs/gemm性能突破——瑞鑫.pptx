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369" r:id="rId2"/>
    <p:sldId id="417" r:id="rId3"/>
    <p:sldId id="257" r:id="rId4"/>
    <p:sldId id="457" r:id="rId5"/>
    <p:sldId id="464" r:id="rId6"/>
    <p:sldId id="424" r:id="rId7"/>
    <p:sldId id="458" r:id="rId8"/>
    <p:sldId id="419" r:id="rId9"/>
    <p:sldId id="459" r:id="rId10"/>
    <p:sldId id="465" r:id="rId11"/>
    <p:sldId id="466" r:id="rId12"/>
    <p:sldId id="461" r:id="rId13"/>
    <p:sldId id="468" r:id="rId14"/>
    <p:sldId id="467" r:id="rId15"/>
    <p:sldId id="420" r:id="rId16"/>
    <p:sldId id="470" r:id="rId17"/>
    <p:sldId id="469" r:id="rId18"/>
    <p:sldId id="471" r:id="rId19"/>
    <p:sldId id="472" r:id="rId20"/>
    <p:sldId id="473" r:id="rId21"/>
    <p:sldId id="475" r:id="rId22"/>
    <p:sldId id="476" r:id="rId23"/>
    <p:sldId id="477" r:id="rId24"/>
    <p:sldId id="478" r:id="rId25"/>
  </p:sldIdLst>
  <p:sldSz cx="12192000" cy="6858000"/>
  <p:notesSz cx="6858000" cy="9144000"/>
  <p:custDataLst>
    <p:tags r:id="rId2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6F766433-D6BA-41C6-84E2-A021822876F8}">
          <p14:sldIdLst>
            <p14:sldId id="369"/>
            <p14:sldId id="417"/>
            <p14:sldId id="257"/>
            <p14:sldId id="457"/>
            <p14:sldId id="464"/>
            <p14:sldId id="424"/>
            <p14:sldId id="458"/>
            <p14:sldId id="419"/>
            <p14:sldId id="459"/>
            <p14:sldId id="465"/>
            <p14:sldId id="466"/>
            <p14:sldId id="461"/>
            <p14:sldId id="468"/>
            <p14:sldId id="467"/>
            <p14:sldId id="420"/>
            <p14:sldId id="470"/>
            <p14:sldId id="469"/>
            <p14:sldId id="471"/>
            <p14:sldId id="472"/>
            <p14:sldId id="473"/>
            <p14:sldId id="475"/>
            <p14:sldId id="476"/>
            <p14:sldId id="477"/>
            <p14:sldId id="478"/>
          </p14:sldIdLst>
        </p14:section>
      </p14:sectionLst>
    </p:ext>
    <p:ext uri="{EFAFB233-063F-42B5-8137-9DF3F51BA10A}">
      <p15:sldGuideLst xmlns:p15="http://schemas.microsoft.com/office/powerpoint/2012/main">
        <p15:guide id="1" orient="horz" pos="2134" userDrawn="1">
          <p15:clr>
            <a:srgbClr val="A4A3A4"/>
          </p15:clr>
        </p15:guide>
        <p15:guide id="2" pos="3874" userDrawn="1">
          <p15:clr>
            <a:srgbClr val="A4A3A4"/>
          </p15:clr>
        </p15:guide>
        <p15:guide id="3" pos="150" userDrawn="1">
          <p15:clr>
            <a:srgbClr val="A4A3A4"/>
          </p15:clr>
        </p15:guide>
        <p15:guide id="4" pos="746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F8EE"/>
    <a:srgbClr val="FEF8F4"/>
    <a:srgbClr val="FDF1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84" autoAdjust="0"/>
    <p:restoredTop sz="88912" autoAdjust="0"/>
  </p:normalViewPr>
  <p:slideViewPr>
    <p:cSldViewPr snapToGrid="0" showGuides="1">
      <p:cViewPr varScale="1">
        <p:scale>
          <a:sx n="112" d="100"/>
          <a:sy n="112" d="100"/>
        </p:scale>
        <p:origin x="496" y="176"/>
      </p:cViewPr>
      <p:guideLst>
        <p:guide orient="horz" pos="2134"/>
        <p:guide pos="3874"/>
        <p:guide pos="150"/>
        <p:guide pos="746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gs" Target="tags/tag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995A7D-20F9-4E17-B9D7-E5E093E38485}" type="datetimeFigureOut">
              <a:rPr lang="zh-CN" altLang="en-US" smtClean="0"/>
              <a:t>2024/3/12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1C8DB7-92EA-465B-81F5-11A9BE5871A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4000" dirty="0">
              <a:solidFill>
                <a:srgbClr val="C00000"/>
              </a:solidFill>
            </a:endParaRPr>
          </a:p>
        </p:txBody>
      </p:sp>
      <p:sp>
        <p:nvSpPr>
          <p:cNvPr id="4" name="灯片编号占位符 3"/>
          <p:cNvSpPr>
            <a:spLocks noGrp="1"/>
          </p:cNvSpPr>
          <p:nvPr>
            <p:ph type="sldNum" sz="quarter" idx="5"/>
          </p:nvPr>
        </p:nvSpPr>
        <p:spPr/>
        <p:txBody>
          <a:bodyPr/>
          <a:lstStyle/>
          <a:p>
            <a:fld id="{CBB093CC-6E38-42C0-8839-2AB85AA86EA5}"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C1C8DB7-92EA-465B-81F5-11A9BE5871AD}" type="slidenum">
              <a:rPr lang="zh-CN" altLang="en-US" smtClean="0"/>
              <a:t>2</a:t>
            </a:fld>
            <a:endParaRPr lang="zh-CN" altLang="en-US"/>
          </a:p>
        </p:txBody>
      </p:sp>
    </p:spTree>
    <p:extLst>
      <p:ext uri="{BB962C8B-B14F-4D97-AF65-F5344CB8AC3E}">
        <p14:creationId xmlns:p14="http://schemas.microsoft.com/office/powerpoint/2010/main" val="33678646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C1C8DB7-92EA-465B-81F5-11A9BE5871AD}" type="slidenum">
              <a:rPr lang="zh-CN" altLang="en-US" smtClean="0"/>
              <a:t>4</a:t>
            </a:fld>
            <a:endParaRPr lang="zh-CN" altLang="en-US"/>
          </a:p>
        </p:txBody>
      </p:sp>
    </p:spTree>
    <p:extLst>
      <p:ext uri="{BB962C8B-B14F-4D97-AF65-F5344CB8AC3E}">
        <p14:creationId xmlns:p14="http://schemas.microsoft.com/office/powerpoint/2010/main" val="21904294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BB093CC-6E38-42C0-8839-2AB85AA86EA5}" type="slidenum">
              <a:rPr lang="zh-CN" altLang="en-US" smtClean="0"/>
              <a:t>5</a:t>
            </a:fld>
            <a:endParaRPr lang="zh-CN" altLang="en-US"/>
          </a:p>
        </p:txBody>
      </p:sp>
    </p:spTree>
    <p:extLst>
      <p:ext uri="{BB962C8B-B14F-4D97-AF65-F5344CB8AC3E}">
        <p14:creationId xmlns:p14="http://schemas.microsoft.com/office/powerpoint/2010/main" val="40549170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BB093CC-6E38-42C0-8839-2AB85AA86EA5}" type="slidenum">
              <a:rPr lang="zh-CN" altLang="en-US" smtClean="0"/>
              <a:t>6</a:t>
            </a:fld>
            <a:endParaRPr lang="zh-CN" altLang="en-US"/>
          </a:p>
        </p:txBody>
      </p:sp>
    </p:spTree>
    <p:extLst>
      <p:ext uri="{BB962C8B-B14F-4D97-AF65-F5344CB8AC3E}">
        <p14:creationId xmlns:p14="http://schemas.microsoft.com/office/powerpoint/2010/main" val="12227972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C1C8DB7-92EA-465B-81F5-11A9BE5871AD}" type="slidenum">
              <a:rPr lang="zh-CN" altLang="en-US" smtClean="0"/>
              <a:t>7</a:t>
            </a:fld>
            <a:endParaRPr lang="zh-CN" altLang="en-US"/>
          </a:p>
        </p:txBody>
      </p:sp>
    </p:spTree>
    <p:extLst>
      <p:ext uri="{BB962C8B-B14F-4D97-AF65-F5344CB8AC3E}">
        <p14:creationId xmlns:p14="http://schemas.microsoft.com/office/powerpoint/2010/main" val="15397398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C1C8DB7-92EA-465B-81F5-11A9BE5871AD}" type="slidenum">
              <a:rPr lang="zh-CN" altLang="en-US" smtClean="0"/>
              <a:t>9</a:t>
            </a:fld>
            <a:endParaRPr lang="zh-CN" altLang="en-US"/>
          </a:p>
        </p:txBody>
      </p:sp>
    </p:spTree>
    <p:extLst>
      <p:ext uri="{BB962C8B-B14F-4D97-AF65-F5344CB8AC3E}">
        <p14:creationId xmlns:p14="http://schemas.microsoft.com/office/powerpoint/2010/main" val="12210077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C1C8DB7-92EA-465B-81F5-11A9BE5871AD}" type="slidenum">
              <a:rPr lang="zh-CN" altLang="en-US" smtClean="0"/>
              <a:t>10</a:t>
            </a:fld>
            <a:endParaRPr lang="zh-CN" altLang="en-US"/>
          </a:p>
        </p:txBody>
      </p:sp>
    </p:spTree>
    <p:extLst>
      <p:ext uri="{BB962C8B-B14F-4D97-AF65-F5344CB8AC3E}">
        <p14:creationId xmlns:p14="http://schemas.microsoft.com/office/powerpoint/2010/main" val="42626986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C1C8DB7-92EA-465B-81F5-11A9BE5871AD}" type="slidenum">
              <a:rPr lang="zh-CN" altLang="en-US" smtClean="0"/>
              <a:t>11</a:t>
            </a:fld>
            <a:endParaRPr lang="zh-CN" altLang="en-US"/>
          </a:p>
        </p:txBody>
      </p:sp>
    </p:spTree>
    <p:extLst>
      <p:ext uri="{BB962C8B-B14F-4D97-AF65-F5344CB8AC3E}">
        <p14:creationId xmlns:p14="http://schemas.microsoft.com/office/powerpoint/2010/main" val="17301980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C1C8DB7-92EA-465B-81F5-11A9BE5871AD}" type="slidenum">
              <a:rPr lang="zh-CN" altLang="en-US" smtClean="0"/>
              <a:t>12</a:t>
            </a:fld>
            <a:endParaRPr lang="zh-CN" altLang="en-US"/>
          </a:p>
        </p:txBody>
      </p:sp>
    </p:spTree>
    <p:extLst>
      <p:ext uri="{BB962C8B-B14F-4D97-AF65-F5344CB8AC3E}">
        <p14:creationId xmlns:p14="http://schemas.microsoft.com/office/powerpoint/2010/main" val="28254603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C1C8DB7-92EA-465B-81F5-11A9BE5871AD}" type="slidenum">
              <a:rPr lang="zh-CN" altLang="en-US" smtClean="0"/>
              <a:t>13</a:t>
            </a:fld>
            <a:endParaRPr lang="zh-CN" altLang="en-US"/>
          </a:p>
        </p:txBody>
      </p:sp>
    </p:spTree>
    <p:extLst>
      <p:ext uri="{BB962C8B-B14F-4D97-AF65-F5344CB8AC3E}">
        <p14:creationId xmlns:p14="http://schemas.microsoft.com/office/powerpoint/2010/main" val="35444351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C1C8DB7-92EA-465B-81F5-11A9BE5871AD}" type="slidenum">
              <a:rPr lang="zh-CN" altLang="en-US" smtClean="0"/>
              <a:t>14</a:t>
            </a:fld>
            <a:endParaRPr lang="zh-CN" altLang="en-US"/>
          </a:p>
        </p:txBody>
      </p:sp>
    </p:spTree>
    <p:extLst>
      <p:ext uri="{BB962C8B-B14F-4D97-AF65-F5344CB8AC3E}">
        <p14:creationId xmlns:p14="http://schemas.microsoft.com/office/powerpoint/2010/main" val="40856896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C1C8DB7-92EA-465B-81F5-11A9BE5871AD}" type="slidenum">
              <a:rPr lang="zh-CN" altLang="en-US" smtClean="0"/>
              <a:t>16</a:t>
            </a:fld>
            <a:endParaRPr lang="zh-CN" altLang="en-US"/>
          </a:p>
        </p:txBody>
      </p:sp>
    </p:spTree>
    <p:extLst>
      <p:ext uri="{BB962C8B-B14F-4D97-AF65-F5344CB8AC3E}">
        <p14:creationId xmlns:p14="http://schemas.microsoft.com/office/powerpoint/2010/main" val="6544192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C1C8DB7-92EA-465B-81F5-11A9BE5871AD}" type="slidenum">
              <a:rPr lang="zh-CN" altLang="en-US" smtClean="0"/>
              <a:t>17</a:t>
            </a:fld>
            <a:endParaRPr lang="zh-CN" altLang="en-US"/>
          </a:p>
        </p:txBody>
      </p:sp>
    </p:spTree>
    <p:extLst>
      <p:ext uri="{BB962C8B-B14F-4D97-AF65-F5344CB8AC3E}">
        <p14:creationId xmlns:p14="http://schemas.microsoft.com/office/powerpoint/2010/main" val="3575073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C1C8DB7-92EA-465B-81F5-11A9BE5871AD}" type="slidenum">
              <a:rPr lang="zh-CN" altLang="en-US" smtClean="0"/>
              <a:t>18</a:t>
            </a:fld>
            <a:endParaRPr lang="zh-CN" altLang="en-US"/>
          </a:p>
        </p:txBody>
      </p:sp>
    </p:spTree>
    <p:extLst>
      <p:ext uri="{BB962C8B-B14F-4D97-AF65-F5344CB8AC3E}">
        <p14:creationId xmlns:p14="http://schemas.microsoft.com/office/powerpoint/2010/main" val="35845758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C1C8DB7-92EA-465B-81F5-11A9BE5871AD}" type="slidenum">
              <a:rPr lang="zh-CN" altLang="en-US" smtClean="0"/>
              <a:t>19</a:t>
            </a:fld>
            <a:endParaRPr lang="zh-CN" altLang="en-US"/>
          </a:p>
        </p:txBody>
      </p:sp>
    </p:spTree>
    <p:extLst>
      <p:ext uri="{BB962C8B-B14F-4D97-AF65-F5344CB8AC3E}">
        <p14:creationId xmlns:p14="http://schemas.microsoft.com/office/powerpoint/2010/main" val="11283352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C1C8DB7-92EA-465B-81F5-11A9BE5871AD}" type="slidenum">
              <a:rPr lang="zh-CN" altLang="en-US" smtClean="0"/>
              <a:t>20</a:t>
            </a:fld>
            <a:endParaRPr lang="zh-CN" altLang="en-US"/>
          </a:p>
        </p:txBody>
      </p:sp>
    </p:spTree>
    <p:extLst>
      <p:ext uri="{BB962C8B-B14F-4D97-AF65-F5344CB8AC3E}">
        <p14:creationId xmlns:p14="http://schemas.microsoft.com/office/powerpoint/2010/main" val="40297923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C1C8DB7-92EA-465B-81F5-11A9BE5871AD}" type="slidenum">
              <a:rPr lang="zh-CN" altLang="en-US" smtClean="0"/>
              <a:t>22</a:t>
            </a:fld>
            <a:endParaRPr lang="zh-CN" altLang="en-US"/>
          </a:p>
        </p:txBody>
      </p:sp>
    </p:spTree>
    <p:extLst>
      <p:ext uri="{BB962C8B-B14F-4D97-AF65-F5344CB8AC3E}">
        <p14:creationId xmlns:p14="http://schemas.microsoft.com/office/powerpoint/2010/main" val="1309436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C1C8DB7-92EA-465B-81F5-11A9BE5871AD}" type="slidenum">
              <a:rPr lang="zh-CN" altLang="en-US" smtClean="0"/>
              <a:t>23</a:t>
            </a:fld>
            <a:endParaRPr lang="zh-CN" altLang="en-US"/>
          </a:p>
        </p:txBody>
      </p:sp>
    </p:spTree>
    <p:extLst>
      <p:ext uri="{BB962C8B-B14F-4D97-AF65-F5344CB8AC3E}">
        <p14:creationId xmlns:p14="http://schemas.microsoft.com/office/powerpoint/2010/main" val="2600020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C1C8DB7-92EA-465B-81F5-11A9BE5871AD}" type="slidenum">
              <a:rPr lang="zh-CN" altLang="en-US" smtClean="0"/>
              <a:t>24</a:t>
            </a:fld>
            <a:endParaRPr lang="zh-CN" altLang="en-US"/>
          </a:p>
        </p:txBody>
      </p:sp>
    </p:spTree>
    <p:extLst>
      <p:ext uri="{BB962C8B-B14F-4D97-AF65-F5344CB8AC3E}">
        <p14:creationId xmlns:p14="http://schemas.microsoft.com/office/powerpoint/2010/main" val="9279657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sp>
        <p:nvSpPr>
          <p:cNvPr id="3" name="文本框 2"/>
          <p:cNvSpPr txBox="1"/>
          <p:nvPr/>
        </p:nvSpPr>
        <p:spPr>
          <a:xfrm rot="19761565">
            <a:off x="403031" y="3466340"/>
            <a:ext cx="10950434"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solidFill>
                  <a:schemeClr val="bg1">
                    <a:lumMod val="95000"/>
                  </a:schemeClr>
                </a:solidFill>
              </a:rPr>
              <a:t>内部资料                                                       内部资料                                                              内部资料</a:t>
            </a:r>
          </a:p>
          <a:p>
            <a:endParaRPr lang="zh-CN" altLang="en-US" dirty="0">
              <a:solidFill>
                <a:schemeClr val="bg1">
                  <a:lumMod val="95000"/>
                </a:schemeClr>
              </a:solidFill>
            </a:endParaRPr>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98990" y="286695"/>
            <a:ext cx="1403411" cy="585380"/>
          </a:xfrm>
          <a:prstGeom prst="rect">
            <a:avLst/>
          </a:prstGeom>
        </p:spPr>
      </p:pic>
      <p:sp>
        <p:nvSpPr>
          <p:cNvPr id="4" name="矩形 3"/>
          <p:cNvSpPr/>
          <p:nvPr/>
        </p:nvSpPr>
        <p:spPr>
          <a:xfrm>
            <a:off x="0" y="348602"/>
            <a:ext cx="101600" cy="531749"/>
          </a:xfrm>
          <a:prstGeom prst="rect">
            <a:avLst/>
          </a:prstGeom>
          <a:solidFill>
            <a:srgbClr val="E26C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标题 1"/>
          <p:cNvSpPr>
            <a:spLocks noGrp="1"/>
          </p:cNvSpPr>
          <p:nvPr>
            <p:ph type="title"/>
          </p:nvPr>
        </p:nvSpPr>
        <p:spPr>
          <a:xfrm>
            <a:off x="238125" y="374651"/>
            <a:ext cx="10515600" cy="515184"/>
          </a:xfrm>
          <a:prstGeom prst="rect">
            <a:avLst/>
          </a:prstGeom>
        </p:spPr>
        <p:txBody>
          <a:bodyPr/>
          <a:lstStyle>
            <a:lvl1pPr>
              <a:defRPr lang="zh-CN" altLang="en-US" sz="2600" b="1" kern="1200" dirty="0" smtClean="0">
                <a:solidFill>
                  <a:srgbClr val="E26C0D"/>
                </a:solidFill>
                <a:latin typeface="微软雅黑" panose="020B0503020204020204" pitchFamily="34" charset="-122"/>
                <a:ea typeface="微软雅黑" panose="020B0503020204020204" pitchFamily="34" charset="-122"/>
                <a:cs typeface="+mn-cs"/>
              </a:defRPr>
            </a:lvl1pPr>
          </a:lstStyle>
          <a:p>
            <a:pPr marL="0" lvl="0" indent="-228600" algn="l" defTabSz="914400" rtl="0" eaLnBrk="1" latinLnBrk="0" hangingPunct="1">
              <a:lnSpc>
                <a:spcPct val="120000"/>
              </a:lnSpc>
              <a:spcBef>
                <a:spcPts val="1000"/>
              </a:spcBef>
              <a:buFont typeface="Arial" panose="020B0604020202020204" pitchFamily="34" charset="0"/>
              <a:buNone/>
            </a:pPr>
            <a:r>
              <a:rPr lang="zh-CN" altLang="en-US"/>
              <a:t>单击此处编辑母版标题样式</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39"/>
            <a:ext cx="12192000" cy="6855322"/>
          </a:xfrm>
          <a:prstGeom prst="rect">
            <a:avLst/>
          </a:prstGeom>
        </p:spPr>
      </p:pic>
      <p:sp>
        <p:nvSpPr>
          <p:cNvPr id="2" name="标题 1"/>
          <p:cNvSpPr>
            <a:spLocks noGrp="1"/>
          </p:cNvSpPr>
          <p:nvPr>
            <p:ph type="title" hasCustomPrompt="1"/>
          </p:nvPr>
        </p:nvSpPr>
        <p:spPr>
          <a:xfrm>
            <a:off x="981075" y="4003675"/>
            <a:ext cx="7172325" cy="682625"/>
          </a:xfrm>
          <a:prstGeom prst="rect">
            <a:avLst/>
          </a:prstGeom>
        </p:spPr>
        <p:txBody>
          <a:bodyPr/>
          <a:lstStyle>
            <a:lvl1pPr>
              <a:defRPr sz="3200" b="1"/>
            </a:lvl1pPr>
          </a:lstStyle>
          <a:p>
            <a:r>
              <a:rPr lang="zh-CN" altLang="en-US" dirty="0"/>
              <a:t>节标题</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节标题">
    <p:spTree>
      <p:nvGrpSpPr>
        <p:cNvPr id="1" name=""/>
        <p:cNvGrpSpPr/>
        <p:nvPr/>
      </p:nvGrpSpPr>
      <p:grpSpPr>
        <a:xfrm>
          <a:off x="0" y="0"/>
          <a:ext cx="0" cy="0"/>
          <a:chOff x="0" y="0"/>
          <a:chExt cx="0" cy="0"/>
        </a:xfrm>
      </p:grpSpPr>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87769" cy="6860381"/>
          </a:xfrm>
          <a:prstGeom prst="rect">
            <a:avLst/>
          </a:prstGeom>
        </p:spPr>
      </p:pic>
      <p:pic>
        <p:nvPicPr>
          <p:cNvPr id="7" name="图片 6"/>
          <p:cNvPicPr>
            <a:picLocks noChangeAspect="1"/>
          </p:cNvPicPr>
          <p:nvPr/>
        </p:nvPicPr>
        <p:blipFill>
          <a:blip r:embed="rId3" cstate="print">
            <a:extLst>
              <a:ext uri="{BEBA8EAE-BF5A-486C-A8C5-ECC9F3942E4B}">
                <a14:imgProps xmlns:a14="http://schemas.microsoft.com/office/drawing/2010/main">
                  <a14:imgLayer r:embed="rId4">
                    <a14:imgEffect>
                      <a14:brightnessContrast bright="1000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0398990" y="277459"/>
            <a:ext cx="1403411" cy="5853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1_标题和内容">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398990" y="286695"/>
            <a:ext cx="1403411" cy="5853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hyperlink" Target="https://taichu-platform.yuque.com/nzs2dr/project_doc/obnyk55cw9ogfn2s#LJsW9"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6.png"/><Relationship Id="rId7"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10" Type="http://schemas.openxmlformats.org/officeDocument/2006/relationships/image" Target="../media/image32.png"/><Relationship Id="rId9"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78"/>
            <a:ext cx="12192000" cy="6855322"/>
          </a:xfrm>
          <a:prstGeom prst="rect">
            <a:avLst/>
          </a:prstGeom>
        </p:spPr>
      </p:pic>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4568" y="869483"/>
            <a:ext cx="2018032" cy="841747"/>
          </a:xfrm>
          <a:prstGeom prst="rect">
            <a:avLst/>
          </a:prstGeom>
        </p:spPr>
      </p:pic>
      <p:grpSp>
        <p:nvGrpSpPr>
          <p:cNvPr id="2" name="组合 1"/>
          <p:cNvGrpSpPr/>
          <p:nvPr/>
        </p:nvGrpSpPr>
        <p:grpSpPr>
          <a:xfrm>
            <a:off x="865845" y="2311226"/>
            <a:ext cx="7037996" cy="2474273"/>
            <a:chOff x="865845" y="2311226"/>
            <a:chExt cx="7037996" cy="2474273"/>
          </a:xfrm>
        </p:grpSpPr>
        <p:sp>
          <p:nvSpPr>
            <p:cNvPr id="6" name="文本框 5"/>
            <p:cNvSpPr txBox="1"/>
            <p:nvPr/>
          </p:nvSpPr>
          <p:spPr>
            <a:xfrm>
              <a:off x="865845" y="2311226"/>
              <a:ext cx="7037996" cy="768415"/>
            </a:xfrm>
            <a:prstGeom prst="rect">
              <a:avLst/>
            </a:prstGeom>
            <a:noFill/>
          </p:spPr>
          <p:txBody>
            <a:bodyPr wrap="square" rtlCol="0">
              <a:spAutoFit/>
            </a:bodyPr>
            <a:lstStyle/>
            <a:p>
              <a:pPr>
                <a:lnSpc>
                  <a:spcPct val="120000"/>
                </a:lnSpc>
              </a:pPr>
              <a:r>
                <a:rPr lang="en-US" altLang="zh-CN" sz="4000" b="1" dirty="0">
                  <a:solidFill>
                    <a:schemeClr val="accent2"/>
                  </a:solidFill>
                  <a:latin typeface="微软雅黑" panose="020B0503020204020204" pitchFamily="34" charset="-122"/>
                  <a:ea typeface="微软雅黑" panose="020B0503020204020204" pitchFamily="34" charset="-122"/>
                </a:rPr>
                <a:t>GEMM</a:t>
              </a:r>
              <a:r>
                <a:rPr lang="zh-CN" altLang="en-US" sz="4000" b="1" dirty="0">
                  <a:solidFill>
                    <a:schemeClr val="accent2"/>
                  </a:solidFill>
                  <a:latin typeface="微软雅黑" panose="020B0503020204020204" pitchFamily="34" charset="-122"/>
                  <a:ea typeface="微软雅黑" panose="020B0503020204020204" pitchFamily="34" charset="-122"/>
                </a:rPr>
                <a:t>极限性能突破分享</a:t>
              </a:r>
              <a:endParaRPr lang="zh-CN" altLang="en-US" sz="1200" b="1" dirty="0">
                <a:solidFill>
                  <a:schemeClr val="accent2"/>
                </a:solidFill>
                <a:latin typeface="微软雅黑" panose="020B0503020204020204" pitchFamily="34" charset="-122"/>
                <a:ea typeface="微软雅黑" panose="020B0503020204020204" pitchFamily="34" charset="-122"/>
              </a:endParaRPr>
            </a:p>
          </p:txBody>
        </p:sp>
        <p:cxnSp>
          <p:nvCxnSpPr>
            <p:cNvPr id="8" name="直接连接符 7"/>
            <p:cNvCxnSpPr/>
            <p:nvPr/>
          </p:nvCxnSpPr>
          <p:spPr>
            <a:xfrm>
              <a:off x="1004568" y="4025900"/>
              <a:ext cx="1002032" cy="0"/>
            </a:xfrm>
            <a:prstGeom prst="line">
              <a:avLst/>
            </a:prstGeom>
            <a:ln w="19050"/>
          </p:spPr>
          <p:style>
            <a:lnRef idx="1">
              <a:schemeClr val="accent2"/>
            </a:lnRef>
            <a:fillRef idx="0">
              <a:schemeClr val="accent2"/>
            </a:fillRef>
            <a:effectRef idx="0">
              <a:schemeClr val="accent2"/>
            </a:effectRef>
            <a:fontRef idx="minor">
              <a:schemeClr val="tx1"/>
            </a:fontRef>
          </p:style>
        </p:cxnSp>
        <p:sp>
          <p:nvSpPr>
            <p:cNvPr id="9" name="文本框 8"/>
            <p:cNvSpPr txBox="1"/>
            <p:nvPr/>
          </p:nvSpPr>
          <p:spPr>
            <a:xfrm>
              <a:off x="877568" y="4422771"/>
              <a:ext cx="2534143" cy="362728"/>
            </a:xfrm>
            <a:prstGeom prst="rect">
              <a:avLst/>
            </a:prstGeom>
            <a:noFill/>
          </p:spPr>
          <p:txBody>
            <a:bodyPr wrap="square" rtlCol="0">
              <a:spAutoFit/>
            </a:bodyPr>
            <a:lstStyle/>
            <a:p>
              <a:pPr>
                <a:lnSpc>
                  <a:spcPct val="120000"/>
                </a:lnSpc>
              </a:pPr>
              <a:endParaRPr lang="zh-CN" altLang="en-US" sz="1600" dirty="0">
                <a:latin typeface="微软雅黑" panose="020B0503020204020204" pitchFamily="34" charset="-122"/>
                <a:ea typeface="微软雅黑" panose="020B0503020204020204" pitchFamily="34" charset="-122"/>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80430" y="425400"/>
            <a:ext cx="2646540" cy="1393875"/>
          </a:xfrm>
          <a:prstGeom prst="rect">
            <a:avLst/>
          </a:prstGeom>
        </p:spPr>
      </p:pic>
      <p:sp>
        <p:nvSpPr>
          <p:cNvPr id="2" name="标题 1"/>
          <p:cNvSpPr txBox="1"/>
          <p:nvPr/>
        </p:nvSpPr>
        <p:spPr>
          <a:xfrm>
            <a:off x="981075" y="4003675"/>
            <a:ext cx="8315325" cy="68262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4400" b="1" dirty="0">
                <a:solidFill>
                  <a:schemeClr val="bg1"/>
                </a:solidFill>
              </a:rPr>
              <a:t>01 | </a:t>
            </a:r>
            <a:r>
              <a:rPr lang="en-US" altLang="zh-CN" b="1" dirty="0" err="1">
                <a:solidFill>
                  <a:schemeClr val="bg1"/>
                </a:solidFill>
              </a:rPr>
              <a:t>Gemm</a:t>
            </a:r>
            <a:r>
              <a:rPr lang="zh-CN" altLang="en-US" b="1" dirty="0">
                <a:solidFill>
                  <a:schemeClr val="bg1"/>
                </a:solidFill>
              </a:rPr>
              <a:t>瓶颈分析</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SUMMA</a:t>
            </a:r>
            <a:r>
              <a:rPr lang="zh-CN" altLang="en-US" dirty="0"/>
              <a:t>算法介绍</a:t>
            </a:r>
          </a:p>
        </p:txBody>
      </p:sp>
      <p:pic>
        <p:nvPicPr>
          <p:cNvPr id="5" name="图片 4">
            <a:extLst>
              <a:ext uri="{FF2B5EF4-FFF2-40B4-BE49-F238E27FC236}">
                <a16:creationId xmlns:a16="http://schemas.microsoft.com/office/drawing/2014/main" id="{AA352745-9CCC-A12F-F7A5-03EA3804104A}"/>
              </a:ext>
            </a:extLst>
          </p:cNvPr>
          <p:cNvPicPr>
            <a:picLocks noChangeAspect="1"/>
          </p:cNvPicPr>
          <p:nvPr/>
        </p:nvPicPr>
        <p:blipFill>
          <a:blip r:embed="rId2"/>
          <a:stretch>
            <a:fillRect/>
          </a:stretch>
        </p:blipFill>
        <p:spPr>
          <a:xfrm>
            <a:off x="3665220" y="1470158"/>
            <a:ext cx="8070184" cy="5011200"/>
          </a:xfrm>
          <a:prstGeom prst="rect">
            <a:avLst/>
          </a:prstGeom>
        </p:spPr>
      </p:pic>
      <p:sp>
        <p:nvSpPr>
          <p:cNvPr id="7" name="文本框 6">
            <a:extLst>
              <a:ext uri="{FF2B5EF4-FFF2-40B4-BE49-F238E27FC236}">
                <a16:creationId xmlns:a16="http://schemas.microsoft.com/office/drawing/2014/main" id="{75990B1A-1B0E-CDEC-E142-C8653A4F3B00}"/>
              </a:ext>
            </a:extLst>
          </p:cNvPr>
          <p:cNvSpPr txBox="1"/>
          <p:nvPr/>
        </p:nvSpPr>
        <p:spPr>
          <a:xfrm>
            <a:off x="110490" y="1397675"/>
            <a:ext cx="3360420" cy="2308324"/>
          </a:xfrm>
          <a:prstGeom prst="rect">
            <a:avLst/>
          </a:prstGeom>
          <a:noFill/>
        </p:spPr>
        <p:txBody>
          <a:bodyPr wrap="square" rtlCol="0">
            <a:spAutoFit/>
          </a:bodyPr>
          <a:lstStyle/>
          <a:p>
            <a:r>
              <a:rPr kumimoji="1" lang="zh-CN" altLang="en-US" dirty="0"/>
              <a:t>假设</a:t>
            </a:r>
            <a:r>
              <a:rPr kumimoji="1" lang="en-US" altLang="zh-CN" dirty="0"/>
              <a:t>:</a:t>
            </a:r>
            <a:r>
              <a:rPr kumimoji="1" lang="zh-CN" altLang="en-US" dirty="0"/>
              <a:t> </a:t>
            </a:r>
            <a:r>
              <a:rPr kumimoji="1" lang="en-US" altLang="zh-CN" dirty="0"/>
              <a:t>M,N,K</a:t>
            </a:r>
            <a:r>
              <a:rPr kumimoji="1" lang="zh-CN" altLang="en-US" dirty="0"/>
              <a:t>的值极大，且不考虑边界处理；</a:t>
            </a:r>
            <a:endParaRPr kumimoji="1" lang="en-US" altLang="zh-CN" dirty="0"/>
          </a:p>
          <a:p>
            <a:endParaRPr kumimoji="1" lang="en-US" altLang="zh-CN" dirty="0"/>
          </a:p>
          <a:p>
            <a:r>
              <a:rPr kumimoji="1" lang="zh-CN" altLang="en-US" dirty="0"/>
              <a:t>在这种场景下需要用有限的硬件片上内存去处理趋于无限的矩阵乘法，那必然需要对矩阵进行分块计算，具体的分块如右图所示</a:t>
            </a:r>
          </a:p>
        </p:txBody>
      </p:sp>
      <p:pic>
        <p:nvPicPr>
          <p:cNvPr id="8" name="图片 7">
            <a:extLst>
              <a:ext uri="{FF2B5EF4-FFF2-40B4-BE49-F238E27FC236}">
                <a16:creationId xmlns:a16="http://schemas.microsoft.com/office/drawing/2014/main" id="{27D13482-2D2A-0FF0-915A-A79767BD9EBD}"/>
              </a:ext>
            </a:extLst>
          </p:cNvPr>
          <p:cNvPicPr>
            <a:picLocks noChangeAspect="1"/>
          </p:cNvPicPr>
          <p:nvPr/>
        </p:nvPicPr>
        <p:blipFill>
          <a:blip r:embed="rId3"/>
          <a:stretch>
            <a:fillRect/>
          </a:stretch>
        </p:blipFill>
        <p:spPr>
          <a:xfrm>
            <a:off x="3813810" y="2254250"/>
            <a:ext cx="3695700" cy="2349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295275" y="422752"/>
            <a:ext cx="10515600" cy="515184"/>
          </a:xfrm>
        </p:spPr>
        <p:txBody>
          <a:bodyPr/>
          <a:lstStyle/>
          <a:p>
            <a:r>
              <a:rPr lang="en-US" altLang="zh-CN" dirty="0"/>
              <a:t>SUMMA</a:t>
            </a:r>
            <a:r>
              <a:rPr lang="zh-CN" altLang="en-US" dirty="0"/>
              <a:t>算法介绍</a:t>
            </a:r>
          </a:p>
        </p:txBody>
      </p:sp>
      <p:sp>
        <p:nvSpPr>
          <p:cNvPr id="7" name="文本框 6">
            <a:extLst>
              <a:ext uri="{FF2B5EF4-FFF2-40B4-BE49-F238E27FC236}">
                <a16:creationId xmlns:a16="http://schemas.microsoft.com/office/drawing/2014/main" id="{75990B1A-1B0E-CDEC-E142-C8653A4F3B00}"/>
              </a:ext>
            </a:extLst>
          </p:cNvPr>
          <p:cNvSpPr txBox="1"/>
          <p:nvPr/>
        </p:nvSpPr>
        <p:spPr>
          <a:xfrm>
            <a:off x="76023" y="4083222"/>
            <a:ext cx="5439713" cy="2585323"/>
          </a:xfrm>
          <a:prstGeom prst="rect">
            <a:avLst/>
          </a:prstGeom>
          <a:noFill/>
        </p:spPr>
        <p:txBody>
          <a:bodyPr wrap="square" rtlCol="0">
            <a:spAutoFit/>
          </a:bodyPr>
          <a:lstStyle/>
          <a:p>
            <a:r>
              <a:rPr kumimoji="1" lang="zh-CN" altLang="en-US" dirty="0"/>
              <a:t>整个</a:t>
            </a:r>
            <a:r>
              <a:rPr kumimoji="1" lang="en-US" altLang="zh-CN" dirty="0"/>
              <a:t>GEMM</a:t>
            </a:r>
            <a:r>
              <a:rPr kumimoji="1" lang="zh-CN" altLang="en-US" dirty="0"/>
              <a:t>可以被抽象成无数次对于</a:t>
            </a:r>
            <a:r>
              <a:rPr kumimoji="1" lang="en-US" altLang="zh-CN" dirty="0"/>
              <a:t>[M1,</a:t>
            </a:r>
            <a:r>
              <a:rPr kumimoji="1" lang="zh-CN" altLang="en-US" dirty="0"/>
              <a:t> </a:t>
            </a:r>
            <a:r>
              <a:rPr kumimoji="1" lang="en-US" altLang="zh-CN" dirty="0"/>
              <a:t>N1,</a:t>
            </a:r>
            <a:r>
              <a:rPr kumimoji="1" lang="zh-CN" altLang="en-US" dirty="0"/>
              <a:t> </a:t>
            </a:r>
            <a:r>
              <a:rPr kumimoji="1" lang="en-US" altLang="zh-CN" dirty="0"/>
              <a:t>K1]</a:t>
            </a:r>
            <a:r>
              <a:rPr kumimoji="1" lang="zh-CN" altLang="en-US" dirty="0"/>
              <a:t>的矩阵乘计算的。</a:t>
            </a:r>
            <a:endParaRPr kumimoji="1" lang="en-US" altLang="zh-CN" dirty="0"/>
          </a:p>
          <a:p>
            <a:r>
              <a:rPr kumimoji="1" lang="en-US" altLang="zh-CN" dirty="0"/>
              <a:t>M1</a:t>
            </a:r>
            <a:r>
              <a:rPr kumimoji="1" lang="zh-CN" altLang="en-US" dirty="0"/>
              <a:t>，</a:t>
            </a:r>
            <a:r>
              <a:rPr kumimoji="1" lang="en-US" altLang="zh-CN" dirty="0"/>
              <a:t>N1</a:t>
            </a:r>
            <a:r>
              <a:rPr kumimoji="1" lang="zh-CN" altLang="en-US" dirty="0"/>
              <a:t>，</a:t>
            </a:r>
            <a:r>
              <a:rPr kumimoji="1" lang="en-US" altLang="zh-CN" dirty="0"/>
              <a:t>K1</a:t>
            </a:r>
            <a:r>
              <a:rPr kumimoji="1" lang="zh-CN" altLang="en-US" dirty="0"/>
              <a:t>的取值和具体硬件的片上内存大小相关。</a:t>
            </a:r>
            <a:endParaRPr kumimoji="1" lang="en-US" altLang="zh-CN" dirty="0"/>
          </a:p>
          <a:p>
            <a:endParaRPr kumimoji="1" lang="en-US" altLang="zh-CN" dirty="0"/>
          </a:p>
          <a:p>
            <a:r>
              <a:rPr kumimoji="1" lang="zh-CN" altLang="en-US" dirty="0"/>
              <a:t>现在的矩阵乘问题被简化到我们如何用</a:t>
            </a:r>
            <a:r>
              <a:rPr kumimoji="1" lang="en-US" altLang="zh-CN" dirty="0" err="1"/>
              <a:t>TecoAI</a:t>
            </a:r>
            <a:r>
              <a:rPr kumimoji="1" lang="zh-CN" altLang="en-US" dirty="0"/>
              <a:t>的一个核组去处理一个</a:t>
            </a:r>
            <a:r>
              <a:rPr kumimoji="1" lang="en-US" altLang="zh-CN" dirty="0"/>
              <a:t>[M1,N1,K1]</a:t>
            </a:r>
            <a:r>
              <a:rPr kumimoji="1" lang="zh-CN" altLang="en-US" dirty="0"/>
              <a:t>的矩阵乘。</a:t>
            </a:r>
            <a:endParaRPr kumimoji="1" lang="en-US" altLang="zh-CN" dirty="0"/>
          </a:p>
          <a:p>
            <a:r>
              <a:rPr kumimoji="1" lang="zh-CN" altLang="en-US" dirty="0"/>
              <a:t>考虑到我们的核组是</a:t>
            </a:r>
            <a:r>
              <a:rPr kumimoji="1" lang="en-US" altLang="zh-CN" dirty="0"/>
              <a:t>4</a:t>
            </a:r>
            <a:r>
              <a:rPr kumimoji="1" lang="zh-CN" altLang="en-US" dirty="0"/>
              <a:t>*</a:t>
            </a:r>
            <a:r>
              <a:rPr kumimoji="1" lang="en-US" altLang="zh-CN" dirty="0"/>
              <a:t>8</a:t>
            </a:r>
            <a:r>
              <a:rPr kumimoji="1" lang="zh-CN" altLang="en-US" dirty="0"/>
              <a:t>个从核</a:t>
            </a:r>
            <a:r>
              <a:rPr kumimoji="1" lang="en-US" altLang="zh-CN" dirty="0"/>
              <a:t>,</a:t>
            </a:r>
          </a:p>
          <a:p>
            <a:r>
              <a:rPr kumimoji="1" lang="zh-CN" altLang="en-US" dirty="0"/>
              <a:t>为了画图方便假设其为</a:t>
            </a:r>
            <a:r>
              <a:rPr kumimoji="1" lang="en-US" altLang="zh-CN" dirty="0"/>
              <a:t>2</a:t>
            </a:r>
            <a:r>
              <a:rPr kumimoji="1" lang="zh-CN" altLang="en-US" dirty="0"/>
              <a:t>*</a:t>
            </a:r>
            <a:r>
              <a:rPr kumimoji="1" lang="en-US" altLang="zh-CN" dirty="0"/>
              <a:t>4</a:t>
            </a:r>
            <a:r>
              <a:rPr kumimoji="1" lang="zh-CN" altLang="en-US" dirty="0"/>
              <a:t>的从核结构。</a:t>
            </a:r>
          </a:p>
        </p:txBody>
      </p:sp>
      <p:sp>
        <p:nvSpPr>
          <p:cNvPr id="3" name="矩形 2">
            <a:extLst>
              <a:ext uri="{FF2B5EF4-FFF2-40B4-BE49-F238E27FC236}">
                <a16:creationId xmlns:a16="http://schemas.microsoft.com/office/drawing/2014/main" id="{7E51F5C7-7872-B813-CE33-25289B0F9C29}"/>
              </a:ext>
            </a:extLst>
          </p:cNvPr>
          <p:cNvSpPr/>
          <p:nvPr/>
        </p:nvSpPr>
        <p:spPr>
          <a:xfrm>
            <a:off x="1529954" y="2246176"/>
            <a:ext cx="1078230" cy="5257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0</a:t>
            </a:r>
            <a:endParaRPr kumimoji="1" lang="zh-CN" altLang="en-US" dirty="0"/>
          </a:p>
        </p:txBody>
      </p:sp>
      <p:sp>
        <p:nvSpPr>
          <p:cNvPr id="26" name="矩形 25">
            <a:extLst>
              <a:ext uri="{FF2B5EF4-FFF2-40B4-BE49-F238E27FC236}">
                <a16:creationId xmlns:a16="http://schemas.microsoft.com/office/drawing/2014/main" id="{B765740E-5825-63C2-0444-AD48A404957E}"/>
              </a:ext>
            </a:extLst>
          </p:cNvPr>
          <p:cNvSpPr/>
          <p:nvPr/>
        </p:nvSpPr>
        <p:spPr>
          <a:xfrm>
            <a:off x="2608184" y="2246176"/>
            <a:ext cx="1078230" cy="5257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27" name="矩形 26">
            <a:extLst>
              <a:ext uri="{FF2B5EF4-FFF2-40B4-BE49-F238E27FC236}">
                <a16:creationId xmlns:a16="http://schemas.microsoft.com/office/drawing/2014/main" id="{66AF7096-B835-C7EF-9F92-54B3B81C9E36}"/>
              </a:ext>
            </a:extLst>
          </p:cNvPr>
          <p:cNvSpPr/>
          <p:nvPr/>
        </p:nvSpPr>
        <p:spPr>
          <a:xfrm>
            <a:off x="3697844" y="2246176"/>
            <a:ext cx="1078230" cy="5257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28" name="矩形 27">
            <a:extLst>
              <a:ext uri="{FF2B5EF4-FFF2-40B4-BE49-F238E27FC236}">
                <a16:creationId xmlns:a16="http://schemas.microsoft.com/office/drawing/2014/main" id="{3FE425FB-D781-BD81-ED46-C288816F8E57}"/>
              </a:ext>
            </a:extLst>
          </p:cNvPr>
          <p:cNvSpPr/>
          <p:nvPr/>
        </p:nvSpPr>
        <p:spPr>
          <a:xfrm>
            <a:off x="4764644" y="2246176"/>
            <a:ext cx="1078230" cy="5257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29" name="矩形 28">
            <a:extLst>
              <a:ext uri="{FF2B5EF4-FFF2-40B4-BE49-F238E27FC236}">
                <a16:creationId xmlns:a16="http://schemas.microsoft.com/office/drawing/2014/main" id="{61D99295-AD19-9174-A8D1-7541359E4699}"/>
              </a:ext>
            </a:extLst>
          </p:cNvPr>
          <p:cNvSpPr/>
          <p:nvPr/>
        </p:nvSpPr>
        <p:spPr>
          <a:xfrm>
            <a:off x="1529954" y="2771956"/>
            <a:ext cx="1078230" cy="5257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endParaRPr kumimoji="1" lang="zh-CN" altLang="en-US" dirty="0"/>
          </a:p>
        </p:txBody>
      </p:sp>
      <p:sp>
        <p:nvSpPr>
          <p:cNvPr id="30" name="矩形 29">
            <a:extLst>
              <a:ext uri="{FF2B5EF4-FFF2-40B4-BE49-F238E27FC236}">
                <a16:creationId xmlns:a16="http://schemas.microsoft.com/office/drawing/2014/main" id="{4CFE6F87-EABF-161E-4782-420D4C2E9FD1}"/>
              </a:ext>
            </a:extLst>
          </p:cNvPr>
          <p:cNvSpPr/>
          <p:nvPr/>
        </p:nvSpPr>
        <p:spPr>
          <a:xfrm>
            <a:off x="2608184" y="2771956"/>
            <a:ext cx="1078230" cy="5257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5</a:t>
            </a:r>
            <a:endParaRPr kumimoji="1" lang="zh-CN" altLang="en-US" dirty="0"/>
          </a:p>
        </p:txBody>
      </p:sp>
      <p:sp>
        <p:nvSpPr>
          <p:cNvPr id="31" name="矩形 30">
            <a:extLst>
              <a:ext uri="{FF2B5EF4-FFF2-40B4-BE49-F238E27FC236}">
                <a16:creationId xmlns:a16="http://schemas.microsoft.com/office/drawing/2014/main" id="{929F3D7F-F508-3F7A-58B6-4A3CEF2350B1}"/>
              </a:ext>
            </a:extLst>
          </p:cNvPr>
          <p:cNvSpPr/>
          <p:nvPr/>
        </p:nvSpPr>
        <p:spPr>
          <a:xfrm>
            <a:off x="3697844" y="2771956"/>
            <a:ext cx="1078230" cy="5257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6</a:t>
            </a:r>
            <a:endParaRPr kumimoji="1" lang="zh-CN" altLang="en-US" dirty="0"/>
          </a:p>
        </p:txBody>
      </p:sp>
      <p:sp>
        <p:nvSpPr>
          <p:cNvPr id="32" name="矩形 31">
            <a:extLst>
              <a:ext uri="{FF2B5EF4-FFF2-40B4-BE49-F238E27FC236}">
                <a16:creationId xmlns:a16="http://schemas.microsoft.com/office/drawing/2014/main" id="{01678615-8A34-604B-A7CE-C9B6D361885E}"/>
              </a:ext>
            </a:extLst>
          </p:cNvPr>
          <p:cNvSpPr/>
          <p:nvPr/>
        </p:nvSpPr>
        <p:spPr>
          <a:xfrm>
            <a:off x="4764644" y="2771956"/>
            <a:ext cx="1078230" cy="5257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7</a:t>
            </a:r>
            <a:endParaRPr kumimoji="1" lang="zh-CN" altLang="en-US" dirty="0"/>
          </a:p>
        </p:txBody>
      </p:sp>
      <p:sp>
        <p:nvSpPr>
          <p:cNvPr id="61" name="矩形 60">
            <a:extLst>
              <a:ext uri="{FF2B5EF4-FFF2-40B4-BE49-F238E27FC236}">
                <a16:creationId xmlns:a16="http://schemas.microsoft.com/office/drawing/2014/main" id="{DA5D18AC-4412-AB97-4364-3AF24C7E148D}"/>
              </a:ext>
            </a:extLst>
          </p:cNvPr>
          <p:cNvSpPr/>
          <p:nvPr/>
        </p:nvSpPr>
        <p:spPr>
          <a:xfrm>
            <a:off x="6223227" y="296351"/>
            <a:ext cx="628650" cy="115443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0</a:t>
            </a:r>
            <a:endParaRPr kumimoji="1" lang="zh-CN" altLang="en-US" dirty="0"/>
          </a:p>
        </p:txBody>
      </p:sp>
      <p:sp>
        <p:nvSpPr>
          <p:cNvPr id="62" name="矩形 61">
            <a:extLst>
              <a:ext uri="{FF2B5EF4-FFF2-40B4-BE49-F238E27FC236}">
                <a16:creationId xmlns:a16="http://schemas.microsoft.com/office/drawing/2014/main" id="{5275F0D2-8FBD-3848-E7D5-119A1CFC347D}"/>
              </a:ext>
            </a:extLst>
          </p:cNvPr>
          <p:cNvSpPr/>
          <p:nvPr/>
        </p:nvSpPr>
        <p:spPr>
          <a:xfrm>
            <a:off x="6851877" y="296351"/>
            <a:ext cx="628650" cy="115443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63" name="矩形 62">
            <a:extLst>
              <a:ext uri="{FF2B5EF4-FFF2-40B4-BE49-F238E27FC236}">
                <a16:creationId xmlns:a16="http://schemas.microsoft.com/office/drawing/2014/main" id="{765FE34F-B734-1790-0080-EACE36AC2D70}"/>
              </a:ext>
            </a:extLst>
          </p:cNvPr>
          <p:cNvSpPr/>
          <p:nvPr/>
        </p:nvSpPr>
        <p:spPr>
          <a:xfrm>
            <a:off x="7480527" y="296351"/>
            <a:ext cx="628650" cy="115443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64" name="矩形 63">
            <a:extLst>
              <a:ext uri="{FF2B5EF4-FFF2-40B4-BE49-F238E27FC236}">
                <a16:creationId xmlns:a16="http://schemas.microsoft.com/office/drawing/2014/main" id="{7DD36396-D7F1-1936-0C62-8FB7ECADD4CF}"/>
              </a:ext>
            </a:extLst>
          </p:cNvPr>
          <p:cNvSpPr/>
          <p:nvPr/>
        </p:nvSpPr>
        <p:spPr>
          <a:xfrm>
            <a:off x="8109177" y="296351"/>
            <a:ext cx="628650" cy="115443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65" name="矩形 64">
            <a:extLst>
              <a:ext uri="{FF2B5EF4-FFF2-40B4-BE49-F238E27FC236}">
                <a16:creationId xmlns:a16="http://schemas.microsoft.com/office/drawing/2014/main" id="{E66B6F75-3315-D967-DA17-544DE2A2CC3E}"/>
              </a:ext>
            </a:extLst>
          </p:cNvPr>
          <p:cNvSpPr/>
          <p:nvPr/>
        </p:nvSpPr>
        <p:spPr>
          <a:xfrm>
            <a:off x="6238467" y="1454591"/>
            <a:ext cx="628650" cy="115443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0</a:t>
            </a:r>
            <a:endParaRPr kumimoji="1" lang="zh-CN" altLang="en-US" dirty="0"/>
          </a:p>
        </p:txBody>
      </p:sp>
      <p:sp>
        <p:nvSpPr>
          <p:cNvPr id="66" name="矩形 65">
            <a:extLst>
              <a:ext uri="{FF2B5EF4-FFF2-40B4-BE49-F238E27FC236}">
                <a16:creationId xmlns:a16="http://schemas.microsoft.com/office/drawing/2014/main" id="{1FF03EAC-FAC3-A3B9-CBF4-E198DF15A0E4}"/>
              </a:ext>
            </a:extLst>
          </p:cNvPr>
          <p:cNvSpPr/>
          <p:nvPr/>
        </p:nvSpPr>
        <p:spPr>
          <a:xfrm>
            <a:off x="6867117" y="1454591"/>
            <a:ext cx="628650" cy="115443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67" name="矩形 66">
            <a:extLst>
              <a:ext uri="{FF2B5EF4-FFF2-40B4-BE49-F238E27FC236}">
                <a16:creationId xmlns:a16="http://schemas.microsoft.com/office/drawing/2014/main" id="{EBF89E47-51C0-10D3-1299-E18EE06F32DF}"/>
              </a:ext>
            </a:extLst>
          </p:cNvPr>
          <p:cNvSpPr/>
          <p:nvPr/>
        </p:nvSpPr>
        <p:spPr>
          <a:xfrm>
            <a:off x="7495767" y="1454591"/>
            <a:ext cx="628650" cy="115443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68" name="矩形 67">
            <a:extLst>
              <a:ext uri="{FF2B5EF4-FFF2-40B4-BE49-F238E27FC236}">
                <a16:creationId xmlns:a16="http://schemas.microsoft.com/office/drawing/2014/main" id="{9D42A186-15DF-A013-908F-90F461C3DBDD}"/>
              </a:ext>
            </a:extLst>
          </p:cNvPr>
          <p:cNvSpPr/>
          <p:nvPr/>
        </p:nvSpPr>
        <p:spPr>
          <a:xfrm>
            <a:off x="8124417" y="1454591"/>
            <a:ext cx="628650" cy="115443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70" name="矩形 69">
            <a:extLst>
              <a:ext uri="{FF2B5EF4-FFF2-40B4-BE49-F238E27FC236}">
                <a16:creationId xmlns:a16="http://schemas.microsoft.com/office/drawing/2014/main" id="{9368BBBC-174C-45D4-6A6A-90A3C3DD6D6C}"/>
              </a:ext>
            </a:extLst>
          </p:cNvPr>
          <p:cNvSpPr/>
          <p:nvPr/>
        </p:nvSpPr>
        <p:spPr>
          <a:xfrm>
            <a:off x="6261327" y="2586161"/>
            <a:ext cx="628650" cy="115443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endParaRPr kumimoji="1" lang="zh-CN" altLang="en-US" dirty="0"/>
          </a:p>
        </p:txBody>
      </p:sp>
      <p:sp>
        <p:nvSpPr>
          <p:cNvPr id="71" name="矩形 70">
            <a:extLst>
              <a:ext uri="{FF2B5EF4-FFF2-40B4-BE49-F238E27FC236}">
                <a16:creationId xmlns:a16="http://schemas.microsoft.com/office/drawing/2014/main" id="{6ACBC03A-14AA-06E3-3C15-0CE72B81131F}"/>
              </a:ext>
            </a:extLst>
          </p:cNvPr>
          <p:cNvSpPr/>
          <p:nvPr/>
        </p:nvSpPr>
        <p:spPr>
          <a:xfrm>
            <a:off x="6889977" y="2586161"/>
            <a:ext cx="628650" cy="115443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5</a:t>
            </a:r>
            <a:endParaRPr kumimoji="1" lang="zh-CN" altLang="en-US" dirty="0"/>
          </a:p>
        </p:txBody>
      </p:sp>
      <p:sp>
        <p:nvSpPr>
          <p:cNvPr id="72" name="矩形 71">
            <a:extLst>
              <a:ext uri="{FF2B5EF4-FFF2-40B4-BE49-F238E27FC236}">
                <a16:creationId xmlns:a16="http://schemas.microsoft.com/office/drawing/2014/main" id="{FE7975FE-F3A1-4486-86C5-72F101F422D0}"/>
              </a:ext>
            </a:extLst>
          </p:cNvPr>
          <p:cNvSpPr/>
          <p:nvPr/>
        </p:nvSpPr>
        <p:spPr>
          <a:xfrm>
            <a:off x="7518627" y="2586161"/>
            <a:ext cx="628650" cy="115443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6</a:t>
            </a:r>
            <a:endParaRPr kumimoji="1" lang="zh-CN" altLang="en-US" dirty="0"/>
          </a:p>
        </p:txBody>
      </p:sp>
      <p:sp>
        <p:nvSpPr>
          <p:cNvPr id="73" name="矩形 72">
            <a:extLst>
              <a:ext uri="{FF2B5EF4-FFF2-40B4-BE49-F238E27FC236}">
                <a16:creationId xmlns:a16="http://schemas.microsoft.com/office/drawing/2014/main" id="{05814CCD-C1AC-2B85-5E9E-700372887B82}"/>
              </a:ext>
            </a:extLst>
          </p:cNvPr>
          <p:cNvSpPr/>
          <p:nvPr/>
        </p:nvSpPr>
        <p:spPr>
          <a:xfrm>
            <a:off x="8147277" y="2586161"/>
            <a:ext cx="628650" cy="115443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7</a:t>
            </a:r>
            <a:endParaRPr kumimoji="1" lang="zh-CN" altLang="en-US" dirty="0"/>
          </a:p>
        </p:txBody>
      </p:sp>
      <p:sp>
        <p:nvSpPr>
          <p:cNvPr id="74" name="矩形 73">
            <a:extLst>
              <a:ext uri="{FF2B5EF4-FFF2-40B4-BE49-F238E27FC236}">
                <a16:creationId xmlns:a16="http://schemas.microsoft.com/office/drawing/2014/main" id="{F35E4237-FFDC-FA14-E7D9-DE0D65282F03}"/>
              </a:ext>
            </a:extLst>
          </p:cNvPr>
          <p:cNvSpPr/>
          <p:nvPr/>
        </p:nvSpPr>
        <p:spPr>
          <a:xfrm>
            <a:off x="6276567" y="3744401"/>
            <a:ext cx="628650" cy="115443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endParaRPr kumimoji="1" lang="zh-CN" altLang="en-US" dirty="0"/>
          </a:p>
        </p:txBody>
      </p:sp>
      <p:sp>
        <p:nvSpPr>
          <p:cNvPr id="75" name="矩形 74">
            <a:extLst>
              <a:ext uri="{FF2B5EF4-FFF2-40B4-BE49-F238E27FC236}">
                <a16:creationId xmlns:a16="http://schemas.microsoft.com/office/drawing/2014/main" id="{3BAE33B5-068D-4F40-7C5E-A58F94BAB1EB}"/>
              </a:ext>
            </a:extLst>
          </p:cNvPr>
          <p:cNvSpPr/>
          <p:nvPr/>
        </p:nvSpPr>
        <p:spPr>
          <a:xfrm>
            <a:off x="6905217" y="3744401"/>
            <a:ext cx="628650" cy="115443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5</a:t>
            </a:r>
            <a:endParaRPr kumimoji="1" lang="zh-CN" altLang="en-US" dirty="0"/>
          </a:p>
        </p:txBody>
      </p:sp>
      <p:sp>
        <p:nvSpPr>
          <p:cNvPr id="76" name="矩形 75">
            <a:extLst>
              <a:ext uri="{FF2B5EF4-FFF2-40B4-BE49-F238E27FC236}">
                <a16:creationId xmlns:a16="http://schemas.microsoft.com/office/drawing/2014/main" id="{395DFDFA-3342-916F-EAB2-45B7B8E81AC6}"/>
              </a:ext>
            </a:extLst>
          </p:cNvPr>
          <p:cNvSpPr/>
          <p:nvPr/>
        </p:nvSpPr>
        <p:spPr>
          <a:xfrm>
            <a:off x="7533867" y="3744401"/>
            <a:ext cx="628650" cy="115443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6</a:t>
            </a:r>
            <a:endParaRPr kumimoji="1" lang="zh-CN" altLang="en-US" dirty="0"/>
          </a:p>
        </p:txBody>
      </p:sp>
      <p:sp>
        <p:nvSpPr>
          <p:cNvPr id="77" name="矩形 76">
            <a:extLst>
              <a:ext uri="{FF2B5EF4-FFF2-40B4-BE49-F238E27FC236}">
                <a16:creationId xmlns:a16="http://schemas.microsoft.com/office/drawing/2014/main" id="{AE64A07E-810E-B112-765D-FC0FA7F696E4}"/>
              </a:ext>
            </a:extLst>
          </p:cNvPr>
          <p:cNvSpPr/>
          <p:nvPr/>
        </p:nvSpPr>
        <p:spPr>
          <a:xfrm>
            <a:off x="8162517" y="3744401"/>
            <a:ext cx="628650" cy="115443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7</a:t>
            </a:r>
            <a:endParaRPr kumimoji="1" lang="zh-CN" altLang="en-US" dirty="0"/>
          </a:p>
        </p:txBody>
      </p:sp>
      <p:sp>
        <p:nvSpPr>
          <p:cNvPr id="85" name="文本框 84">
            <a:extLst>
              <a:ext uri="{FF2B5EF4-FFF2-40B4-BE49-F238E27FC236}">
                <a16:creationId xmlns:a16="http://schemas.microsoft.com/office/drawing/2014/main" id="{55BA4B09-2A1B-3969-FBA8-23ABD763637B}"/>
              </a:ext>
            </a:extLst>
          </p:cNvPr>
          <p:cNvSpPr txBox="1"/>
          <p:nvPr/>
        </p:nvSpPr>
        <p:spPr>
          <a:xfrm>
            <a:off x="3405782" y="1760477"/>
            <a:ext cx="1625563" cy="369332"/>
          </a:xfrm>
          <a:prstGeom prst="rect">
            <a:avLst/>
          </a:prstGeom>
          <a:noFill/>
        </p:spPr>
        <p:txBody>
          <a:bodyPr wrap="square" rtlCol="0">
            <a:spAutoFit/>
          </a:bodyPr>
          <a:lstStyle/>
          <a:p>
            <a:r>
              <a:rPr kumimoji="1" lang="en-US" altLang="zh-CN" dirty="0"/>
              <a:t>K1</a:t>
            </a:r>
            <a:endParaRPr kumimoji="1" lang="zh-CN" altLang="en-US" dirty="0"/>
          </a:p>
        </p:txBody>
      </p:sp>
      <p:sp>
        <p:nvSpPr>
          <p:cNvPr id="86" name="文本框 85">
            <a:extLst>
              <a:ext uri="{FF2B5EF4-FFF2-40B4-BE49-F238E27FC236}">
                <a16:creationId xmlns:a16="http://schemas.microsoft.com/office/drawing/2014/main" id="{EC6A6DB0-E850-B93B-6EE6-7D2925631FFF}"/>
              </a:ext>
            </a:extLst>
          </p:cNvPr>
          <p:cNvSpPr txBox="1"/>
          <p:nvPr/>
        </p:nvSpPr>
        <p:spPr>
          <a:xfrm>
            <a:off x="901357" y="2569118"/>
            <a:ext cx="1625563" cy="369332"/>
          </a:xfrm>
          <a:prstGeom prst="rect">
            <a:avLst/>
          </a:prstGeom>
          <a:noFill/>
        </p:spPr>
        <p:txBody>
          <a:bodyPr wrap="square" rtlCol="0">
            <a:spAutoFit/>
          </a:bodyPr>
          <a:lstStyle/>
          <a:p>
            <a:r>
              <a:rPr kumimoji="1" lang="en-US" altLang="zh-CN" dirty="0"/>
              <a:t>M1</a:t>
            </a:r>
            <a:endParaRPr kumimoji="1" lang="zh-CN" altLang="en-US" dirty="0"/>
          </a:p>
        </p:txBody>
      </p:sp>
      <p:sp>
        <p:nvSpPr>
          <p:cNvPr id="87" name="文本框 86">
            <a:extLst>
              <a:ext uri="{FF2B5EF4-FFF2-40B4-BE49-F238E27FC236}">
                <a16:creationId xmlns:a16="http://schemas.microsoft.com/office/drawing/2014/main" id="{3758081B-10E5-6476-7E82-B42723D7BA86}"/>
              </a:ext>
            </a:extLst>
          </p:cNvPr>
          <p:cNvSpPr txBox="1"/>
          <p:nvPr/>
        </p:nvSpPr>
        <p:spPr>
          <a:xfrm>
            <a:off x="6769188" y="0"/>
            <a:ext cx="1625563" cy="369332"/>
          </a:xfrm>
          <a:prstGeom prst="rect">
            <a:avLst/>
          </a:prstGeom>
          <a:noFill/>
        </p:spPr>
        <p:txBody>
          <a:bodyPr wrap="square" rtlCol="0">
            <a:spAutoFit/>
          </a:bodyPr>
          <a:lstStyle/>
          <a:p>
            <a:r>
              <a:rPr kumimoji="1" lang="en-US" altLang="zh-CN" dirty="0"/>
              <a:t>N1</a:t>
            </a:r>
            <a:endParaRPr kumimoji="1" lang="zh-CN" altLang="en-US" dirty="0"/>
          </a:p>
        </p:txBody>
      </p:sp>
      <p:sp>
        <p:nvSpPr>
          <p:cNvPr id="88" name="文本框 87">
            <a:extLst>
              <a:ext uri="{FF2B5EF4-FFF2-40B4-BE49-F238E27FC236}">
                <a16:creationId xmlns:a16="http://schemas.microsoft.com/office/drawing/2014/main" id="{A8BCE2DA-F7F2-4419-EB64-743B3A8C9924}"/>
              </a:ext>
            </a:extLst>
          </p:cNvPr>
          <p:cNvSpPr txBox="1"/>
          <p:nvPr/>
        </p:nvSpPr>
        <p:spPr>
          <a:xfrm>
            <a:off x="8871837" y="2129809"/>
            <a:ext cx="1625563" cy="369332"/>
          </a:xfrm>
          <a:prstGeom prst="rect">
            <a:avLst/>
          </a:prstGeom>
          <a:noFill/>
        </p:spPr>
        <p:txBody>
          <a:bodyPr wrap="square" rtlCol="0">
            <a:spAutoFit/>
          </a:bodyPr>
          <a:lstStyle/>
          <a:p>
            <a:r>
              <a:rPr kumimoji="1" lang="en-US" altLang="zh-CN" dirty="0"/>
              <a:t>K1</a:t>
            </a:r>
            <a:endParaRPr kumimoji="1" lang="zh-CN" altLang="en-US" dirty="0"/>
          </a:p>
        </p:txBody>
      </p:sp>
      <p:sp>
        <p:nvSpPr>
          <p:cNvPr id="89" name="矩形 88">
            <a:extLst>
              <a:ext uri="{FF2B5EF4-FFF2-40B4-BE49-F238E27FC236}">
                <a16:creationId xmlns:a16="http://schemas.microsoft.com/office/drawing/2014/main" id="{4C65990E-A5BC-B850-C379-1347A3F9250A}"/>
              </a:ext>
            </a:extLst>
          </p:cNvPr>
          <p:cNvSpPr/>
          <p:nvPr/>
        </p:nvSpPr>
        <p:spPr>
          <a:xfrm>
            <a:off x="6227316" y="5175231"/>
            <a:ext cx="666749" cy="52578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kumimoji="1" lang="en-US" altLang="zh-CN" dirty="0"/>
              <a:t>0</a:t>
            </a:r>
            <a:endParaRPr kumimoji="1" lang="zh-CN" altLang="en-US" dirty="0"/>
          </a:p>
        </p:txBody>
      </p:sp>
      <p:sp>
        <p:nvSpPr>
          <p:cNvPr id="90" name="矩形 89">
            <a:extLst>
              <a:ext uri="{FF2B5EF4-FFF2-40B4-BE49-F238E27FC236}">
                <a16:creationId xmlns:a16="http://schemas.microsoft.com/office/drawing/2014/main" id="{1B6EDE52-233E-745E-CAE2-213B80E893B2}"/>
              </a:ext>
            </a:extLst>
          </p:cNvPr>
          <p:cNvSpPr/>
          <p:nvPr/>
        </p:nvSpPr>
        <p:spPr>
          <a:xfrm>
            <a:off x="6894065" y="5175231"/>
            <a:ext cx="666749" cy="52578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kumimoji="1" lang="en-US" altLang="zh-CN" dirty="0"/>
              <a:t>1</a:t>
            </a:r>
            <a:endParaRPr kumimoji="1" lang="zh-CN" altLang="en-US" dirty="0"/>
          </a:p>
        </p:txBody>
      </p:sp>
      <p:sp>
        <p:nvSpPr>
          <p:cNvPr id="91" name="矩形 90">
            <a:extLst>
              <a:ext uri="{FF2B5EF4-FFF2-40B4-BE49-F238E27FC236}">
                <a16:creationId xmlns:a16="http://schemas.microsoft.com/office/drawing/2014/main" id="{311A5E38-6AAE-1C80-7CAF-D6F33DE463F6}"/>
              </a:ext>
            </a:extLst>
          </p:cNvPr>
          <p:cNvSpPr/>
          <p:nvPr/>
        </p:nvSpPr>
        <p:spPr>
          <a:xfrm>
            <a:off x="7570818" y="5175231"/>
            <a:ext cx="666749" cy="52578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kumimoji="1" lang="en-US" altLang="zh-CN" dirty="0"/>
              <a:t>2</a:t>
            </a:r>
            <a:endParaRPr kumimoji="1" lang="zh-CN" altLang="en-US" dirty="0"/>
          </a:p>
        </p:txBody>
      </p:sp>
      <p:sp>
        <p:nvSpPr>
          <p:cNvPr id="92" name="矩形 91">
            <a:extLst>
              <a:ext uri="{FF2B5EF4-FFF2-40B4-BE49-F238E27FC236}">
                <a16:creationId xmlns:a16="http://schemas.microsoft.com/office/drawing/2014/main" id="{F4DF65F2-9FB8-4AD2-CA7C-6227D3597454}"/>
              </a:ext>
            </a:extLst>
          </p:cNvPr>
          <p:cNvSpPr/>
          <p:nvPr/>
        </p:nvSpPr>
        <p:spPr>
          <a:xfrm>
            <a:off x="8249035" y="5170299"/>
            <a:ext cx="666749" cy="52578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kumimoji="1" lang="en-US" altLang="zh-CN" dirty="0"/>
              <a:t>3</a:t>
            </a:r>
            <a:endParaRPr kumimoji="1" lang="zh-CN" altLang="en-US" dirty="0"/>
          </a:p>
        </p:txBody>
      </p:sp>
      <p:sp>
        <p:nvSpPr>
          <p:cNvPr id="93" name="矩形 92">
            <a:extLst>
              <a:ext uri="{FF2B5EF4-FFF2-40B4-BE49-F238E27FC236}">
                <a16:creationId xmlns:a16="http://schemas.microsoft.com/office/drawing/2014/main" id="{1539B0C0-CB98-01B3-74E6-E778C94B6F74}"/>
              </a:ext>
            </a:extLst>
          </p:cNvPr>
          <p:cNvSpPr/>
          <p:nvPr/>
        </p:nvSpPr>
        <p:spPr>
          <a:xfrm>
            <a:off x="6227316" y="5696079"/>
            <a:ext cx="666749" cy="52578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kumimoji="1" lang="en-US" altLang="zh-CN" dirty="0"/>
              <a:t>4</a:t>
            </a:r>
            <a:endParaRPr kumimoji="1" lang="zh-CN" altLang="en-US" dirty="0"/>
          </a:p>
        </p:txBody>
      </p:sp>
      <p:sp>
        <p:nvSpPr>
          <p:cNvPr id="94" name="矩形 93">
            <a:extLst>
              <a:ext uri="{FF2B5EF4-FFF2-40B4-BE49-F238E27FC236}">
                <a16:creationId xmlns:a16="http://schemas.microsoft.com/office/drawing/2014/main" id="{008E017E-FCAE-1585-0D09-08EF0A4DC87D}"/>
              </a:ext>
            </a:extLst>
          </p:cNvPr>
          <p:cNvSpPr/>
          <p:nvPr/>
        </p:nvSpPr>
        <p:spPr>
          <a:xfrm>
            <a:off x="6894065" y="5696079"/>
            <a:ext cx="666749" cy="52578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kumimoji="1" lang="en-US" altLang="zh-CN" dirty="0"/>
              <a:t>5</a:t>
            </a:r>
            <a:endParaRPr kumimoji="1" lang="zh-CN" altLang="en-US" dirty="0"/>
          </a:p>
        </p:txBody>
      </p:sp>
      <p:sp>
        <p:nvSpPr>
          <p:cNvPr id="95" name="矩形 94">
            <a:extLst>
              <a:ext uri="{FF2B5EF4-FFF2-40B4-BE49-F238E27FC236}">
                <a16:creationId xmlns:a16="http://schemas.microsoft.com/office/drawing/2014/main" id="{1FEE44F6-DA9E-C4A6-8649-318E99198540}"/>
              </a:ext>
            </a:extLst>
          </p:cNvPr>
          <p:cNvSpPr/>
          <p:nvPr/>
        </p:nvSpPr>
        <p:spPr>
          <a:xfrm>
            <a:off x="7570818" y="5696079"/>
            <a:ext cx="666749" cy="52578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kumimoji="1" lang="en-US" altLang="zh-CN" dirty="0"/>
              <a:t>6</a:t>
            </a:r>
            <a:endParaRPr kumimoji="1" lang="zh-CN" altLang="en-US" dirty="0"/>
          </a:p>
        </p:txBody>
      </p:sp>
      <p:sp>
        <p:nvSpPr>
          <p:cNvPr id="96" name="矩形 95">
            <a:extLst>
              <a:ext uri="{FF2B5EF4-FFF2-40B4-BE49-F238E27FC236}">
                <a16:creationId xmlns:a16="http://schemas.microsoft.com/office/drawing/2014/main" id="{EEA856DA-6A18-85DC-A8E3-C62AC522B3B2}"/>
              </a:ext>
            </a:extLst>
          </p:cNvPr>
          <p:cNvSpPr/>
          <p:nvPr/>
        </p:nvSpPr>
        <p:spPr>
          <a:xfrm>
            <a:off x="8249035" y="5691147"/>
            <a:ext cx="666749" cy="52578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kumimoji="1" lang="en-US" altLang="zh-CN" dirty="0"/>
              <a:t>7</a:t>
            </a:r>
            <a:endParaRPr kumimoji="1" lang="zh-CN" altLang="en-US" dirty="0"/>
          </a:p>
        </p:txBody>
      </p:sp>
      <p:sp>
        <p:nvSpPr>
          <p:cNvPr id="100" name="文本框 99">
            <a:extLst>
              <a:ext uri="{FF2B5EF4-FFF2-40B4-BE49-F238E27FC236}">
                <a16:creationId xmlns:a16="http://schemas.microsoft.com/office/drawing/2014/main" id="{5B8FF8BE-3971-BFCB-B812-813BFC3EA96A}"/>
              </a:ext>
            </a:extLst>
          </p:cNvPr>
          <p:cNvSpPr txBox="1"/>
          <p:nvPr/>
        </p:nvSpPr>
        <p:spPr>
          <a:xfrm>
            <a:off x="5540639" y="5516345"/>
            <a:ext cx="1625563" cy="369332"/>
          </a:xfrm>
          <a:prstGeom prst="rect">
            <a:avLst/>
          </a:prstGeom>
          <a:noFill/>
        </p:spPr>
        <p:txBody>
          <a:bodyPr wrap="square" rtlCol="0">
            <a:spAutoFit/>
          </a:bodyPr>
          <a:lstStyle/>
          <a:p>
            <a:r>
              <a:rPr kumimoji="1" lang="en-US" altLang="zh-CN" dirty="0"/>
              <a:t>M1</a:t>
            </a:r>
            <a:endParaRPr kumimoji="1" lang="zh-CN" altLang="en-US" dirty="0"/>
          </a:p>
        </p:txBody>
      </p:sp>
      <p:sp>
        <p:nvSpPr>
          <p:cNvPr id="101" name="文本框 100">
            <a:extLst>
              <a:ext uri="{FF2B5EF4-FFF2-40B4-BE49-F238E27FC236}">
                <a16:creationId xmlns:a16="http://schemas.microsoft.com/office/drawing/2014/main" id="{B6A4DB50-02FB-CCDD-7C72-42D2262EA035}"/>
              </a:ext>
            </a:extLst>
          </p:cNvPr>
          <p:cNvSpPr txBox="1"/>
          <p:nvPr/>
        </p:nvSpPr>
        <p:spPr>
          <a:xfrm>
            <a:off x="6952456" y="6376983"/>
            <a:ext cx="1625563" cy="369332"/>
          </a:xfrm>
          <a:prstGeom prst="rect">
            <a:avLst/>
          </a:prstGeom>
          <a:noFill/>
        </p:spPr>
        <p:txBody>
          <a:bodyPr wrap="square" rtlCol="0">
            <a:spAutoFit/>
          </a:bodyPr>
          <a:lstStyle/>
          <a:p>
            <a:r>
              <a:rPr kumimoji="1" lang="en-US" altLang="zh-CN" dirty="0"/>
              <a:t>N1</a:t>
            </a:r>
            <a:endParaRPr kumimoji="1" lang="zh-CN" altLang="en-US" dirty="0"/>
          </a:p>
        </p:txBody>
      </p:sp>
      <p:pic>
        <p:nvPicPr>
          <p:cNvPr id="102" name="图片 101">
            <a:extLst>
              <a:ext uri="{FF2B5EF4-FFF2-40B4-BE49-F238E27FC236}">
                <a16:creationId xmlns:a16="http://schemas.microsoft.com/office/drawing/2014/main" id="{423C0A14-5E33-D6D8-614C-3393365E1AA8}"/>
              </a:ext>
            </a:extLst>
          </p:cNvPr>
          <p:cNvPicPr>
            <a:picLocks noChangeAspect="1"/>
          </p:cNvPicPr>
          <p:nvPr/>
        </p:nvPicPr>
        <p:blipFill>
          <a:blip r:embed="rId3"/>
          <a:stretch>
            <a:fillRect/>
          </a:stretch>
        </p:blipFill>
        <p:spPr>
          <a:xfrm>
            <a:off x="8888837" y="2848781"/>
            <a:ext cx="3121026" cy="1984157"/>
          </a:xfrm>
          <a:prstGeom prst="rect">
            <a:avLst/>
          </a:prstGeom>
        </p:spPr>
      </p:pic>
    </p:spTree>
    <p:extLst>
      <p:ext uri="{BB962C8B-B14F-4D97-AF65-F5344CB8AC3E}">
        <p14:creationId xmlns:p14="http://schemas.microsoft.com/office/powerpoint/2010/main" val="28291286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组合 34"/>
          <p:cNvGrpSpPr/>
          <p:nvPr/>
        </p:nvGrpSpPr>
        <p:grpSpPr>
          <a:xfrm>
            <a:off x="361950" y="6398036"/>
            <a:ext cx="11367943" cy="295144"/>
            <a:chOff x="371475" y="4964836"/>
            <a:chExt cx="11367943" cy="295144"/>
          </a:xfrm>
        </p:grpSpPr>
        <p:cxnSp>
          <p:nvCxnSpPr>
            <p:cNvPr id="36" name="直接连接符 35"/>
            <p:cNvCxnSpPr/>
            <p:nvPr/>
          </p:nvCxnSpPr>
          <p:spPr>
            <a:xfrm>
              <a:off x="371475" y="5125367"/>
              <a:ext cx="10521084" cy="0"/>
            </a:xfrm>
            <a:prstGeom prst="line">
              <a:avLst/>
            </a:prstGeom>
            <a:ln w="12700">
              <a:solidFill>
                <a:schemeClr val="bg1">
                  <a:lumMod val="85000"/>
                </a:schemeClr>
              </a:solidFill>
            </a:ln>
          </p:spPr>
          <p:style>
            <a:lnRef idx="1">
              <a:schemeClr val="accent2"/>
            </a:lnRef>
            <a:fillRef idx="0">
              <a:schemeClr val="accent2"/>
            </a:fillRef>
            <a:effectRef idx="0">
              <a:schemeClr val="accent2"/>
            </a:effectRef>
            <a:fontRef idx="minor">
              <a:schemeClr val="tx1"/>
            </a:fontRef>
          </p:style>
        </p:cxnSp>
        <p:cxnSp>
          <p:nvCxnSpPr>
            <p:cNvPr id="37" name="直接连接符 36"/>
            <p:cNvCxnSpPr/>
            <p:nvPr/>
          </p:nvCxnSpPr>
          <p:spPr>
            <a:xfrm>
              <a:off x="11341100" y="5125367"/>
              <a:ext cx="398318" cy="0"/>
            </a:xfrm>
            <a:prstGeom prst="line">
              <a:avLst/>
            </a:prstGeom>
            <a:ln w="12700">
              <a:solidFill>
                <a:schemeClr val="bg1">
                  <a:lumMod val="85000"/>
                </a:schemeClr>
              </a:solidFill>
            </a:ln>
          </p:spPr>
          <p:style>
            <a:lnRef idx="1">
              <a:schemeClr val="accent2"/>
            </a:lnRef>
            <a:fillRef idx="0">
              <a:schemeClr val="accent2"/>
            </a:fillRef>
            <a:effectRef idx="0">
              <a:schemeClr val="accent2"/>
            </a:effectRef>
            <a:fontRef idx="minor">
              <a:schemeClr val="tx1"/>
            </a:fontRef>
          </p:style>
        </p:cxnSp>
        <p:sp>
          <p:nvSpPr>
            <p:cNvPr id="38" name="文本框 37"/>
            <p:cNvSpPr txBox="1"/>
            <p:nvPr/>
          </p:nvSpPr>
          <p:spPr>
            <a:xfrm>
              <a:off x="10886209" y="4964836"/>
              <a:ext cx="454891" cy="295144"/>
            </a:xfrm>
            <a:prstGeom prst="rect">
              <a:avLst/>
            </a:prstGeom>
            <a:noFill/>
          </p:spPr>
          <p:txBody>
            <a:bodyPr wrap="square" rtlCol="0">
              <a:spAutoFit/>
            </a:bodyPr>
            <a:lstStyle/>
            <a:p>
              <a:pPr algn="ctr">
                <a:lnSpc>
                  <a:spcPct val="120000"/>
                </a:lnSpc>
              </a:pP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01</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grpSp>
        <p:nvGrpSpPr>
          <p:cNvPr id="4" name="组合 3"/>
          <p:cNvGrpSpPr/>
          <p:nvPr/>
        </p:nvGrpSpPr>
        <p:grpSpPr>
          <a:xfrm>
            <a:off x="191875" y="207562"/>
            <a:ext cx="7481981" cy="541920"/>
            <a:chOff x="0" y="338431"/>
            <a:chExt cx="7481981" cy="541920"/>
          </a:xfrm>
        </p:grpSpPr>
        <p:sp>
          <p:nvSpPr>
            <p:cNvPr id="5" name="矩形 4"/>
            <p:cNvSpPr/>
            <p:nvPr/>
          </p:nvSpPr>
          <p:spPr>
            <a:xfrm>
              <a:off x="0" y="348602"/>
              <a:ext cx="101600" cy="531749"/>
            </a:xfrm>
            <a:prstGeom prst="rect">
              <a:avLst/>
            </a:prstGeom>
            <a:solidFill>
              <a:srgbClr val="E26C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p:cNvSpPr txBox="1"/>
            <p:nvPr/>
          </p:nvSpPr>
          <p:spPr>
            <a:xfrm>
              <a:off x="235003" y="338431"/>
              <a:ext cx="7246978" cy="531749"/>
            </a:xfrm>
            <a:prstGeom prst="rect">
              <a:avLst/>
            </a:prstGeom>
            <a:noFill/>
          </p:spPr>
          <p:txBody>
            <a:bodyPr wrap="square" rtlCol="0">
              <a:spAutoFit/>
            </a:bodyPr>
            <a:lstStyle/>
            <a:p>
              <a:pPr>
                <a:lnSpc>
                  <a:spcPct val="120000"/>
                </a:lnSpc>
              </a:pPr>
              <a:r>
                <a:rPr lang="en-US" altLang="zh-CN" sz="2600" b="1" dirty="0">
                  <a:solidFill>
                    <a:srgbClr val="E26C0D"/>
                  </a:solidFill>
                  <a:latin typeface="微软雅黑" panose="020B0503020204020204" pitchFamily="34" charset="-122"/>
                  <a:ea typeface="微软雅黑" panose="020B0503020204020204" pitchFamily="34" charset="-122"/>
                </a:rPr>
                <a:t>DMA</a:t>
              </a:r>
              <a:r>
                <a:rPr lang="zh-CN" altLang="en-US" sz="2600" b="1" dirty="0">
                  <a:solidFill>
                    <a:srgbClr val="E26C0D"/>
                  </a:solidFill>
                  <a:latin typeface="微软雅黑" panose="020B0503020204020204" pitchFamily="34" charset="-122"/>
                  <a:ea typeface="微软雅黑" panose="020B0503020204020204" pitchFamily="34" charset="-122"/>
                </a:rPr>
                <a:t>瓶颈</a:t>
              </a:r>
              <a:r>
                <a:rPr lang="en-US" altLang="zh-CN" sz="2600" b="1" dirty="0">
                  <a:solidFill>
                    <a:srgbClr val="E26C0D"/>
                  </a:solidFill>
                  <a:latin typeface="微软雅黑" panose="020B0503020204020204" pitchFamily="34" charset="-122"/>
                  <a:ea typeface="微软雅黑" panose="020B0503020204020204" pitchFamily="34" charset="-122"/>
                </a:rPr>
                <a:t>/ACE</a:t>
              </a:r>
              <a:r>
                <a:rPr lang="zh-CN" altLang="en-US" sz="2600" b="1" dirty="0">
                  <a:solidFill>
                    <a:srgbClr val="E26C0D"/>
                  </a:solidFill>
                  <a:latin typeface="微软雅黑" panose="020B0503020204020204" pitchFamily="34" charset="-122"/>
                  <a:ea typeface="微软雅黑" panose="020B0503020204020204" pitchFamily="34" charset="-122"/>
                </a:rPr>
                <a:t>写缓冲区过小</a:t>
              </a:r>
              <a:endParaRPr lang="en-US" altLang="zh-CN" sz="2600" b="1" dirty="0">
                <a:solidFill>
                  <a:srgbClr val="E26C0D"/>
                </a:solidFill>
                <a:latin typeface="微软雅黑" panose="020B0503020204020204" pitchFamily="34" charset="-122"/>
                <a:ea typeface="微软雅黑" panose="020B0503020204020204" pitchFamily="34" charset="-122"/>
              </a:endParaRPr>
            </a:p>
          </p:txBody>
        </p:sp>
      </p:grpSp>
      <p:sp>
        <p:nvSpPr>
          <p:cNvPr id="8" name="文本框 7">
            <a:extLst>
              <a:ext uri="{FF2B5EF4-FFF2-40B4-BE49-F238E27FC236}">
                <a16:creationId xmlns:a16="http://schemas.microsoft.com/office/drawing/2014/main" id="{AC1B6509-E8D0-F7E9-727F-618E8E4299D4}"/>
              </a:ext>
            </a:extLst>
          </p:cNvPr>
          <p:cNvSpPr txBox="1"/>
          <p:nvPr/>
        </p:nvSpPr>
        <p:spPr>
          <a:xfrm>
            <a:off x="685800" y="1074420"/>
            <a:ext cx="7383780" cy="369332"/>
          </a:xfrm>
          <a:prstGeom prst="rect">
            <a:avLst/>
          </a:prstGeom>
          <a:noFill/>
        </p:spPr>
        <p:txBody>
          <a:bodyPr wrap="square" rtlCol="0">
            <a:spAutoFit/>
          </a:bodyPr>
          <a:lstStyle/>
          <a:p>
            <a:r>
              <a:rPr kumimoji="1" lang="zh-CN" altLang="en-US" dirty="0"/>
              <a:t>根据</a:t>
            </a:r>
            <a:r>
              <a:rPr kumimoji="1" lang="en-US" altLang="zh-CN" dirty="0"/>
              <a:t>SUMMA</a:t>
            </a:r>
            <a:r>
              <a:rPr kumimoji="1" lang="zh-CN" altLang="en-US" dirty="0"/>
              <a:t>的特点，一个子块的计算量为：</a:t>
            </a:r>
          </a:p>
        </p:txBody>
      </p:sp>
      <p:sp>
        <p:nvSpPr>
          <p:cNvPr id="14" name="文本框 13">
            <a:extLst>
              <a:ext uri="{FF2B5EF4-FFF2-40B4-BE49-F238E27FC236}">
                <a16:creationId xmlns:a16="http://schemas.microsoft.com/office/drawing/2014/main" id="{5944AD7D-8926-6372-BA0D-4617D53887FF}"/>
              </a:ext>
            </a:extLst>
          </p:cNvPr>
          <p:cNvSpPr txBox="1"/>
          <p:nvPr/>
        </p:nvSpPr>
        <p:spPr>
          <a:xfrm>
            <a:off x="685800" y="1509859"/>
            <a:ext cx="7383780" cy="369332"/>
          </a:xfrm>
          <a:prstGeom prst="rect">
            <a:avLst/>
          </a:prstGeom>
          <a:noFill/>
        </p:spPr>
        <p:txBody>
          <a:bodyPr wrap="square" rtlCol="0">
            <a:spAutoFit/>
          </a:bodyPr>
          <a:lstStyle/>
          <a:p>
            <a:r>
              <a:rPr kumimoji="1" lang="zh-CN" altLang="en-US" dirty="0"/>
              <a:t>访存量为</a:t>
            </a:r>
            <a:r>
              <a:rPr kumimoji="1" lang="en-US" altLang="zh-CN" dirty="0"/>
              <a:t>:</a:t>
            </a:r>
            <a:endParaRPr kumimoji="1" lang="zh-CN" altLang="en-US" dirty="0"/>
          </a:p>
        </p:txBody>
      </p:sp>
      <p:pic>
        <p:nvPicPr>
          <p:cNvPr id="15" name="图片 14">
            <a:extLst>
              <a:ext uri="{FF2B5EF4-FFF2-40B4-BE49-F238E27FC236}">
                <a16:creationId xmlns:a16="http://schemas.microsoft.com/office/drawing/2014/main" id="{22E584F5-9FBC-5CBF-A398-ABEA204F250C}"/>
              </a:ext>
            </a:extLst>
          </p:cNvPr>
          <p:cNvPicPr>
            <a:picLocks noChangeAspect="1"/>
          </p:cNvPicPr>
          <p:nvPr/>
        </p:nvPicPr>
        <p:blipFill>
          <a:blip r:embed="rId3"/>
          <a:stretch>
            <a:fillRect/>
          </a:stretch>
        </p:blipFill>
        <p:spPr>
          <a:xfrm>
            <a:off x="5226050" y="1074420"/>
            <a:ext cx="3911600" cy="431800"/>
          </a:xfrm>
          <a:prstGeom prst="rect">
            <a:avLst/>
          </a:prstGeom>
        </p:spPr>
      </p:pic>
      <p:pic>
        <p:nvPicPr>
          <p:cNvPr id="17" name="图片 16">
            <a:extLst>
              <a:ext uri="{FF2B5EF4-FFF2-40B4-BE49-F238E27FC236}">
                <a16:creationId xmlns:a16="http://schemas.microsoft.com/office/drawing/2014/main" id="{08A0E874-3546-3C83-9C44-F0E66AE8E6EE}"/>
              </a:ext>
            </a:extLst>
          </p:cNvPr>
          <p:cNvPicPr>
            <a:picLocks noChangeAspect="1"/>
          </p:cNvPicPr>
          <p:nvPr/>
        </p:nvPicPr>
        <p:blipFill>
          <a:blip r:embed="rId4"/>
          <a:stretch>
            <a:fillRect/>
          </a:stretch>
        </p:blipFill>
        <p:spPr>
          <a:xfrm>
            <a:off x="1863090" y="1443752"/>
            <a:ext cx="3848100" cy="508000"/>
          </a:xfrm>
          <a:prstGeom prst="rect">
            <a:avLst/>
          </a:prstGeom>
        </p:spPr>
      </p:pic>
      <p:sp>
        <p:nvSpPr>
          <p:cNvPr id="18" name="文本框 17">
            <a:extLst>
              <a:ext uri="{FF2B5EF4-FFF2-40B4-BE49-F238E27FC236}">
                <a16:creationId xmlns:a16="http://schemas.microsoft.com/office/drawing/2014/main" id="{DE8073D4-A1D6-069C-D322-DFA325B97994}"/>
              </a:ext>
            </a:extLst>
          </p:cNvPr>
          <p:cNvSpPr txBox="1"/>
          <p:nvPr/>
        </p:nvSpPr>
        <p:spPr>
          <a:xfrm>
            <a:off x="777240" y="2017859"/>
            <a:ext cx="3509010" cy="369332"/>
          </a:xfrm>
          <a:prstGeom prst="rect">
            <a:avLst/>
          </a:prstGeom>
          <a:noFill/>
        </p:spPr>
        <p:txBody>
          <a:bodyPr wrap="square" rtlCol="0">
            <a:spAutoFit/>
          </a:bodyPr>
          <a:lstStyle/>
          <a:p>
            <a:r>
              <a:rPr kumimoji="1" lang="zh-CN" altLang="en-US" dirty="0"/>
              <a:t>计算耗时为：</a:t>
            </a:r>
          </a:p>
        </p:txBody>
      </p:sp>
      <p:pic>
        <p:nvPicPr>
          <p:cNvPr id="21" name="图片 20">
            <a:extLst>
              <a:ext uri="{FF2B5EF4-FFF2-40B4-BE49-F238E27FC236}">
                <a16:creationId xmlns:a16="http://schemas.microsoft.com/office/drawing/2014/main" id="{5696C901-6F63-C0AB-3E45-3FAA006FE3F8}"/>
              </a:ext>
            </a:extLst>
          </p:cNvPr>
          <p:cNvPicPr>
            <a:picLocks noChangeAspect="1"/>
          </p:cNvPicPr>
          <p:nvPr/>
        </p:nvPicPr>
        <p:blipFill>
          <a:blip r:embed="rId5"/>
          <a:stretch>
            <a:fillRect/>
          </a:stretch>
        </p:blipFill>
        <p:spPr>
          <a:xfrm>
            <a:off x="2067560" y="1879191"/>
            <a:ext cx="3073400" cy="723900"/>
          </a:xfrm>
          <a:prstGeom prst="rect">
            <a:avLst/>
          </a:prstGeom>
        </p:spPr>
      </p:pic>
      <p:sp>
        <p:nvSpPr>
          <p:cNvPr id="23" name="文本框 22">
            <a:extLst>
              <a:ext uri="{FF2B5EF4-FFF2-40B4-BE49-F238E27FC236}">
                <a16:creationId xmlns:a16="http://schemas.microsoft.com/office/drawing/2014/main" id="{3B977DA5-5721-46C6-A541-817EA7FF67AB}"/>
              </a:ext>
            </a:extLst>
          </p:cNvPr>
          <p:cNvSpPr txBox="1"/>
          <p:nvPr/>
        </p:nvSpPr>
        <p:spPr>
          <a:xfrm>
            <a:off x="5296537" y="2039722"/>
            <a:ext cx="3509010" cy="369332"/>
          </a:xfrm>
          <a:prstGeom prst="rect">
            <a:avLst/>
          </a:prstGeom>
          <a:noFill/>
        </p:spPr>
        <p:txBody>
          <a:bodyPr wrap="square" rtlCol="0">
            <a:spAutoFit/>
          </a:bodyPr>
          <a:lstStyle/>
          <a:p>
            <a:r>
              <a:rPr kumimoji="1" lang="zh-CN" altLang="en-US" dirty="0"/>
              <a:t>访存耗时为：</a:t>
            </a:r>
          </a:p>
        </p:txBody>
      </p:sp>
      <p:pic>
        <p:nvPicPr>
          <p:cNvPr id="24" name="图片 23">
            <a:extLst>
              <a:ext uri="{FF2B5EF4-FFF2-40B4-BE49-F238E27FC236}">
                <a16:creationId xmlns:a16="http://schemas.microsoft.com/office/drawing/2014/main" id="{5B7F46A1-4F42-48BC-33AE-C3C85D71DEA2}"/>
              </a:ext>
            </a:extLst>
          </p:cNvPr>
          <p:cNvPicPr>
            <a:picLocks noChangeAspect="1"/>
          </p:cNvPicPr>
          <p:nvPr/>
        </p:nvPicPr>
        <p:blipFill>
          <a:blip r:embed="rId6"/>
          <a:stretch>
            <a:fillRect/>
          </a:stretch>
        </p:blipFill>
        <p:spPr>
          <a:xfrm>
            <a:off x="6818630" y="1919588"/>
            <a:ext cx="2501900" cy="609600"/>
          </a:xfrm>
          <a:prstGeom prst="rect">
            <a:avLst/>
          </a:prstGeom>
        </p:spPr>
      </p:pic>
      <p:sp>
        <p:nvSpPr>
          <p:cNvPr id="26" name="文本框 25">
            <a:extLst>
              <a:ext uri="{FF2B5EF4-FFF2-40B4-BE49-F238E27FC236}">
                <a16:creationId xmlns:a16="http://schemas.microsoft.com/office/drawing/2014/main" id="{E957FBBB-096B-6589-4E26-54AD0E141CD6}"/>
              </a:ext>
            </a:extLst>
          </p:cNvPr>
          <p:cNvSpPr txBox="1"/>
          <p:nvPr/>
        </p:nvSpPr>
        <p:spPr>
          <a:xfrm>
            <a:off x="777240" y="2640333"/>
            <a:ext cx="3509010" cy="369332"/>
          </a:xfrm>
          <a:prstGeom prst="rect">
            <a:avLst/>
          </a:prstGeom>
          <a:noFill/>
        </p:spPr>
        <p:txBody>
          <a:bodyPr wrap="square" rtlCol="0">
            <a:spAutoFit/>
          </a:bodyPr>
          <a:lstStyle/>
          <a:p>
            <a:r>
              <a:rPr kumimoji="1" lang="zh-CN" altLang="en-US" dirty="0"/>
              <a:t>整体性能</a:t>
            </a:r>
            <a:r>
              <a:rPr kumimoji="1" lang="en-US" altLang="zh-CN" dirty="0"/>
              <a:t>:</a:t>
            </a:r>
            <a:endParaRPr kumimoji="1" lang="zh-CN" altLang="en-US" dirty="0"/>
          </a:p>
        </p:txBody>
      </p:sp>
      <p:pic>
        <p:nvPicPr>
          <p:cNvPr id="27" name="图片 26">
            <a:extLst>
              <a:ext uri="{FF2B5EF4-FFF2-40B4-BE49-F238E27FC236}">
                <a16:creationId xmlns:a16="http://schemas.microsoft.com/office/drawing/2014/main" id="{3A181001-1C35-C4EA-1EC5-0872B20FAA44}"/>
              </a:ext>
            </a:extLst>
          </p:cNvPr>
          <p:cNvPicPr>
            <a:picLocks noChangeAspect="1"/>
          </p:cNvPicPr>
          <p:nvPr/>
        </p:nvPicPr>
        <p:blipFill>
          <a:blip r:embed="rId7"/>
          <a:stretch>
            <a:fillRect/>
          </a:stretch>
        </p:blipFill>
        <p:spPr>
          <a:xfrm>
            <a:off x="2059940" y="2531734"/>
            <a:ext cx="6592570" cy="1114685"/>
          </a:xfrm>
          <a:prstGeom prst="rect">
            <a:avLst/>
          </a:prstGeom>
        </p:spPr>
      </p:pic>
      <p:sp>
        <p:nvSpPr>
          <p:cNvPr id="29" name="文本框 28">
            <a:extLst>
              <a:ext uri="{FF2B5EF4-FFF2-40B4-BE49-F238E27FC236}">
                <a16:creationId xmlns:a16="http://schemas.microsoft.com/office/drawing/2014/main" id="{B50CA0FD-148C-D227-3BCA-0E2DFA414C9C}"/>
              </a:ext>
            </a:extLst>
          </p:cNvPr>
          <p:cNvSpPr txBox="1"/>
          <p:nvPr/>
        </p:nvSpPr>
        <p:spPr>
          <a:xfrm>
            <a:off x="777240" y="3876430"/>
            <a:ext cx="1563370" cy="369332"/>
          </a:xfrm>
          <a:prstGeom prst="rect">
            <a:avLst/>
          </a:prstGeom>
          <a:noFill/>
        </p:spPr>
        <p:txBody>
          <a:bodyPr wrap="square" rtlCol="0">
            <a:spAutoFit/>
          </a:bodyPr>
          <a:lstStyle/>
          <a:p>
            <a:r>
              <a:rPr kumimoji="1" lang="zh-CN" altLang="en-US" dirty="0"/>
              <a:t>最后可得</a:t>
            </a:r>
          </a:p>
        </p:txBody>
      </p:sp>
      <p:pic>
        <p:nvPicPr>
          <p:cNvPr id="30" name="图片 29">
            <a:extLst>
              <a:ext uri="{FF2B5EF4-FFF2-40B4-BE49-F238E27FC236}">
                <a16:creationId xmlns:a16="http://schemas.microsoft.com/office/drawing/2014/main" id="{7FF3A081-7F14-019B-E4DE-D3363B3D7A47}"/>
              </a:ext>
            </a:extLst>
          </p:cNvPr>
          <p:cNvPicPr>
            <a:picLocks noChangeAspect="1"/>
          </p:cNvPicPr>
          <p:nvPr/>
        </p:nvPicPr>
        <p:blipFill>
          <a:blip r:embed="rId8"/>
          <a:stretch>
            <a:fillRect/>
          </a:stretch>
        </p:blipFill>
        <p:spPr>
          <a:xfrm>
            <a:off x="2138569" y="3709324"/>
            <a:ext cx="3297142" cy="694800"/>
          </a:xfrm>
          <a:prstGeom prst="rect">
            <a:avLst/>
          </a:prstGeom>
        </p:spPr>
      </p:pic>
      <p:sp>
        <p:nvSpPr>
          <p:cNvPr id="33" name="文本框 32">
            <a:extLst>
              <a:ext uri="{FF2B5EF4-FFF2-40B4-BE49-F238E27FC236}">
                <a16:creationId xmlns:a16="http://schemas.microsoft.com/office/drawing/2014/main" id="{23C8A643-4193-6A24-D1A4-CCE186859816}"/>
              </a:ext>
            </a:extLst>
          </p:cNvPr>
          <p:cNvSpPr txBox="1"/>
          <p:nvPr/>
        </p:nvSpPr>
        <p:spPr>
          <a:xfrm>
            <a:off x="777240" y="4564655"/>
            <a:ext cx="7040880" cy="646331"/>
          </a:xfrm>
          <a:prstGeom prst="rect">
            <a:avLst/>
          </a:prstGeom>
          <a:noFill/>
        </p:spPr>
        <p:txBody>
          <a:bodyPr wrap="square" rtlCol="0">
            <a:spAutoFit/>
          </a:bodyPr>
          <a:lstStyle/>
          <a:p>
            <a:r>
              <a:rPr kumimoji="1" lang="en-US" altLang="zh-CN" dirty="0"/>
              <a:t>32</a:t>
            </a:r>
            <a:r>
              <a:rPr kumimoji="1" lang="zh-CN" altLang="en-US" dirty="0"/>
              <a:t>个从核的计算结果如果想一直存在</a:t>
            </a:r>
            <a:r>
              <a:rPr kumimoji="1" lang="en-US" altLang="zh-CN" dirty="0"/>
              <a:t>ACE</a:t>
            </a:r>
            <a:r>
              <a:rPr kumimoji="1" lang="zh-CN" altLang="en-US" dirty="0"/>
              <a:t>的写缓冲区里面则需要满足</a:t>
            </a:r>
            <a:r>
              <a:rPr kumimoji="1" lang="en-US" altLang="zh-CN" dirty="0"/>
              <a:t>(</a:t>
            </a:r>
            <a:r>
              <a:rPr kumimoji="1" lang="zh-CN" altLang="en-US" dirty="0"/>
              <a:t>单个从核的</a:t>
            </a:r>
            <a:r>
              <a:rPr kumimoji="1" lang="en-US" altLang="zh-CN" dirty="0"/>
              <a:t>ACE</a:t>
            </a:r>
            <a:r>
              <a:rPr kumimoji="1" lang="zh-CN" altLang="en-US" dirty="0"/>
              <a:t>写缓冲区只能存</a:t>
            </a:r>
            <a:r>
              <a:rPr kumimoji="1" lang="en-US" altLang="zh-CN" dirty="0"/>
              <a:t>128</a:t>
            </a:r>
            <a:r>
              <a:rPr kumimoji="1" lang="zh-CN" altLang="en-US" dirty="0"/>
              <a:t>*</a:t>
            </a:r>
            <a:r>
              <a:rPr kumimoji="1" lang="en-US" altLang="zh-CN" dirty="0"/>
              <a:t>32</a:t>
            </a:r>
            <a:r>
              <a:rPr kumimoji="1" lang="zh-CN" altLang="en-US" dirty="0"/>
              <a:t>个数</a:t>
            </a:r>
            <a:r>
              <a:rPr kumimoji="1" lang="en-US" altLang="zh-CN" dirty="0"/>
              <a:t>):</a:t>
            </a:r>
            <a:endParaRPr kumimoji="1" lang="zh-CN" altLang="en-US" dirty="0"/>
          </a:p>
        </p:txBody>
      </p:sp>
      <p:pic>
        <p:nvPicPr>
          <p:cNvPr id="34" name="图片 33">
            <a:extLst>
              <a:ext uri="{FF2B5EF4-FFF2-40B4-BE49-F238E27FC236}">
                <a16:creationId xmlns:a16="http://schemas.microsoft.com/office/drawing/2014/main" id="{868457A1-1022-841A-1023-97E91A926D22}"/>
              </a:ext>
            </a:extLst>
          </p:cNvPr>
          <p:cNvPicPr>
            <a:picLocks noChangeAspect="1"/>
          </p:cNvPicPr>
          <p:nvPr/>
        </p:nvPicPr>
        <p:blipFill>
          <a:blip r:embed="rId9"/>
          <a:stretch>
            <a:fillRect/>
          </a:stretch>
        </p:blipFill>
        <p:spPr>
          <a:xfrm>
            <a:off x="5745480" y="4941245"/>
            <a:ext cx="1765300" cy="342900"/>
          </a:xfrm>
          <a:prstGeom prst="rect">
            <a:avLst/>
          </a:prstGeom>
        </p:spPr>
      </p:pic>
      <p:sp>
        <p:nvSpPr>
          <p:cNvPr id="39" name="文本框 38">
            <a:extLst>
              <a:ext uri="{FF2B5EF4-FFF2-40B4-BE49-F238E27FC236}">
                <a16:creationId xmlns:a16="http://schemas.microsoft.com/office/drawing/2014/main" id="{CEAFA962-21EE-EDE5-016E-CFA0C94EF6AA}"/>
              </a:ext>
            </a:extLst>
          </p:cNvPr>
          <p:cNvSpPr txBox="1"/>
          <p:nvPr/>
        </p:nvSpPr>
        <p:spPr>
          <a:xfrm>
            <a:off x="777240" y="5299339"/>
            <a:ext cx="10554335" cy="646331"/>
          </a:xfrm>
          <a:prstGeom prst="rect">
            <a:avLst/>
          </a:prstGeom>
          <a:noFill/>
        </p:spPr>
        <p:txBody>
          <a:bodyPr wrap="square" rtlCol="0">
            <a:spAutoFit/>
          </a:bodyPr>
          <a:lstStyle/>
          <a:p>
            <a:r>
              <a:rPr kumimoji="1" lang="zh-CN" altLang="en-US" dirty="0"/>
              <a:t>根据以上分析可以得出结论，受到</a:t>
            </a:r>
            <a:r>
              <a:rPr kumimoji="1" lang="en-US" altLang="zh-CN" dirty="0"/>
              <a:t>DMA</a:t>
            </a:r>
            <a:r>
              <a:rPr kumimoji="1" lang="zh-CN" altLang="en-US" dirty="0"/>
              <a:t>性能的约束</a:t>
            </a:r>
            <a:r>
              <a:rPr kumimoji="1" lang="en-US" altLang="zh-CN" dirty="0"/>
              <a:t>/ACE</a:t>
            </a:r>
            <a:r>
              <a:rPr kumimoji="1" lang="zh-CN" altLang="en-US" dirty="0"/>
              <a:t>写缓冲区过小的约束，其理论极限性能不超过</a:t>
            </a:r>
            <a:r>
              <a:rPr kumimoji="1" lang="en-US" altLang="zh-CN" dirty="0"/>
              <a:t>50TFLOPS</a:t>
            </a:r>
            <a:r>
              <a:rPr kumimoji="1" lang="zh-CN" altLang="en-US" dirty="0"/>
              <a:t>。</a:t>
            </a:r>
          </a:p>
        </p:txBody>
      </p:sp>
      <p:sp>
        <p:nvSpPr>
          <p:cNvPr id="40" name="文本框 39">
            <a:extLst>
              <a:ext uri="{FF2B5EF4-FFF2-40B4-BE49-F238E27FC236}">
                <a16:creationId xmlns:a16="http://schemas.microsoft.com/office/drawing/2014/main" id="{F0CE3C56-9BBF-2E54-F9E9-C62FC0039821}"/>
              </a:ext>
            </a:extLst>
          </p:cNvPr>
          <p:cNvSpPr txBox="1"/>
          <p:nvPr/>
        </p:nvSpPr>
        <p:spPr>
          <a:xfrm>
            <a:off x="777240" y="6018829"/>
            <a:ext cx="10554335" cy="646331"/>
          </a:xfrm>
          <a:prstGeom prst="rect">
            <a:avLst/>
          </a:prstGeom>
          <a:noFill/>
        </p:spPr>
        <p:txBody>
          <a:bodyPr wrap="square" rtlCol="0">
            <a:spAutoFit/>
          </a:bodyPr>
          <a:lstStyle/>
          <a:p>
            <a:r>
              <a:rPr kumimoji="1" lang="zh-CN" altLang="en-US" dirty="0"/>
              <a:t>解决思路</a:t>
            </a:r>
            <a:r>
              <a:rPr kumimoji="1" lang="en-US" altLang="zh-CN" dirty="0"/>
              <a:t>:</a:t>
            </a:r>
            <a:r>
              <a:rPr kumimoji="1" lang="zh-CN" altLang="en-US" dirty="0"/>
              <a:t>在</a:t>
            </a:r>
            <a:r>
              <a:rPr kumimoji="1" lang="en-US" altLang="zh-CN" dirty="0"/>
              <a:t>DMA</a:t>
            </a:r>
            <a:r>
              <a:rPr kumimoji="1" lang="zh-CN" altLang="en-US" dirty="0"/>
              <a:t>性能无法进一步提升的前提下，只能通过增大</a:t>
            </a:r>
            <a:r>
              <a:rPr kumimoji="1" lang="en-US" altLang="zh-CN" dirty="0"/>
              <a:t>M1</a:t>
            </a:r>
            <a:r>
              <a:rPr kumimoji="1" lang="zh-CN" altLang="en-US" dirty="0"/>
              <a:t>和</a:t>
            </a:r>
            <a:r>
              <a:rPr kumimoji="1" lang="en-US" altLang="zh-CN" dirty="0"/>
              <a:t>N1</a:t>
            </a:r>
            <a:r>
              <a:rPr kumimoji="1" lang="zh-CN" altLang="en-US" dirty="0"/>
              <a:t>的值提高计算访存比。因此无法将计算结果一直保存在</a:t>
            </a:r>
            <a:r>
              <a:rPr kumimoji="1" lang="en-US" altLang="zh-CN" dirty="0"/>
              <a:t>ACE</a:t>
            </a:r>
            <a:r>
              <a:rPr kumimoji="1" lang="zh-CN" altLang="en-US" dirty="0"/>
              <a:t>写缓冲区中，需要通过写出到</a:t>
            </a:r>
            <a:r>
              <a:rPr kumimoji="1" lang="en-US" altLang="zh-CN" dirty="0"/>
              <a:t>LDM/HBM</a:t>
            </a:r>
            <a:r>
              <a:rPr kumimoji="1" lang="zh-CN" altLang="en-US" dirty="0"/>
              <a:t>上的手段增大</a:t>
            </a:r>
            <a:r>
              <a:rPr kumimoji="1" lang="en-US" altLang="zh-CN" dirty="0"/>
              <a:t>M1</a:t>
            </a:r>
            <a:r>
              <a:rPr kumimoji="1" lang="zh-CN" altLang="en-US" dirty="0"/>
              <a:t>和</a:t>
            </a:r>
            <a:r>
              <a:rPr kumimoji="1" lang="en-US" altLang="zh-CN" dirty="0"/>
              <a:t>N1</a:t>
            </a:r>
            <a:r>
              <a:rPr kumimoji="1" lang="zh-CN" altLang="en-US" dirty="0"/>
              <a:t>的值</a:t>
            </a:r>
          </a:p>
        </p:txBody>
      </p:sp>
    </p:spTree>
    <p:extLst>
      <p:ext uri="{BB962C8B-B14F-4D97-AF65-F5344CB8AC3E}">
        <p14:creationId xmlns:p14="http://schemas.microsoft.com/office/powerpoint/2010/main" val="30198166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组合 34"/>
          <p:cNvGrpSpPr/>
          <p:nvPr/>
        </p:nvGrpSpPr>
        <p:grpSpPr>
          <a:xfrm>
            <a:off x="361950" y="6398036"/>
            <a:ext cx="11367943" cy="295144"/>
            <a:chOff x="371475" y="4964836"/>
            <a:chExt cx="11367943" cy="295144"/>
          </a:xfrm>
        </p:grpSpPr>
        <p:cxnSp>
          <p:nvCxnSpPr>
            <p:cNvPr id="36" name="直接连接符 35"/>
            <p:cNvCxnSpPr/>
            <p:nvPr/>
          </p:nvCxnSpPr>
          <p:spPr>
            <a:xfrm>
              <a:off x="371475" y="5125367"/>
              <a:ext cx="10521084" cy="0"/>
            </a:xfrm>
            <a:prstGeom prst="line">
              <a:avLst/>
            </a:prstGeom>
            <a:ln w="12700">
              <a:solidFill>
                <a:schemeClr val="bg1">
                  <a:lumMod val="85000"/>
                </a:schemeClr>
              </a:solidFill>
            </a:ln>
          </p:spPr>
          <p:style>
            <a:lnRef idx="1">
              <a:schemeClr val="accent2"/>
            </a:lnRef>
            <a:fillRef idx="0">
              <a:schemeClr val="accent2"/>
            </a:fillRef>
            <a:effectRef idx="0">
              <a:schemeClr val="accent2"/>
            </a:effectRef>
            <a:fontRef idx="minor">
              <a:schemeClr val="tx1"/>
            </a:fontRef>
          </p:style>
        </p:cxnSp>
        <p:cxnSp>
          <p:nvCxnSpPr>
            <p:cNvPr id="37" name="直接连接符 36"/>
            <p:cNvCxnSpPr/>
            <p:nvPr/>
          </p:nvCxnSpPr>
          <p:spPr>
            <a:xfrm>
              <a:off x="11341100" y="5125367"/>
              <a:ext cx="398318" cy="0"/>
            </a:xfrm>
            <a:prstGeom prst="line">
              <a:avLst/>
            </a:prstGeom>
            <a:ln w="12700">
              <a:solidFill>
                <a:schemeClr val="bg1">
                  <a:lumMod val="85000"/>
                </a:schemeClr>
              </a:solidFill>
            </a:ln>
          </p:spPr>
          <p:style>
            <a:lnRef idx="1">
              <a:schemeClr val="accent2"/>
            </a:lnRef>
            <a:fillRef idx="0">
              <a:schemeClr val="accent2"/>
            </a:fillRef>
            <a:effectRef idx="0">
              <a:schemeClr val="accent2"/>
            </a:effectRef>
            <a:fontRef idx="minor">
              <a:schemeClr val="tx1"/>
            </a:fontRef>
          </p:style>
        </p:cxnSp>
        <p:sp>
          <p:nvSpPr>
            <p:cNvPr id="38" name="文本框 37"/>
            <p:cNvSpPr txBox="1"/>
            <p:nvPr/>
          </p:nvSpPr>
          <p:spPr>
            <a:xfrm>
              <a:off x="10886209" y="4964836"/>
              <a:ext cx="454891" cy="295144"/>
            </a:xfrm>
            <a:prstGeom prst="rect">
              <a:avLst/>
            </a:prstGeom>
            <a:noFill/>
          </p:spPr>
          <p:txBody>
            <a:bodyPr wrap="square" rtlCol="0">
              <a:spAutoFit/>
            </a:bodyPr>
            <a:lstStyle/>
            <a:p>
              <a:pPr algn="ctr">
                <a:lnSpc>
                  <a:spcPct val="120000"/>
                </a:lnSpc>
              </a:pP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01</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grpSp>
        <p:nvGrpSpPr>
          <p:cNvPr id="4" name="组合 3"/>
          <p:cNvGrpSpPr/>
          <p:nvPr/>
        </p:nvGrpSpPr>
        <p:grpSpPr>
          <a:xfrm>
            <a:off x="149156" y="369901"/>
            <a:ext cx="7481981" cy="541920"/>
            <a:chOff x="0" y="338431"/>
            <a:chExt cx="7481981" cy="541920"/>
          </a:xfrm>
        </p:grpSpPr>
        <p:sp>
          <p:nvSpPr>
            <p:cNvPr id="5" name="矩形 4"/>
            <p:cNvSpPr/>
            <p:nvPr/>
          </p:nvSpPr>
          <p:spPr>
            <a:xfrm>
              <a:off x="0" y="348602"/>
              <a:ext cx="101600" cy="531749"/>
            </a:xfrm>
            <a:prstGeom prst="rect">
              <a:avLst/>
            </a:prstGeom>
            <a:solidFill>
              <a:srgbClr val="E26C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p:cNvSpPr txBox="1"/>
            <p:nvPr/>
          </p:nvSpPr>
          <p:spPr>
            <a:xfrm>
              <a:off x="235003" y="338431"/>
              <a:ext cx="7246978" cy="531749"/>
            </a:xfrm>
            <a:prstGeom prst="rect">
              <a:avLst/>
            </a:prstGeom>
            <a:noFill/>
          </p:spPr>
          <p:txBody>
            <a:bodyPr wrap="square" rtlCol="0">
              <a:spAutoFit/>
            </a:bodyPr>
            <a:lstStyle/>
            <a:p>
              <a:pPr>
                <a:lnSpc>
                  <a:spcPct val="120000"/>
                </a:lnSpc>
              </a:pPr>
              <a:r>
                <a:rPr lang="en-US" altLang="zh-CN" sz="2600" b="1" dirty="0">
                  <a:solidFill>
                    <a:srgbClr val="E26C0D"/>
                  </a:solidFill>
                  <a:latin typeface="微软雅黑" panose="020B0503020204020204" pitchFamily="34" charset="-122"/>
                  <a:ea typeface="微软雅黑" panose="020B0503020204020204" pitchFamily="34" charset="-122"/>
                </a:rPr>
                <a:t>RMA</a:t>
              </a:r>
              <a:r>
                <a:rPr lang="zh-CN" altLang="en-US" sz="2600" b="1" dirty="0">
                  <a:solidFill>
                    <a:srgbClr val="E26C0D"/>
                  </a:solidFill>
                  <a:latin typeface="微软雅黑" panose="020B0503020204020204" pitchFamily="34" charset="-122"/>
                  <a:ea typeface="微软雅黑" panose="020B0503020204020204" pitchFamily="34" charset="-122"/>
                </a:rPr>
                <a:t>瓶颈分析</a:t>
              </a:r>
              <a:endParaRPr lang="en-US" altLang="zh-CN" sz="2600" b="1" dirty="0">
                <a:solidFill>
                  <a:srgbClr val="E26C0D"/>
                </a:solidFill>
                <a:latin typeface="微软雅黑" panose="020B0503020204020204" pitchFamily="34" charset="-122"/>
                <a:ea typeface="微软雅黑" panose="020B0503020204020204" pitchFamily="34" charset="-122"/>
              </a:endParaRPr>
            </a:p>
          </p:txBody>
        </p:sp>
      </p:grpSp>
      <p:sp>
        <p:nvSpPr>
          <p:cNvPr id="9" name="矩形 8">
            <a:extLst>
              <a:ext uri="{FF2B5EF4-FFF2-40B4-BE49-F238E27FC236}">
                <a16:creationId xmlns:a16="http://schemas.microsoft.com/office/drawing/2014/main" id="{FE5AF328-42C6-1AA4-0479-76E87C66E052}"/>
              </a:ext>
            </a:extLst>
          </p:cNvPr>
          <p:cNvSpPr/>
          <p:nvPr/>
        </p:nvSpPr>
        <p:spPr>
          <a:xfrm>
            <a:off x="8742211" y="1523905"/>
            <a:ext cx="1662545" cy="1452244"/>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ACE</a:t>
            </a:r>
            <a:endParaRPr kumimoji="1" lang="zh-CN" altLang="en-US" dirty="0">
              <a:solidFill>
                <a:schemeClr val="tx1"/>
              </a:solidFill>
            </a:endParaRPr>
          </a:p>
        </p:txBody>
      </p:sp>
      <p:cxnSp>
        <p:nvCxnSpPr>
          <p:cNvPr id="11" name="直线箭头连接符 10">
            <a:extLst>
              <a:ext uri="{FF2B5EF4-FFF2-40B4-BE49-F238E27FC236}">
                <a16:creationId xmlns:a16="http://schemas.microsoft.com/office/drawing/2014/main" id="{898AC5C6-D86C-15A1-D0C7-7AD2B8DF1FFF}"/>
              </a:ext>
            </a:extLst>
          </p:cNvPr>
          <p:cNvCxnSpPr>
            <a:cxnSpLocks/>
            <a:endCxn id="9" idx="1"/>
          </p:cNvCxnSpPr>
          <p:nvPr/>
        </p:nvCxnSpPr>
        <p:spPr>
          <a:xfrm>
            <a:off x="7862736" y="2250027"/>
            <a:ext cx="8794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直线箭头连接符 12">
            <a:extLst>
              <a:ext uri="{FF2B5EF4-FFF2-40B4-BE49-F238E27FC236}">
                <a16:creationId xmlns:a16="http://schemas.microsoft.com/office/drawing/2014/main" id="{018754A5-C11D-12EF-0854-40BC3B16E22D}"/>
              </a:ext>
            </a:extLst>
          </p:cNvPr>
          <p:cNvCxnSpPr>
            <a:endCxn id="9" idx="0"/>
          </p:cNvCxnSpPr>
          <p:nvPr/>
        </p:nvCxnSpPr>
        <p:spPr>
          <a:xfrm>
            <a:off x="9573483" y="911821"/>
            <a:ext cx="1" cy="6120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肘形连接符 18">
            <a:extLst>
              <a:ext uri="{FF2B5EF4-FFF2-40B4-BE49-F238E27FC236}">
                <a16:creationId xmlns:a16="http://schemas.microsoft.com/office/drawing/2014/main" id="{E7FDFE07-8828-A19A-2A22-E09C7255E3DF}"/>
              </a:ext>
            </a:extLst>
          </p:cNvPr>
          <p:cNvCxnSpPr>
            <a:stCxn id="9" idx="3"/>
          </p:cNvCxnSpPr>
          <p:nvPr/>
        </p:nvCxnSpPr>
        <p:spPr>
          <a:xfrm>
            <a:off x="10404756" y="2250027"/>
            <a:ext cx="387927" cy="150936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2E4AA64A-04CF-D5C3-4D18-9B57F6482E2F}"/>
              </a:ext>
            </a:extLst>
          </p:cNvPr>
          <p:cNvSpPr txBox="1"/>
          <p:nvPr/>
        </p:nvSpPr>
        <p:spPr>
          <a:xfrm>
            <a:off x="149156" y="1188198"/>
            <a:ext cx="7127970" cy="1400383"/>
          </a:xfrm>
          <a:prstGeom prst="rect">
            <a:avLst/>
          </a:prstGeom>
          <a:noFill/>
        </p:spPr>
        <p:txBody>
          <a:bodyPr wrap="square" rtlCol="0">
            <a:spAutoFit/>
          </a:bodyPr>
          <a:lstStyle/>
          <a:p>
            <a:pPr marL="285750" indent="-285750">
              <a:buFont typeface="Arial" panose="020B0604020202020204" pitchFamily="34" charset="0"/>
              <a:buChar char="•"/>
            </a:pPr>
            <a:r>
              <a:rPr kumimoji="1" lang="en-US" altLang="zh-CN" sz="1700" b="1" dirty="0">
                <a:solidFill>
                  <a:srgbClr val="FF0000"/>
                </a:solidFill>
              </a:rPr>
              <a:t>ACE</a:t>
            </a:r>
            <a:r>
              <a:rPr kumimoji="1" lang="zh-CN" altLang="en-US" sz="1700" dirty="0"/>
              <a:t>工作在半频</a:t>
            </a:r>
            <a:r>
              <a:rPr kumimoji="1" lang="en-US" altLang="zh-CN" sz="1700" dirty="0"/>
              <a:t>1.25Ghz</a:t>
            </a:r>
            <a:r>
              <a:rPr kumimoji="1" lang="zh-CN" altLang="en-US" sz="1700" dirty="0"/>
              <a:t>下，两拍数据流动一次，产生一行新的结果。</a:t>
            </a:r>
            <a:endParaRPr kumimoji="1" lang="en-US" altLang="zh-CN" sz="1700" dirty="0"/>
          </a:p>
          <a:p>
            <a:pPr marL="742950" lvl="1" indent="-285750">
              <a:buFont typeface="Arial" panose="020B0604020202020204" pitchFamily="34" charset="0"/>
              <a:buChar char="•"/>
            </a:pPr>
            <a:r>
              <a:rPr kumimoji="1" lang="zh-CN" altLang="en-US" sz="1700" b="1" dirty="0"/>
              <a:t>西向带宽需求</a:t>
            </a:r>
            <a:r>
              <a:rPr kumimoji="1" lang="zh-CN" altLang="en-US" sz="1700" dirty="0"/>
              <a:t>：西向需要消耗</a:t>
            </a:r>
            <a:r>
              <a:rPr kumimoji="1" lang="en-US" altLang="zh-CN" sz="1700" dirty="0"/>
              <a:t>64B</a:t>
            </a:r>
            <a:r>
              <a:rPr kumimoji="1" lang="zh-CN" altLang="en-US" sz="1700" dirty="0"/>
              <a:t> * </a:t>
            </a:r>
            <a:r>
              <a:rPr kumimoji="1" lang="en-US" altLang="zh-CN" sz="1700" dirty="0"/>
              <a:t>(2.5</a:t>
            </a:r>
            <a:r>
              <a:rPr kumimoji="1" lang="zh-CN" altLang="en-US" sz="1700" dirty="0"/>
              <a:t> </a:t>
            </a:r>
            <a:r>
              <a:rPr kumimoji="1" lang="en-US" altLang="zh-CN" sz="1700" dirty="0"/>
              <a:t>/</a:t>
            </a:r>
            <a:r>
              <a:rPr kumimoji="1" lang="zh-CN" altLang="en-US" sz="1700" dirty="0"/>
              <a:t> </a:t>
            </a:r>
            <a:r>
              <a:rPr kumimoji="1" lang="en-US" altLang="zh-CN" sz="1700" dirty="0"/>
              <a:t>2)</a:t>
            </a:r>
            <a:r>
              <a:rPr kumimoji="1" lang="zh-CN" altLang="en-US" sz="1700" dirty="0"/>
              <a:t> </a:t>
            </a:r>
            <a:r>
              <a:rPr kumimoji="1" lang="en-US" altLang="zh-CN" sz="1700" dirty="0" err="1"/>
              <a:t>Ghz</a:t>
            </a:r>
            <a:r>
              <a:rPr kumimoji="1" lang="zh-CN" altLang="en-US" sz="1700" dirty="0"/>
              <a:t> </a:t>
            </a:r>
            <a:r>
              <a:rPr kumimoji="1" lang="en-US" altLang="zh-CN" sz="1700" dirty="0"/>
              <a:t>=</a:t>
            </a:r>
            <a:r>
              <a:rPr kumimoji="1" lang="zh-CN" altLang="en-US" sz="1700" dirty="0"/>
              <a:t> </a:t>
            </a:r>
            <a:r>
              <a:rPr kumimoji="1" lang="en-US" altLang="zh-CN" sz="1700" dirty="0"/>
              <a:t>80GB/s</a:t>
            </a:r>
            <a:r>
              <a:rPr kumimoji="1" lang="zh-CN" altLang="en-US" sz="1700" dirty="0"/>
              <a:t>。</a:t>
            </a:r>
            <a:endParaRPr kumimoji="1" lang="en-US" altLang="zh-CN" sz="1700" dirty="0"/>
          </a:p>
          <a:p>
            <a:pPr marL="742950" lvl="1" indent="-285750">
              <a:buFont typeface="Arial" panose="020B0604020202020204" pitchFamily="34" charset="0"/>
              <a:buChar char="•"/>
            </a:pPr>
            <a:r>
              <a:rPr kumimoji="1" lang="zh-CN" altLang="en-US" sz="1700" b="1" dirty="0"/>
              <a:t>北向带宽需求</a:t>
            </a:r>
            <a:r>
              <a:rPr kumimoji="1" lang="zh-CN" altLang="en-US" sz="1700" dirty="0"/>
              <a:t>：加载北向数据大约</a:t>
            </a:r>
            <a:r>
              <a:rPr kumimoji="1" lang="en-US" altLang="zh-CN" sz="1700" dirty="0"/>
              <a:t>100</a:t>
            </a:r>
            <a:r>
              <a:rPr kumimoji="1" lang="zh-CN" altLang="en-US" sz="1700" dirty="0"/>
              <a:t>拍，在西向</a:t>
            </a:r>
            <a:r>
              <a:rPr kumimoji="1" lang="en-US" altLang="zh-CN" sz="1700" dirty="0"/>
              <a:t>m=128</a:t>
            </a:r>
            <a:r>
              <a:rPr kumimoji="1" lang="zh-CN" altLang="en-US" sz="1700" dirty="0"/>
              <a:t>时等效需要消耗</a:t>
            </a:r>
            <a:r>
              <a:rPr kumimoji="1" lang="en-US" altLang="zh-CN" sz="1700" dirty="0"/>
              <a:t>20GB/s</a:t>
            </a:r>
            <a:r>
              <a:rPr kumimoji="1" lang="zh-CN" altLang="en-US" sz="1700" dirty="0"/>
              <a:t>，</a:t>
            </a:r>
            <a:r>
              <a:rPr kumimoji="1" lang="en-US" altLang="zh-CN" sz="1700" dirty="0"/>
              <a:t>m=96</a:t>
            </a:r>
            <a:r>
              <a:rPr kumimoji="1" lang="zh-CN" altLang="en-US" sz="1700" dirty="0"/>
              <a:t>时需要消耗</a:t>
            </a:r>
            <a:r>
              <a:rPr kumimoji="1" lang="en-US" altLang="zh-CN" sz="1700" dirty="0"/>
              <a:t>27GB/s</a:t>
            </a:r>
            <a:r>
              <a:rPr kumimoji="1" lang="zh-CN" altLang="en-US" sz="1700" dirty="0"/>
              <a:t>。</a:t>
            </a:r>
            <a:endParaRPr kumimoji="1" lang="en-US" altLang="zh-CN" sz="1700" dirty="0"/>
          </a:p>
          <a:p>
            <a:pPr lvl="1"/>
            <a:endParaRPr kumimoji="1" lang="en-US" altLang="zh-CN" sz="1700" dirty="0"/>
          </a:p>
        </p:txBody>
      </p:sp>
      <p:sp>
        <p:nvSpPr>
          <p:cNvPr id="55" name="文本框 54">
            <a:extLst>
              <a:ext uri="{FF2B5EF4-FFF2-40B4-BE49-F238E27FC236}">
                <a16:creationId xmlns:a16="http://schemas.microsoft.com/office/drawing/2014/main" id="{8C1F29FC-5095-C7D2-3F36-AE60C6296C15}"/>
              </a:ext>
            </a:extLst>
          </p:cNvPr>
          <p:cNvSpPr txBox="1"/>
          <p:nvPr/>
        </p:nvSpPr>
        <p:spPr>
          <a:xfrm>
            <a:off x="7331758" y="2250027"/>
            <a:ext cx="1338462" cy="338554"/>
          </a:xfrm>
          <a:prstGeom prst="rect">
            <a:avLst/>
          </a:prstGeom>
          <a:noFill/>
        </p:spPr>
        <p:txBody>
          <a:bodyPr wrap="square" rtlCol="0">
            <a:spAutoFit/>
          </a:bodyPr>
          <a:lstStyle/>
          <a:p>
            <a:r>
              <a:rPr kumimoji="1" lang="en-US" altLang="zh-CN" sz="1600" dirty="0"/>
              <a:t>80</a:t>
            </a:r>
            <a:r>
              <a:rPr kumimoji="1" lang="zh-CN" altLang="en-US" sz="1600" dirty="0"/>
              <a:t> </a:t>
            </a:r>
            <a:r>
              <a:rPr kumimoji="1" lang="en-US" altLang="zh-CN" sz="1600" dirty="0"/>
              <a:t>GB/s</a:t>
            </a:r>
            <a:endParaRPr kumimoji="1" lang="zh-CN" altLang="en-US" sz="1600" dirty="0"/>
          </a:p>
        </p:txBody>
      </p:sp>
      <p:sp>
        <p:nvSpPr>
          <p:cNvPr id="57" name="文本框 56">
            <a:extLst>
              <a:ext uri="{FF2B5EF4-FFF2-40B4-BE49-F238E27FC236}">
                <a16:creationId xmlns:a16="http://schemas.microsoft.com/office/drawing/2014/main" id="{18385538-E793-50F8-2E56-262D8D76EAF5}"/>
              </a:ext>
            </a:extLst>
          </p:cNvPr>
          <p:cNvSpPr txBox="1"/>
          <p:nvPr/>
        </p:nvSpPr>
        <p:spPr>
          <a:xfrm>
            <a:off x="8689797" y="618211"/>
            <a:ext cx="1552917" cy="338554"/>
          </a:xfrm>
          <a:prstGeom prst="rect">
            <a:avLst/>
          </a:prstGeom>
          <a:noFill/>
        </p:spPr>
        <p:txBody>
          <a:bodyPr wrap="square" rtlCol="0">
            <a:spAutoFit/>
          </a:bodyPr>
          <a:lstStyle/>
          <a:p>
            <a:r>
              <a:rPr kumimoji="1" lang="en-US" altLang="zh-CN" sz="1600" dirty="0"/>
              <a:t>20</a:t>
            </a:r>
            <a:r>
              <a:rPr kumimoji="1" lang="zh-CN" altLang="en-US" sz="1600" dirty="0"/>
              <a:t> </a:t>
            </a:r>
            <a:r>
              <a:rPr kumimoji="1" lang="en-US" altLang="zh-CN" sz="1600" dirty="0"/>
              <a:t>or</a:t>
            </a:r>
            <a:r>
              <a:rPr kumimoji="1" lang="zh-CN" altLang="en-US" sz="1600" dirty="0"/>
              <a:t> </a:t>
            </a:r>
            <a:r>
              <a:rPr kumimoji="1" lang="en-US" altLang="zh-CN" sz="1600" dirty="0"/>
              <a:t>27</a:t>
            </a:r>
            <a:r>
              <a:rPr kumimoji="1" lang="zh-CN" altLang="en-US" sz="1600" dirty="0"/>
              <a:t> </a:t>
            </a:r>
            <a:r>
              <a:rPr kumimoji="1" lang="en-US" altLang="zh-CN" sz="1600" dirty="0"/>
              <a:t>GB/s</a:t>
            </a:r>
            <a:endParaRPr kumimoji="1" lang="zh-CN" altLang="en-US" sz="1600" dirty="0"/>
          </a:p>
        </p:txBody>
      </p:sp>
      <p:sp>
        <p:nvSpPr>
          <p:cNvPr id="58" name="文本框 57">
            <a:extLst>
              <a:ext uri="{FF2B5EF4-FFF2-40B4-BE49-F238E27FC236}">
                <a16:creationId xmlns:a16="http://schemas.microsoft.com/office/drawing/2014/main" id="{6A50E9BA-A3D1-43F0-39D2-958F219AF56F}"/>
              </a:ext>
            </a:extLst>
          </p:cNvPr>
          <p:cNvSpPr txBox="1"/>
          <p:nvPr/>
        </p:nvSpPr>
        <p:spPr>
          <a:xfrm>
            <a:off x="10792683" y="2806872"/>
            <a:ext cx="1552917" cy="338554"/>
          </a:xfrm>
          <a:prstGeom prst="rect">
            <a:avLst/>
          </a:prstGeom>
          <a:noFill/>
        </p:spPr>
        <p:txBody>
          <a:bodyPr wrap="square" rtlCol="0">
            <a:spAutoFit/>
          </a:bodyPr>
          <a:lstStyle/>
          <a:p>
            <a:r>
              <a:rPr kumimoji="1" lang="en-US" altLang="zh-CN" sz="1600" dirty="0"/>
              <a:t>15</a:t>
            </a:r>
            <a:r>
              <a:rPr kumimoji="1" lang="zh-CN" altLang="en-US" sz="1600" dirty="0"/>
              <a:t> </a:t>
            </a:r>
            <a:r>
              <a:rPr kumimoji="1" lang="en-US" altLang="zh-CN" sz="1600" dirty="0"/>
              <a:t>or</a:t>
            </a:r>
            <a:r>
              <a:rPr kumimoji="1" lang="zh-CN" altLang="en-US" sz="1600" dirty="0"/>
              <a:t> </a:t>
            </a:r>
            <a:r>
              <a:rPr kumimoji="1" lang="en-US" altLang="zh-CN" sz="1600" dirty="0"/>
              <a:t>27</a:t>
            </a:r>
            <a:r>
              <a:rPr kumimoji="1" lang="zh-CN" altLang="en-US" sz="1600" dirty="0"/>
              <a:t> </a:t>
            </a:r>
            <a:r>
              <a:rPr kumimoji="1" lang="en-US" altLang="zh-CN" sz="1600" dirty="0"/>
              <a:t>GB/s</a:t>
            </a:r>
            <a:endParaRPr kumimoji="1" lang="zh-CN" altLang="en-US" sz="1600" dirty="0"/>
          </a:p>
        </p:txBody>
      </p:sp>
      <p:sp>
        <p:nvSpPr>
          <p:cNvPr id="10" name="文本框 9">
            <a:extLst>
              <a:ext uri="{FF2B5EF4-FFF2-40B4-BE49-F238E27FC236}">
                <a16:creationId xmlns:a16="http://schemas.microsoft.com/office/drawing/2014/main" id="{63201484-37EE-C555-F59C-5BA73EBE3043}"/>
              </a:ext>
            </a:extLst>
          </p:cNvPr>
          <p:cNvSpPr txBox="1"/>
          <p:nvPr/>
        </p:nvSpPr>
        <p:spPr>
          <a:xfrm>
            <a:off x="203788" y="2696138"/>
            <a:ext cx="7127970" cy="1138773"/>
          </a:xfrm>
          <a:prstGeom prst="rect">
            <a:avLst/>
          </a:prstGeom>
          <a:noFill/>
        </p:spPr>
        <p:txBody>
          <a:bodyPr wrap="square" rtlCol="0">
            <a:spAutoFit/>
          </a:bodyPr>
          <a:lstStyle/>
          <a:p>
            <a:pPr lvl="1"/>
            <a:r>
              <a:rPr kumimoji="1" lang="zh-CN" altLang="en-US" sz="1700" dirty="0"/>
              <a:t>根据</a:t>
            </a:r>
            <a:r>
              <a:rPr kumimoji="1" lang="en-US" altLang="zh-CN" sz="1700" dirty="0"/>
              <a:t>SUMMA</a:t>
            </a:r>
            <a:r>
              <a:rPr kumimoji="1" lang="zh-CN" altLang="en-US" sz="1700" dirty="0"/>
              <a:t>算法的特点，如果北向数据和西向数据均来源于核间通信</a:t>
            </a:r>
            <a:r>
              <a:rPr kumimoji="1" lang="en-US" altLang="zh-CN" sz="1700" dirty="0"/>
              <a:t>(RMA)</a:t>
            </a:r>
            <a:r>
              <a:rPr kumimoji="1" lang="zh-CN" altLang="en-US" sz="1700" dirty="0"/>
              <a:t>，而整个</a:t>
            </a:r>
            <a:r>
              <a:rPr kumimoji="1" lang="en-US" altLang="zh-CN" sz="1700" dirty="0"/>
              <a:t>ACE</a:t>
            </a:r>
            <a:r>
              <a:rPr kumimoji="1" lang="zh-CN" altLang="en-US" sz="1700" dirty="0"/>
              <a:t>模块的北向和西向数据一共需要约</a:t>
            </a:r>
            <a:r>
              <a:rPr kumimoji="1" lang="en-US" altLang="zh-CN" sz="1700" dirty="0"/>
              <a:t>100GB/s</a:t>
            </a:r>
            <a:r>
              <a:rPr kumimoji="1" lang="zh-CN" altLang="en-US" sz="1700" dirty="0"/>
              <a:t>的带宽，因此</a:t>
            </a:r>
            <a:r>
              <a:rPr kumimoji="1" lang="en-US" altLang="zh-CN" sz="1700" dirty="0"/>
              <a:t>RMA</a:t>
            </a:r>
            <a:r>
              <a:rPr kumimoji="1" lang="zh-CN" altLang="en-US" sz="1700" dirty="0"/>
              <a:t>的</a:t>
            </a:r>
            <a:r>
              <a:rPr kumimoji="1" lang="en-US" altLang="zh-CN" sz="1700" dirty="0"/>
              <a:t>64GB/s</a:t>
            </a:r>
            <a:r>
              <a:rPr kumimoji="1" lang="zh-CN" altLang="en-US" sz="1700" dirty="0"/>
              <a:t>的带宽无法满足</a:t>
            </a:r>
            <a:r>
              <a:rPr kumimoji="1" lang="en-US" altLang="zh-CN" sz="1700" dirty="0"/>
              <a:t>ACE</a:t>
            </a:r>
            <a:r>
              <a:rPr kumimoji="1" lang="zh-CN" altLang="en-US" sz="1700" dirty="0"/>
              <a:t>的带宽需求，甚至无法单独满足西向数据的带宽需求。</a:t>
            </a:r>
            <a:endParaRPr kumimoji="1" lang="en-US" altLang="zh-CN" sz="1700" dirty="0"/>
          </a:p>
        </p:txBody>
      </p:sp>
      <p:sp>
        <p:nvSpPr>
          <p:cNvPr id="14" name="文本框 13">
            <a:extLst>
              <a:ext uri="{FF2B5EF4-FFF2-40B4-BE49-F238E27FC236}">
                <a16:creationId xmlns:a16="http://schemas.microsoft.com/office/drawing/2014/main" id="{F643051E-ED99-1A39-C617-9D6409D5C3EF}"/>
              </a:ext>
            </a:extLst>
          </p:cNvPr>
          <p:cNvSpPr txBox="1"/>
          <p:nvPr/>
        </p:nvSpPr>
        <p:spPr>
          <a:xfrm>
            <a:off x="149156" y="4151805"/>
            <a:ext cx="7127970" cy="615553"/>
          </a:xfrm>
          <a:prstGeom prst="rect">
            <a:avLst/>
          </a:prstGeom>
          <a:noFill/>
        </p:spPr>
        <p:txBody>
          <a:bodyPr wrap="square" rtlCol="0">
            <a:spAutoFit/>
          </a:bodyPr>
          <a:lstStyle/>
          <a:p>
            <a:pPr lvl="1"/>
            <a:r>
              <a:rPr kumimoji="1" lang="zh-CN" altLang="en-US" sz="1700" dirty="0"/>
              <a:t>解决思路</a:t>
            </a:r>
            <a:r>
              <a:rPr kumimoji="1" lang="en-US" altLang="zh-CN" sz="1700" dirty="0"/>
              <a:t>:</a:t>
            </a:r>
            <a:r>
              <a:rPr kumimoji="1" lang="zh-CN" altLang="en-US" sz="1700" dirty="0"/>
              <a:t>固定西向数据，使得单个从核所需要的西向数据均来源于本地的</a:t>
            </a:r>
            <a:r>
              <a:rPr kumimoji="1" lang="en-US" altLang="zh-CN" sz="1700" dirty="0"/>
              <a:t>LDM</a:t>
            </a:r>
            <a:r>
              <a:rPr kumimoji="1" lang="zh-CN" altLang="en-US" sz="1700" dirty="0"/>
              <a:t>。</a:t>
            </a:r>
            <a:endParaRPr kumimoji="1" lang="en-US" altLang="zh-CN" sz="1700" dirty="0"/>
          </a:p>
        </p:txBody>
      </p:sp>
      <p:pic>
        <p:nvPicPr>
          <p:cNvPr id="15" name="图片 14">
            <a:extLst>
              <a:ext uri="{FF2B5EF4-FFF2-40B4-BE49-F238E27FC236}">
                <a16:creationId xmlns:a16="http://schemas.microsoft.com/office/drawing/2014/main" id="{4C54E8D8-BE5A-04FA-0585-06A93F3A526E}"/>
              </a:ext>
            </a:extLst>
          </p:cNvPr>
          <p:cNvPicPr>
            <a:picLocks noChangeAspect="1"/>
          </p:cNvPicPr>
          <p:nvPr/>
        </p:nvPicPr>
        <p:blipFill>
          <a:blip r:embed="rId3"/>
          <a:stretch>
            <a:fillRect/>
          </a:stretch>
        </p:blipFill>
        <p:spPr>
          <a:xfrm>
            <a:off x="7538572" y="3734444"/>
            <a:ext cx="4291478" cy="2892189"/>
          </a:xfrm>
          <a:prstGeom prst="rect">
            <a:avLst/>
          </a:prstGeom>
        </p:spPr>
      </p:pic>
    </p:spTree>
    <p:extLst>
      <p:ext uri="{BB962C8B-B14F-4D97-AF65-F5344CB8AC3E}">
        <p14:creationId xmlns:p14="http://schemas.microsoft.com/office/powerpoint/2010/main" val="3285622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295275" y="422752"/>
            <a:ext cx="10515600" cy="515184"/>
          </a:xfrm>
        </p:spPr>
        <p:txBody>
          <a:bodyPr/>
          <a:lstStyle/>
          <a:p>
            <a:r>
              <a:rPr lang="zh-CN" altLang="en-US" dirty="0"/>
              <a:t>整体思路梳理</a:t>
            </a:r>
          </a:p>
        </p:txBody>
      </p:sp>
      <p:sp>
        <p:nvSpPr>
          <p:cNvPr id="6" name="文本框 5">
            <a:extLst>
              <a:ext uri="{FF2B5EF4-FFF2-40B4-BE49-F238E27FC236}">
                <a16:creationId xmlns:a16="http://schemas.microsoft.com/office/drawing/2014/main" id="{AC5714DC-5547-0629-D033-F64134DCE8DA}"/>
              </a:ext>
            </a:extLst>
          </p:cNvPr>
          <p:cNvSpPr txBox="1"/>
          <p:nvPr/>
        </p:nvSpPr>
        <p:spPr>
          <a:xfrm>
            <a:off x="411480" y="1120140"/>
            <a:ext cx="7635240" cy="2585323"/>
          </a:xfrm>
          <a:prstGeom prst="rect">
            <a:avLst/>
          </a:prstGeom>
          <a:noFill/>
        </p:spPr>
        <p:txBody>
          <a:bodyPr wrap="square" rtlCol="0">
            <a:spAutoFit/>
          </a:bodyPr>
          <a:lstStyle/>
          <a:p>
            <a:pPr marL="342900" indent="-342900">
              <a:buAutoNum type="arabicPeriod"/>
            </a:pPr>
            <a:r>
              <a:rPr kumimoji="1" lang="zh-CN" altLang="en-US" dirty="0"/>
              <a:t>固定</a:t>
            </a:r>
            <a:r>
              <a:rPr kumimoji="1" lang="en-US" altLang="zh-CN" dirty="0" err="1"/>
              <a:t>MatC</a:t>
            </a:r>
            <a:r>
              <a:rPr kumimoji="1" lang="zh-CN" altLang="en-US" dirty="0"/>
              <a:t>矩阵，用从核的</a:t>
            </a:r>
            <a:r>
              <a:rPr kumimoji="1" lang="en-US" altLang="zh-CN" dirty="0"/>
              <a:t>LDM</a:t>
            </a:r>
            <a:r>
              <a:rPr kumimoji="1" lang="zh-CN" altLang="en-US" dirty="0"/>
              <a:t>空间去扩充</a:t>
            </a:r>
            <a:r>
              <a:rPr kumimoji="1" lang="en-US" altLang="zh-CN" dirty="0"/>
              <a:t>ACE</a:t>
            </a:r>
            <a:r>
              <a:rPr kumimoji="1" lang="zh-CN" altLang="en-US" dirty="0"/>
              <a:t>缓冲区。使得</a:t>
            </a:r>
            <a:r>
              <a:rPr kumimoji="1" lang="en-US" altLang="zh-CN" dirty="0"/>
              <a:t>M1</a:t>
            </a:r>
            <a:r>
              <a:rPr kumimoji="1" lang="zh-CN" altLang="en-US" dirty="0"/>
              <a:t>和</a:t>
            </a:r>
            <a:r>
              <a:rPr kumimoji="1" lang="en-US" altLang="zh-CN" dirty="0"/>
              <a:t>N1</a:t>
            </a:r>
            <a:r>
              <a:rPr kumimoji="1" lang="zh-CN" altLang="en-US" dirty="0"/>
              <a:t>的大小不再受限于</a:t>
            </a:r>
            <a:r>
              <a:rPr kumimoji="1" lang="en-US" altLang="zh-CN" dirty="0"/>
              <a:t>ACE</a:t>
            </a:r>
            <a:r>
              <a:rPr kumimoji="1" lang="zh-CN" altLang="en-US" dirty="0"/>
              <a:t>的写出缓冲区，整个</a:t>
            </a:r>
            <a:r>
              <a:rPr kumimoji="1" lang="en-US" altLang="zh-CN" dirty="0" err="1"/>
              <a:t>MatC</a:t>
            </a:r>
            <a:r>
              <a:rPr kumimoji="1" lang="zh-CN" altLang="en-US" dirty="0"/>
              <a:t>矩阵只会被写出一遍。</a:t>
            </a:r>
            <a:endParaRPr kumimoji="1" lang="en-US" altLang="zh-CN" dirty="0"/>
          </a:p>
          <a:p>
            <a:pPr lvl="1"/>
            <a:r>
              <a:rPr kumimoji="1" lang="zh-CN" altLang="en-US" dirty="0"/>
              <a:t>具体可见</a:t>
            </a:r>
            <a:r>
              <a:rPr kumimoji="1" lang="en-US" altLang="zh-CN" dirty="0"/>
              <a:t>:</a:t>
            </a:r>
            <a:r>
              <a:rPr kumimoji="1" lang="zh-CN" altLang="en-US" dirty="0"/>
              <a:t> </a:t>
            </a:r>
            <a:r>
              <a:rPr kumimoji="1" lang="en-US" altLang="zh-CN" dirty="0">
                <a:hlinkClick r:id="rId3"/>
              </a:rPr>
              <a:t>https://taichu-platform.yuque.com/nzs2dr/project_doc/obnyk55cw9ogfn2s#LJsW9</a:t>
            </a:r>
            <a:endParaRPr kumimoji="1" lang="en-US" altLang="zh-CN" dirty="0"/>
          </a:p>
          <a:p>
            <a:pPr lvl="1"/>
            <a:endParaRPr kumimoji="1" lang="en-US" altLang="zh-CN" dirty="0"/>
          </a:p>
          <a:p>
            <a:pPr lvl="1"/>
            <a:r>
              <a:rPr kumimoji="1" lang="zh-CN" altLang="en-US" dirty="0"/>
              <a:t> </a:t>
            </a:r>
            <a:endParaRPr kumimoji="1" lang="en-US" altLang="zh-CN" dirty="0"/>
          </a:p>
          <a:p>
            <a:pPr marL="342900" indent="-342900">
              <a:buAutoNum type="arabicPeriod"/>
            </a:pPr>
            <a:r>
              <a:rPr kumimoji="1" lang="zh-CN" altLang="en-US" dirty="0"/>
              <a:t>固定</a:t>
            </a:r>
            <a:r>
              <a:rPr kumimoji="1" lang="en-US" altLang="zh-CN" dirty="0" err="1"/>
              <a:t>MatA</a:t>
            </a:r>
            <a:r>
              <a:rPr kumimoji="1" lang="zh-CN" altLang="en-US" dirty="0"/>
              <a:t>矩阵，用</a:t>
            </a:r>
            <a:r>
              <a:rPr kumimoji="1" lang="en-US" altLang="zh-CN" dirty="0"/>
              <a:t>HBM</a:t>
            </a:r>
            <a:r>
              <a:rPr kumimoji="1" lang="zh-CN" altLang="en-US" dirty="0"/>
              <a:t>空间去扩充</a:t>
            </a:r>
            <a:r>
              <a:rPr kumimoji="1" lang="en-US" altLang="zh-CN" dirty="0"/>
              <a:t>ACE</a:t>
            </a:r>
            <a:r>
              <a:rPr kumimoji="1" lang="zh-CN" altLang="en-US" dirty="0"/>
              <a:t>缓冲区</a:t>
            </a:r>
            <a:r>
              <a:rPr kumimoji="1" lang="en-US" altLang="zh-CN" dirty="0"/>
              <a:t>(</a:t>
            </a:r>
            <a:r>
              <a:rPr kumimoji="1" lang="zh-CN" altLang="en-US" dirty="0"/>
              <a:t>后续重点介绍</a:t>
            </a:r>
            <a:r>
              <a:rPr kumimoji="1" lang="en-US" altLang="zh-CN" dirty="0"/>
              <a:t>)</a:t>
            </a:r>
            <a:r>
              <a:rPr kumimoji="1" lang="zh-CN" altLang="en-US" dirty="0"/>
              <a:t>。</a:t>
            </a:r>
            <a:endParaRPr kumimoji="1" lang="en-US" altLang="zh-CN" dirty="0"/>
          </a:p>
          <a:p>
            <a:endParaRPr kumimoji="1" lang="en-US" altLang="zh-CN" dirty="0"/>
          </a:p>
        </p:txBody>
      </p:sp>
    </p:spTree>
    <p:extLst>
      <p:ext uri="{BB962C8B-B14F-4D97-AF65-F5344CB8AC3E}">
        <p14:creationId xmlns:p14="http://schemas.microsoft.com/office/powerpoint/2010/main" val="26313408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80430" y="425400"/>
            <a:ext cx="2646540" cy="1393875"/>
          </a:xfrm>
          <a:prstGeom prst="rect">
            <a:avLst/>
          </a:prstGeom>
        </p:spPr>
      </p:pic>
      <p:sp>
        <p:nvSpPr>
          <p:cNvPr id="2" name="标题 1"/>
          <p:cNvSpPr txBox="1"/>
          <p:nvPr/>
        </p:nvSpPr>
        <p:spPr>
          <a:xfrm>
            <a:off x="981075" y="4003675"/>
            <a:ext cx="8315325" cy="68262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4400" b="1" dirty="0">
                <a:solidFill>
                  <a:schemeClr val="bg1"/>
                </a:solidFill>
              </a:rPr>
              <a:t>02 | </a:t>
            </a:r>
            <a:r>
              <a:rPr lang="zh-CN" altLang="en-US" sz="4400" b="1" dirty="0">
                <a:solidFill>
                  <a:schemeClr val="bg1"/>
                </a:solidFill>
              </a:rPr>
              <a:t>方案介绍</a:t>
            </a:r>
            <a:endParaRPr lang="zh-CN" altLang="en-US" b="1" dirty="0">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295275" y="422752"/>
            <a:ext cx="10515600" cy="515184"/>
          </a:xfrm>
        </p:spPr>
        <p:txBody>
          <a:bodyPr/>
          <a:lstStyle/>
          <a:p>
            <a:r>
              <a:rPr lang="zh-CN" altLang="en-US" dirty="0"/>
              <a:t>方案介绍</a:t>
            </a:r>
          </a:p>
        </p:txBody>
      </p:sp>
      <p:sp>
        <p:nvSpPr>
          <p:cNvPr id="5" name="矩形 4">
            <a:extLst>
              <a:ext uri="{FF2B5EF4-FFF2-40B4-BE49-F238E27FC236}">
                <a16:creationId xmlns:a16="http://schemas.microsoft.com/office/drawing/2014/main" id="{16BB1C70-1DFD-0BF1-CED8-30940E15B35B}"/>
              </a:ext>
            </a:extLst>
          </p:cNvPr>
          <p:cNvSpPr/>
          <p:nvPr/>
        </p:nvSpPr>
        <p:spPr>
          <a:xfrm>
            <a:off x="971550" y="1668780"/>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0</a:t>
            </a:r>
            <a:endParaRPr kumimoji="1" lang="zh-CN" altLang="en-US" dirty="0"/>
          </a:p>
        </p:txBody>
      </p:sp>
      <p:sp>
        <p:nvSpPr>
          <p:cNvPr id="10" name="矩形 9">
            <a:extLst>
              <a:ext uri="{FF2B5EF4-FFF2-40B4-BE49-F238E27FC236}">
                <a16:creationId xmlns:a16="http://schemas.microsoft.com/office/drawing/2014/main" id="{CF83EB2B-9672-B59D-F71D-0C5AB2CC5367}"/>
              </a:ext>
            </a:extLst>
          </p:cNvPr>
          <p:cNvSpPr/>
          <p:nvPr/>
        </p:nvSpPr>
        <p:spPr>
          <a:xfrm>
            <a:off x="971550" y="2045970"/>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11" name="矩形 10">
            <a:extLst>
              <a:ext uri="{FF2B5EF4-FFF2-40B4-BE49-F238E27FC236}">
                <a16:creationId xmlns:a16="http://schemas.microsoft.com/office/drawing/2014/main" id="{06BCEE46-BFB4-F541-495B-BB41EFE53592}"/>
              </a:ext>
            </a:extLst>
          </p:cNvPr>
          <p:cNvSpPr/>
          <p:nvPr/>
        </p:nvSpPr>
        <p:spPr>
          <a:xfrm>
            <a:off x="971550" y="2428875"/>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12" name="矩形 11">
            <a:extLst>
              <a:ext uri="{FF2B5EF4-FFF2-40B4-BE49-F238E27FC236}">
                <a16:creationId xmlns:a16="http://schemas.microsoft.com/office/drawing/2014/main" id="{73F52965-C29E-D665-3B3D-D81555200312}"/>
              </a:ext>
            </a:extLst>
          </p:cNvPr>
          <p:cNvSpPr/>
          <p:nvPr/>
        </p:nvSpPr>
        <p:spPr>
          <a:xfrm>
            <a:off x="971550" y="2806065"/>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17" name="矩形 16">
            <a:extLst>
              <a:ext uri="{FF2B5EF4-FFF2-40B4-BE49-F238E27FC236}">
                <a16:creationId xmlns:a16="http://schemas.microsoft.com/office/drawing/2014/main" id="{2E51993F-F71D-E847-E182-1DD0E0426A7B}"/>
              </a:ext>
            </a:extLst>
          </p:cNvPr>
          <p:cNvSpPr/>
          <p:nvPr/>
        </p:nvSpPr>
        <p:spPr>
          <a:xfrm>
            <a:off x="971550" y="3183255"/>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endParaRPr kumimoji="1" lang="zh-CN" altLang="en-US" dirty="0"/>
          </a:p>
        </p:txBody>
      </p:sp>
      <p:sp>
        <p:nvSpPr>
          <p:cNvPr id="26" name="矩形 25">
            <a:extLst>
              <a:ext uri="{FF2B5EF4-FFF2-40B4-BE49-F238E27FC236}">
                <a16:creationId xmlns:a16="http://schemas.microsoft.com/office/drawing/2014/main" id="{F23AA9F8-02AA-86D8-71C3-33A7ACCBDD65}"/>
              </a:ext>
            </a:extLst>
          </p:cNvPr>
          <p:cNvSpPr/>
          <p:nvPr/>
        </p:nvSpPr>
        <p:spPr>
          <a:xfrm>
            <a:off x="971550" y="3560445"/>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5</a:t>
            </a:r>
            <a:endParaRPr kumimoji="1" lang="zh-CN" altLang="en-US" dirty="0"/>
          </a:p>
        </p:txBody>
      </p:sp>
      <p:sp>
        <p:nvSpPr>
          <p:cNvPr id="27" name="矩形 26">
            <a:extLst>
              <a:ext uri="{FF2B5EF4-FFF2-40B4-BE49-F238E27FC236}">
                <a16:creationId xmlns:a16="http://schemas.microsoft.com/office/drawing/2014/main" id="{6466FC0B-15D1-4764-D035-2FC8DCDC5129}"/>
              </a:ext>
            </a:extLst>
          </p:cNvPr>
          <p:cNvSpPr/>
          <p:nvPr/>
        </p:nvSpPr>
        <p:spPr>
          <a:xfrm>
            <a:off x="971550" y="3943350"/>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6</a:t>
            </a:r>
            <a:endParaRPr kumimoji="1" lang="zh-CN" altLang="en-US" dirty="0"/>
          </a:p>
        </p:txBody>
      </p:sp>
      <p:sp>
        <p:nvSpPr>
          <p:cNvPr id="28" name="矩形 27">
            <a:extLst>
              <a:ext uri="{FF2B5EF4-FFF2-40B4-BE49-F238E27FC236}">
                <a16:creationId xmlns:a16="http://schemas.microsoft.com/office/drawing/2014/main" id="{DDC7AD1A-0916-B205-F6A1-B07BFF94D500}"/>
              </a:ext>
            </a:extLst>
          </p:cNvPr>
          <p:cNvSpPr/>
          <p:nvPr/>
        </p:nvSpPr>
        <p:spPr>
          <a:xfrm>
            <a:off x="971550" y="4320540"/>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7</a:t>
            </a:r>
            <a:endParaRPr kumimoji="1" lang="zh-CN" altLang="en-US" dirty="0"/>
          </a:p>
        </p:txBody>
      </p:sp>
      <p:sp>
        <p:nvSpPr>
          <p:cNvPr id="41" name="矩形 40">
            <a:extLst>
              <a:ext uri="{FF2B5EF4-FFF2-40B4-BE49-F238E27FC236}">
                <a16:creationId xmlns:a16="http://schemas.microsoft.com/office/drawing/2014/main" id="{52BF1040-3C8A-495E-7124-F125ACE5EBC9}"/>
              </a:ext>
            </a:extLst>
          </p:cNvPr>
          <p:cNvSpPr/>
          <p:nvPr/>
        </p:nvSpPr>
        <p:spPr>
          <a:xfrm>
            <a:off x="1668780" y="1668780"/>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8</a:t>
            </a:r>
            <a:endParaRPr kumimoji="1" lang="zh-CN" altLang="en-US" dirty="0"/>
          </a:p>
        </p:txBody>
      </p:sp>
      <p:sp>
        <p:nvSpPr>
          <p:cNvPr id="42" name="矩形 41">
            <a:extLst>
              <a:ext uri="{FF2B5EF4-FFF2-40B4-BE49-F238E27FC236}">
                <a16:creationId xmlns:a16="http://schemas.microsoft.com/office/drawing/2014/main" id="{3AA5F00C-67AC-C880-3B85-CAD36C73BAFC}"/>
              </a:ext>
            </a:extLst>
          </p:cNvPr>
          <p:cNvSpPr/>
          <p:nvPr/>
        </p:nvSpPr>
        <p:spPr>
          <a:xfrm>
            <a:off x="1668780" y="2045970"/>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9</a:t>
            </a:r>
            <a:endParaRPr kumimoji="1" lang="zh-CN" altLang="en-US" dirty="0"/>
          </a:p>
        </p:txBody>
      </p:sp>
      <p:sp>
        <p:nvSpPr>
          <p:cNvPr id="44" name="矩形 43">
            <a:extLst>
              <a:ext uri="{FF2B5EF4-FFF2-40B4-BE49-F238E27FC236}">
                <a16:creationId xmlns:a16="http://schemas.microsoft.com/office/drawing/2014/main" id="{6D1CD3EE-0983-3CBD-ACD9-9F9D92FB8798}"/>
              </a:ext>
            </a:extLst>
          </p:cNvPr>
          <p:cNvSpPr/>
          <p:nvPr/>
        </p:nvSpPr>
        <p:spPr>
          <a:xfrm>
            <a:off x="1668780" y="2428875"/>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10</a:t>
            </a:r>
            <a:endParaRPr kumimoji="1" lang="zh-CN" altLang="en-US" dirty="0"/>
          </a:p>
        </p:txBody>
      </p:sp>
      <p:sp>
        <p:nvSpPr>
          <p:cNvPr id="45" name="矩形 44">
            <a:extLst>
              <a:ext uri="{FF2B5EF4-FFF2-40B4-BE49-F238E27FC236}">
                <a16:creationId xmlns:a16="http://schemas.microsoft.com/office/drawing/2014/main" id="{9F25A180-B6AF-BC05-1056-A3E7D0239E3B}"/>
              </a:ext>
            </a:extLst>
          </p:cNvPr>
          <p:cNvSpPr/>
          <p:nvPr/>
        </p:nvSpPr>
        <p:spPr>
          <a:xfrm>
            <a:off x="1668780" y="2806065"/>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11</a:t>
            </a:r>
            <a:endParaRPr kumimoji="1" lang="zh-CN" altLang="en-US" dirty="0"/>
          </a:p>
        </p:txBody>
      </p:sp>
      <p:sp>
        <p:nvSpPr>
          <p:cNvPr id="46" name="矩形 45">
            <a:extLst>
              <a:ext uri="{FF2B5EF4-FFF2-40B4-BE49-F238E27FC236}">
                <a16:creationId xmlns:a16="http://schemas.microsoft.com/office/drawing/2014/main" id="{8C38F2DD-1348-9A41-C11E-026FD4AA8380}"/>
              </a:ext>
            </a:extLst>
          </p:cNvPr>
          <p:cNvSpPr/>
          <p:nvPr/>
        </p:nvSpPr>
        <p:spPr>
          <a:xfrm>
            <a:off x="1668780" y="3183255"/>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12</a:t>
            </a:r>
            <a:endParaRPr kumimoji="1" lang="zh-CN" altLang="en-US" dirty="0"/>
          </a:p>
        </p:txBody>
      </p:sp>
      <p:sp>
        <p:nvSpPr>
          <p:cNvPr id="47" name="矩形 46">
            <a:extLst>
              <a:ext uri="{FF2B5EF4-FFF2-40B4-BE49-F238E27FC236}">
                <a16:creationId xmlns:a16="http://schemas.microsoft.com/office/drawing/2014/main" id="{A50253FF-B8D8-0CB7-66AA-8B392F3320DB}"/>
              </a:ext>
            </a:extLst>
          </p:cNvPr>
          <p:cNvSpPr/>
          <p:nvPr/>
        </p:nvSpPr>
        <p:spPr>
          <a:xfrm>
            <a:off x="1668780" y="3560445"/>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13</a:t>
            </a:r>
            <a:endParaRPr kumimoji="1" lang="zh-CN" altLang="en-US" dirty="0"/>
          </a:p>
        </p:txBody>
      </p:sp>
      <p:sp>
        <p:nvSpPr>
          <p:cNvPr id="48" name="矩形 47">
            <a:extLst>
              <a:ext uri="{FF2B5EF4-FFF2-40B4-BE49-F238E27FC236}">
                <a16:creationId xmlns:a16="http://schemas.microsoft.com/office/drawing/2014/main" id="{B717AAF0-0AB9-1C09-C73C-A34352550DFE}"/>
              </a:ext>
            </a:extLst>
          </p:cNvPr>
          <p:cNvSpPr/>
          <p:nvPr/>
        </p:nvSpPr>
        <p:spPr>
          <a:xfrm>
            <a:off x="1668780" y="3943350"/>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14</a:t>
            </a:r>
            <a:endParaRPr kumimoji="1" lang="zh-CN" altLang="en-US" dirty="0"/>
          </a:p>
        </p:txBody>
      </p:sp>
      <p:sp>
        <p:nvSpPr>
          <p:cNvPr id="49" name="矩形 48">
            <a:extLst>
              <a:ext uri="{FF2B5EF4-FFF2-40B4-BE49-F238E27FC236}">
                <a16:creationId xmlns:a16="http://schemas.microsoft.com/office/drawing/2014/main" id="{D6332695-03B1-8F30-896E-08B03FA54021}"/>
              </a:ext>
            </a:extLst>
          </p:cNvPr>
          <p:cNvSpPr/>
          <p:nvPr/>
        </p:nvSpPr>
        <p:spPr>
          <a:xfrm>
            <a:off x="1668780" y="4320540"/>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15</a:t>
            </a:r>
            <a:endParaRPr kumimoji="1" lang="zh-CN" altLang="en-US" dirty="0"/>
          </a:p>
        </p:txBody>
      </p:sp>
      <p:sp>
        <p:nvSpPr>
          <p:cNvPr id="50" name="矩形 49">
            <a:extLst>
              <a:ext uri="{FF2B5EF4-FFF2-40B4-BE49-F238E27FC236}">
                <a16:creationId xmlns:a16="http://schemas.microsoft.com/office/drawing/2014/main" id="{E557AD54-4F8F-5907-504A-46FEEA68B952}"/>
              </a:ext>
            </a:extLst>
          </p:cNvPr>
          <p:cNvSpPr/>
          <p:nvPr/>
        </p:nvSpPr>
        <p:spPr>
          <a:xfrm>
            <a:off x="2366010" y="1668780"/>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16</a:t>
            </a:r>
            <a:endParaRPr kumimoji="1" lang="zh-CN" altLang="en-US" dirty="0"/>
          </a:p>
        </p:txBody>
      </p:sp>
      <p:sp>
        <p:nvSpPr>
          <p:cNvPr id="51" name="矩形 50">
            <a:extLst>
              <a:ext uri="{FF2B5EF4-FFF2-40B4-BE49-F238E27FC236}">
                <a16:creationId xmlns:a16="http://schemas.microsoft.com/office/drawing/2014/main" id="{25AD09D8-9121-C8B0-6CBA-26E677C9F6F5}"/>
              </a:ext>
            </a:extLst>
          </p:cNvPr>
          <p:cNvSpPr/>
          <p:nvPr/>
        </p:nvSpPr>
        <p:spPr>
          <a:xfrm>
            <a:off x="2366010" y="2045970"/>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17</a:t>
            </a:r>
            <a:endParaRPr kumimoji="1" lang="zh-CN" altLang="en-US" dirty="0"/>
          </a:p>
        </p:txBody>
      </p:sp>
      <p:sp>
        <p:nvSpPr>
          <p:cNvPr id="52" name="矩形 51">
            <a:extLst>
              <a:ext uri="{FF2B5EF4-FFF2-40B4-BE49-F238E27FC236}">
                <a16:creationId xmlns:a16="http://schemas.microsoft.com/office/drawing/2014/main" id="{9D8EB2D0-F15A-AB27-C185-873628C3B1FA}"/>
              </a:ext>
            </a:extLst>
          </p:cNvPr>
          <p:cNvSpPr/>
          <p:nvPr/>
        </p:nvSpPr>
        <p:spPr>
          <a:xfrm>
            <a:off x="2366010" y="2428875"/>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18</a:t>
            </a:r>
            <a:endParaRPr kumimoji="1" lang="zh-CN" altLang="en-US" dirty="0"/>
          </a:p>
        </p:txBody>
      </p:sp>
      <p:sp>
        <p:nvSpPr>
          <p:cNvPr id="53" name="矩形 52">
            <a:extLst>
              <a:ext uri="{FF2B5EF4-FFF2-40B4-BE49-F238E27FC236}">
                <a16:creationId xmlns:a16="http://schemas.microsoft.com/office/drawing/2014/main" id="{9E49F357-1968-35FA-8C38-94D4D9B065EA}"/>
              </a:ext>
            </a:extLst>
          </p:cNvPr>
          <p:cNvSpPr/>
          <p:nvPr/>
        </p:nvSpPr>
        <p:spPr>
          <a:xfrm>
            <a:off x="2366010" y="2806065"/>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19</a:t>
            </a:r>
            <a:endParaRPr kumimoji="1" lang="zh-CN" altLang="en-US" dirty="0"/>
          </a:p>
        </p:txBody>
      </p:sp>
      <p:sp>
        <p:nvSpPr>
          <p:cNvPr id="54" name="矩形 53">
            <a:extLst>
              <a:ext uri="{FF2B5EF4-FFF2-40B4-BE49-F238E27FC236}">
                <a16:creationId xmlns:a16="http://schemas.microsoft.com/office/drawing/2014/main" id="{3C61A8C2-E2F7-01C2-76A4-688D4AF3B26C}"/>
              </a:ext>
            </a:extLst>
          </p:cNvPr>
          <p:cNvSpPr/>
          <p:nvPr/>
        </p:nvSpPr>
        <p:spPr>
          <a:xfrm>
            <a:off x="2366010" y="3183255"/>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20</a:t>
            </a:r>
            <a:endParaRPr kumimoji="1" lang="zh-CN" altLang="en-US" dirty="0"/>
          </a:p>
        </p:txBody>
      </p:sp>
      <p:sp>
        <p:nvSpPr>
          <p:cNvPr id="55" name="矩形 54">
            <a:extLst>
              <a:ext uri="{FF2B5EF4-FFF2-40B4-BE49-F238E27FC236}">
                <a16:creationId xmlns:a16="http://schemas.microsoft.com/office/drawing/2014/main" id="{4509E95E-9A89-9369-81E4-F9923E637F88}"/>
              </a:ext>
            </a:extLst>
          </p:cNvPr>
          <p:cNvSpPr/>
          <p:nvPr/>
        </p:nvSpPr>
        <p:spPr>
          <a:xfrm>
            <a:off x="2366010" y="3560445"/>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21</a:t>
            </a:r>
            <a:endParaRPr kumimoji="1" lang="zh-CN" altLang="en-US" dirty="0"/>
          </a:p>
        </p:txBody>
      </p:sp>
      <p:sp>
        <p:nvSpPr>
          <p:cNvPr id="56" name="矩形 55">
            <a:extLst>
              <a:ext uri="{FF2B5EF4-FFF2-40B4-BE49-F238E27FC236}">
                <a16:creationId xmlns:a16="http://schemas.microsoft.com/office/drawing/2014/main" id="{A0FD157C-48C0-36CE-232B-E2E769B41212}"/>
              </a:ext>
            </a:extLst>
          </p:cNvPr>
          <p:cNvSpPr/>
          <p:nvPr/>
        </p:nvSpPr>
        <p:spPr>
          <a:xfrm>
            <a:off x="2366010" y="3943350"/>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22</a:t>
            </a:r>
            <a:endParaRPr kumimoji="1" lang="zh-CN" altLang="en-US" dirty="0"/>
          </a:p>
        </p:txBody>
      </p:sp>
      <p:sp>
        <p:nvSpPr>
          <p:cNvPr id="57" name="矩形 56">
            <a:extLst>
              <a:ext uri="{FF2B5EF4-FFF2-40B4-BE49-F238E27FC236}">
                <a16:creationId xmlns:a16="http://schemas.microsoft.com/office/drawing/2014/main" id="{41A524CE-9400-8CF4-419B-A4D2E5A478A2}"/>
              </a:ext>
            </a:extLst>
          </p:cNvPr>
          <p:cNvSpPr/>
          <p:nvPr/>
        </p:nvSpPr>
        <p:spPr>
          <a:xfrm>
            <a:off x="2366010" y="4320540"/>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23</a:t>
            </a:r>
            <a:endParaRPr kumimoji="1" lang="zh-CN" altLang="en-US" dirty="0"/>
          </a:p>
        </p:txBody>
      </p:sp>
      <p:sp>
        <p:nvSpPr>
          <p:cNvPr id="58" name="矩形 57">
            <a:extLst>
              <a:ext uri="{FF2B5EF4-FFF2-40B4-BE49-F238E27FC236}">
                <a16:creationId xmlns:a16="http://schemas.microsoft.com/office/drawing/2014/main" id="{3868340D-A0D4-4D8F-E6E0-22DB908CD4BF}"/>
              </a:ext>
            </a:extLst>
          </p:cNvPr>
          <p:cNvSpPr/>
          <p:nvPr/>
        </p:nvSpPr>
        <p:spPr>
          <a:xfrm>
            <a:off x="3063240" y="1668780"/>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24</a:t>
            </a:r>
            <a:endParaRPr kumimoji="1" lang="zh-CN" altLang="en-US" dirty="0"/>
          </a:p>
        </p:txBody>
      </p:sp>
      <p:sp>
        <p:nvSpPr>
          <p:cNvPr id="59" name="矩形 58">
            <a:extLst>
              <a:ext uri="{FF2B5EF4-FFF2-40B4-BE49-F238E27FC236}">
                <a16:creationId xmlns:a16="http://schemas.microsoft.com/office/drawing/2014/main" id="{DCBFECE2-7DE1-38B3-ABBE-BC307AF94E47}"/>
              </a:ext>
            </a:extLst>
          </p:cNvPr>
          <p:cNvSpPr/>
          <p:nvPr/>
        </p:nvSpPr>
        <p:spPr>
          <a:xfrm>
            <a:off x="3063240" y="2045970"/>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25</a:t>
            </a:r>
            <a:endParaRPr kumimoji="1" lang="zh-CN" altLang="en-US" dirty="0"/>
          </a:p>
        </p:txBody>
      </p:sp>
      <p:sp>
        <p:nvSpPr>
          <p:cNvPr id="60" name="矩形 59">
            <a:extLst>
              <a:ext uri="{FF2B5EF4-FFF2-40B4-BE49-F238E27FC236}">
                <a16:creationId xmlns:a16="http://schemas.microsoft.com/office/drawing/2014/main" id="{BA82BBFE-F991-DDAF-BA78-5C4755104EF0}"/>
              </a:ext>
            </a:extLst>
          </p:cNvPr>
          <p:cNvSpPr/>
          <p:nvPr/>
        </p:nvSpPr>
        <p:spPr>
          <a:xfrm>
            <a:off x="3063240" y="2428875"/>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26</a:t>
            </a:r>
            <a:endParaRPr kumimoji="1" lang="zh-CN" altLang="en-US" dirty="0"/>
          </a:p>
        </p:txBody>
      </p:sp>
      <p:sp>
        <p:nvSpPr>
          <p:cNvPr id="61" name="矩形 60">
            <a:extLst>
              <a:ext uri="{FF2B5EF4-FFF2-40B4-BE49-F238E27FC236}">
                <a16:creationId xmlns:a16="http://schemas.microsoft.com/office/drawing/2014/main" id="{7AA0FE6D-8D10-B074-075A-D0951088660C}"/>
              </a:ext>
            </a:extLst>
          </p:cNvPr>
          <p:cNvSpPr/>
          <p:nvPr/>
        </p:nvSpPr>
        <p:spPr>
          <a:xfrm>
            <a:off x="3063240" y="2806065"/>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27</a:t>
            </a:r>
            <a:endParaRPr kumimoji="1" lang="zh-CN" altLang="en-US" dirty="0"/>
          </a:p>
        </p:txBody>
      </p:sp>
      <p:sp>
        <p:nvSpPr>
          <p:cNvPr id="62" name="矩形 61">
            <a:extLst>
              <a:ext uri="{FF2B5EF4-FFF2-40B4-BE49-F238E27FC236}">
                <a16:creationId xmlns:a16="http://schemas.microsoft.com/office/drawing/2014/main" id="{7568D6DA-FE3E-6680-7647-0CE8A1FCF454}"/>
              </a:ext>
            </a:extLst>
          </p:cNvPr>
          <p:cNvSpPr/>
          <p:nvPr/>
        </p:nvSpPr>
        <p:spPr>
          <a:xfrm>
            <a:off x="3063240" y="3183255"/>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28</a:t>
            </a:r>
            <a:endParaRPr kumimoji="1" lang="zh-CN" altLang="en-US" dirty="0"/>
          </a:p>
        </p:txBody>
      </p:sp>
      <p:sp>
        <p:nvSpPr>
          <p:cNvPr id="63" name="矩形 62">
            <a:extLst>
              <a:ext uri="{FF2B5EF4-FFF2-40B4-BE49-F238E27FC236}">
                <a16:creationId xmlns:a16="http://schemas.microsoft.com/office/drawing/2014/main" id="{0E31A874-6D56-7378-7023-0D05A2D011BC}"/>
              </a:ext>
            </a:extLst>
          </p:cNvPr>
          <p:cNvSpPr/>
          <p:nvPr/>
        </p:nvSpPr>
        <p:spPr>
          <a:xfrm>
            <a:off x="3063240" y="3560445"/>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29</a:t>
            </a:r>
            <a:endParaRPr kumimoji="1" lang="zh-CN" altLang="en-US" dirty="0"/>
          </a:p>
        </p:txBody>
      </p:sp>
      <p:sp>
        <p:nvSpPr>
          <p:cNvPr id="64" name="矩形 63">
            <a:extLst>
              <a:ext uri="{FF2B5EF4-FFF2-40B4-BE49-F238E27FC236}">
                <a16:creationId xmlns:a16="http://schemas.microsoft.com/office/drawing/2014/main" id="{ACA13C93-15CD-74B1-8FD4-172B095C7A99}"/>
              </a:ext>
            </a:extLst>
          </p:cNvPr>
          <p:cNvSpPr/>
          <p:nvPr/>
        </p:nvSpPr>
        <p:spPr>
          <a:xfrm>
            <a:off x="3063240" y="3943350"/>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30</a:t>
            </a:r>
            <a:endParaRPr kumimoji="1" lang="zh-CN" altLang="en-US" dirty="0"/>
          </a:p>
        </p:txBody>
      </p:sp>
      <p:sp>
        <p:nvSpPr>
          <p:cNvPr id="65" name="矩形 64">
            <a:extLst>
              <a:ext uri="{FF2B5EF4-FFF2-40B4-BE49-F238E27FC236}">
                <a16:creationId xmlns:a16="http://schemas.microsoft.com/office/drawing/2014/main" id="{E8E6BD9F-5665-505C-4C9E-1AE78C1C56C9}"/>
              </a:ext>
            </a:extLst>
          </p:cNvPr>
          <p:cNvSpPr/>
          <p:nvPr/>
        </p:nvSpPr>
        <p:spPr>
          <a:xfrm>
            <a:off x="3063240" y="4320540"/>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31</a:t>
            </a:r>
            <a:endParaRPr kumimoji="1" lang="zh-CN" altLang="en-US" dirty="0"/>
          </a:p>
        </p:txBody>
      </p:sp>
      <p:sp>
        <p:nvSpPr>
          <p:cNvPr id="66" name="文本框 65">
            <a:extLst>
              <a:ext uri="{FF2B5EF4-FFF2-40B4-BE49-F238E27FC236}">
                <a16:creationId xmlns:a16="http://schemas.microsoft.com/office/drawing/2014/main" id="{1B80F90D-2EB4-BB1D-471D-CE7A9E994023}"/>
              </a:ext>
            </a:extLst>
          </p:cNvPr>
          <p:cNvSpPr txBox="1"/>
          <p:nvPr/>
        </p:nvSpPr>
        <p:spPr>
          <a:xfrm>
            <a:off x="342900" y="2846070"/>
            <a:ext cx="582930" cy="369332"/>
          </a:xfrm>
          <a:prstGeom prst="rect">
            <a:avLst/>
          </a:prstGeom>
          <a:noFill/>
        </p:spPr>
        <p:txBody>
          <a:bodyPr wrap="square" rtlCol="0">
            <a:spAutoFit/>
          </a:bodyPr>
          <a:lstStyle/>
          <a:p>
            <a:r>
              <a:rPr kumimoji="1" lang="en-US" altLang="zh-CN" dirty="0"/>
              <a:t>M1</a:t>
            </a:r>
            <a:endParaRPr kumimoji="1" lang="zh-CN" altLang="en-US" dirty="0"/>
          </a:p>
        </p:txBody>
      </p:sp>
      <p:sp>
        <p:nvSpPr>
          <p:cNvPr id="67" name="文本框 66">
            <a:extLst>
              <a:ext uri="{FF2B5EF4-FFF2-40B4-BE49-F238E27FC236}">
                <a16:creationId xmlns:a16="http://schemas.microsoft.com/office/drawing/2014/main" id="{944F78D5-7562-A97E-3F42-4107D7CD67C3}"/>
              </a:ext>
            </a:extLst>
          </p:cNvPr>
          <p:cNvSpPr txBox="1"/>
          <p:nvPr/>
        </p:nvSpPr>
        <p:spPr>
          <a:xfrm>
            <a:off x="1920240" y="1130460"/>
            <a:ext cx="582930" cy="369332"/>
          </a:xfrm>
          <a:prstGeom prst="rect">
            <a:avLst/>
          </a:prstGeom>
          <a:noFill/>
        </p:spPr>
        <p:txBody>
          <a:bodyPr wrap="square" rtlCol="0">
            <a:spAutoFit/>
          </a:bodyPr>
          <a:lstStyle/>
          <a:p>
            <a:r>
              <a:rPr kumimoji="1" lang="en-US" altLang="zh-CN" dirty="0"/>
              <a:t>K1</a:t>
            </a:r>
            <a:endParaRPr kumimoji="1" lang="zh-CN" altLang="en-US" dirty="0"/>
          </a:p>
        </p:txBody>
      </p:sp>
      <p:sp>
        <p:nvSpPr>
          <p:cNvPr id="102" name="矩形 101">
            <a:extLst>
              <a:ext uri="{FF2B5EF4-FFF2-40B4-BE49-F238E27FC236}">
                <a16:creationId xmlns:a16="http://schemas.microsoft.com/office/drawing/2014/main" id="{B9B563C3-813A-A2BE-351B-592E80A26AE1}"/>
              </a:ext>
            </a:extLst>
          </p:cNvPr>
          <p:cNvSpPr/>
          <p:nvPr/>
        </p:nvSpPr>
        <p:spPr>
          <a:xfrm>
            <a:off x="5913120" y="1808402"/>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0</a:t>
            </a:r>
            <a:endParaRPr kumimoji="1" lang="zh-CN" altLang="en-US" sz="1100" dirty="0"/>
          </a:p>
        </p:txBody>
      </p:sp>
      <p:sp>
        <p:nvSpPr>
          <p:cNvPr id="103" name="矩形 102">
            <a:extLst>
              <a:ext uri="{FF2B5EF4-FFF2-40B4-BE49-F238E27FC236}">
                <a16:creationId xmlns:a16="http://schemas.microsoft.com/office/drawing/2014/main" id="{AE74748B-2F40-DE5E-0E84-2C9EB029753C}"/>
              </a:ext>
            </a:extLst>
          </p:cNvPr>
          <p:cNvSpPr/>
          <p:nvPr/>
        </p:nvSpPr>
        <p:spPr>
          <a:xfrm>
            <a:off x="6263640" y="1808066"/>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a:t>
            </a:r>
            <a:endParaRPr kumimoji="1" lang="zh-CN" altLang="en-US" sz="1100" dirty="0"/>
          </a:p>
        </p:txBody>
      </p:sp>
      <p:sp>
        <p:nvSpPr>
          <p:cNvPr id="107" name="矩形 106">
            <a:extLst>
              <a:ext uri="{FF2B5EF4-FFF2-40B4-BE49-F238E27FC236}">
                <a16:creationId xmlns:a16="http://schemas.microsoft.com/office/drawing/2014/main" id="{077E6AE8-EEC9-FA77-6F82-741EAE1DF125}"/>
              </a:ext>
            </a:extLst>
          </p:cNvPr>
          <p:cNvSpPr/>
          <p:nvPr/>
        </p:nvSpPr>
        <p:spPr>
          <a:xfrm>
            <a:off x="6614160" y="1807898"/>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2</a:t>
            </a:r>
            <a:endParaRPr kumimoji="1" lang="zh-CN" altLang="en-US" sz="1100" dirty="0"/>
          </a:p>
        </p:txBody>
      </p:sp>
      <p:sp>
        <p:nvSpPr>
          <p:cNvPr id="108" name="矩形 107">
            <a:extLst>
              <a:ext uri="{FF2B5EF4-FFF2-40B4-BE49-F238E27FC236}">
                <a16:creationId xmlns:a16="http://schemas.microsoft.com/office/drawing/2014/main" id="{0804F25C-B610-5672-BBDF-CC04439CB80F}"/>
              </a:ext>
            </a:extLst>
          </p:cNvPr>
          <p:cNvSpPr/>
          <p:nvPr/>
        </p:nvSpPr>
        <p:spPr>
          <a:xfrm>
            <a:off x="6964680" y="1807562"/>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3</a:t>
            </a:r>
            <a:endParaRPr kumimoji="1" lang="zh-CN" altLang="en-US" sz="1100" dirty="0"/>
          </a:p>
        </p:txBody>
      </p:sp>
      <p:sp>
        <p:nvSpPr>
          <p:cNvPr id="109" name="矩形 108">
            <a:extLst>
              <a:ext uri="{FF2B5EF4-FFF2-40B4-BE49-F238E27FC236}">
                <a16:creationId xmlns:a16="http://schemas.microsoft.com/office/drawing/2014/main" id="{CFB9F46E-7BC2-9A50-DF6E-651DC6C11CD8}"/>
              </a:ext>
            </a:extLst>
          </p:cNvPr>
          <p:cNvSpPr/>
          <p:nvPr/>
        </p:nvSpPr>
        <p:spPr>
          <a:xfrm>
            <a:off x="7322820" y="1807898"/>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4</a:t>
            </a:r>
            <a:endParaRPr kumimoji="1" lang="zh-CN" altLang="en-US" sz="1100" dirty="0"/>
          </a:p>
        </p:txBody>
      </p:sp>
      <p:sp>
        <p:nvSpPr>
          <p:cNvPr id="110" name="矩形 109">
            <a:extLst>
              <a:ext uri="{FF2B5EF4-FFF2-40B4-BE49-F238E27FC236}">
                <a16:creationId xmlns:a16="http://schemas.microsoft.com/office/drawing/2014/main" id="{855CFAF3-B604-14D5-5C71-5E1A74F1853F}"/>
              </a:ext>
            </a:extLst>
          </p:cNvPr>
          <p:cNvSpPr/>
          <p:nvPr/>
        </p:nvSpPr>
        <p:spPr>
          <a:xfrm>
            <a:off x="7673340" y="1807562"/>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5</a:t>
            </a:r>
            <a:endParaRPr kumimoji="1" lang="zh-CN" altLang="en-US" sz="1100" dirty="0"/>
          </a:p>
        </p:txBody>
      </p:sp>
      <p:sp>
        <p:nvSpPr>
          <p:cNvPr id="111" name="矩形 110">
            <a:extLst>
              <a:ext uri="{FF2B5EF4-FFF2-40B4-BE49-F238E27FC236}">
                <a16:creationId xmlns:a16="http://schemas.microsoft.com/office/drawing/2014/main" id="{EAC2680D-DFAD-EE17-618D-417558970B2F}"/>
              </a:ext>
            </a:extLst>
          </p:cNvPr>
          <p:cNvSpPr/>
          <p:nvPr/>
        </p:nvSpPr>
        <p:spPr>
          <a:xfrm>
            <a:off x="8023860" y="1807394"/>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6</a:t>
            </a:r>
            <a:endParaRPr kumimoji="1" lang="zh-CN" altLang="en-US" sz="1100" dirty="0"/>
          </a:p>
        </p:txBody>
      </p:sp>
      <p:sp>
        <p:nvSpPr>
          <p:cNvPr id="112" name="矩形 111">
            <a:extLst>
              <a:ext uri="{FF2B5EF4-FFF2-40B4-BE49-F238E27FC236}">
                <a16:creationId xmlns:a16="http://schemas.microsoft.com/office/drawing/2014/main" id="{6D07DD4C-DA40-9EDE-DB43-48F0E05B6178}"/>
              </a:ext>
            </a:extLst>
          </p:cNvPr>
          <p:cNvSpPr/>
          <p:nvPr/>
        </p:nvSpPr>
        <p:spPr>
          <a:xfrm>
            <a:off x="8374380" y="1807058"/>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7</a:t>
            </a:r>
            <a:endParaRPr kumimoji="1" lang="zh-CN" altLang="en-US" sz="1100" dirty="0"/>
          </a:p>
        </p:txBody>
      </p:sp>
      <p:sp>
        <p:nvSpPr>
          <p:cNvPr id="113" name="矩形 112">
            <a:extLst>
              <a:ext uri="{FF2B5EF4-FFF2-40B4-BE49-F238E27FC236}">
                <a16:creationId xmlns:a16="http://schemas.microsoft.com/office/drawing/2014/main" id="{8C605222-1020-D51B-15AF-E69FCE2C4E95}"/>
              </a:ext>
            </a:extLst>
          </p:cNvPr>
          <p:cNvSpPr/>
          <p:nvPr/>
        </p:nvSpPr>
        <p:spPr>
          <a:xfrm>
            <a:off x="5913120" y="2430276"/>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8</a:t>
            </a:r>
            <a:endParaRPr kumimoji="1" lang="zh-CN" altLang="en-US" sz="1100" dirty="0"/>
          </a:p>
        </p:txBody>
      </p:sp>
      <p:sp>
        <p:nvSpPr>
          <p:cNvPr id="114" name="矩形 113">
            <a:extLst>
              <a:ext uri="{FF2B5EF4-FFF2-40B4-BE49-F238E27FC236}">
                <a16:creationId xmlns:a16="http://schemas.microsoft.com/office/drawing/2014/main" id="{5B49AD95-98D7-1128-6348-492FC3E0D7BB}"/>
              </a:ext>
            </a:extLst>
          </p:cNvPr>
          <p:cNvSpPr/>
          <p:nvPr/>
        </p:nvSpPr>
        <p:spPr>
          <a:xfrm>
            <a:off x="6263640" y="2429940"/>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9</a:t>
            </a:r>
            <a:endParaRPr kumimoji="1" lang="zh-CN" altLang="en-US" sz="1100" dirty="0"/>
          </a:p>
        </p:txBody>
      </p:sp>
      <p:sp>
        <p:nvSpPr>
          <p:cNvPr id="115" name="矩形 114">
            <a:extLst>
              <a:ext uri="{FF2B5EF4-FFF2-40B4-BE49-F238E27FC236}">
                <a16:creationId xmlns:a16="http://schemas.microsoft.com/office/drawing/2014/main" id="{C82B4EFB-27DC-6A5C-F92B-7E8B192BB35E}"/>
              </a:ext>
            </a:extLst>
          </p:cNvPr>
          <p:cNvSpPr/>
          <p:nvPr/>
        </p:nvSpPr>
        <p:spPr>
          <a:xfrm>
            <a:off x="6614160" y="2429772"/>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10</a:t>
            </a:r>
            <a:endParaRPr kumimoji="1" lang="zh-CN" altLang="en-US" sz="1100" dirty="0"/>
          </a:p>
        </p:txBody>
      </p:sp>
      <p:sp>
        <p:nvSpPr>
          <p:cNvPr id="116" name="矩形 115">
            <a:extLst>
              <a:ext uri="{FF2B5EF4-FFF2-40B4-BE49-F238E27FC236}">
                <a16:creationId xmlns:a16="http://schemas.microsoft.com/office/drawing/2014/main" id="{BFEB10E0-AE57-1AE1-A4DF-8124C8DD9274}"/>
              </a:ext>
            </a:extLst>
          </p:cNvPr>
          <p:cNvSpPr/>
          <p:nvPr/>
        </p:nvSpPr>
        <p:spPr>
          <a:xfrm>
            <a:off x="6964680" y="2429436"/>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11</a:t>
            </a:r>
            <a:endParaRPr kumimoji="1" lang="zh-CN" altLang="en-US" sz="1100" dirty="0"/>
          </a:p>
        </p:txBody>
      </p:sp>
      <p:sp>
        <p:nvSpPr>
          <p:cNvPr id="117" name="矩形 116">
            <a:extLst>
              <a:ext uri="{FF2B5EF4-FFF2-40B4-BE49-F238E27FC236}">
                <a16:creationId xmlns:a16="http://schemas.microsoft.com/office/drawing/2014/main" id="{24A8B423-69FD-DF70-2174-224097BC0101}"/>
              </a:ext>
            </a:extLst>
          </p:cNvPr>
          <p:cNvSpPr/>
          <p:nvPr/>
        </p:nvSpPr>
        <p:spPr>
          <a:xfrm>
            <a:off x="7322820" y="2429772"/>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12</a:t>
            </a:r>
            <a:endParaRPr kumimoji="1" lang="zh-CN" altLang="en-US" sz="1100" dirty="0"/>
          </a:p>
        </p:txBody>
      </p:sp>
      <p:sp>
        <p:nvSpPr>
          <p:cNvPr id="118" name="矩形 117">
            <a:extLst>
              <a:ext uri="{FF2B5EF4-FFF2-40B4-BE49-F238E27FC236}">
                <a16:creationId xmlns:a16="http://schemas.microsoft.com/office/drawing/2014/main" id="{8616F51E-AB90-D568-809C-14A1018BB068}"/>
              </a:ext>
            </a:extLst>
          </p:cNvPr>
          <p:cNvSpPr/>
          <p:nvPr/>
        </p:nvSpPr>
        <p:spPr>
          <a:xfrm>
            <a:off x="7673340" y="2429436"/>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13</a:t>
            </a:r>
            <a:endParaRPr kumimoji="1" lang="zh-CN" altLang="en-US" sz="1100" dirty="0"/>
          </a:p>
        </p:txBody>
      </p:sp>
      <p:sp>
        <p:nvSpPr>
          <p:cNvPr id="119" name="矩形 118">
            <a:extLst>
              <a:ext uri="{FF2B5EF4-FFF2-40B4-BE49-F238E27FC236}">
                <a16:creationId xmlns:a16="http://schemas.microsoft.com/office/drawing/2014/main" id="{A2F4512C-F793-218E-31EC-477B9510631B}"/>
              </a:ext>
            </a:extLst>
          </p:cNvPr>
          <p:cNvSpPr/>
          <p:nvPr/>
        </p:nvSpPr>
        <p:spPr>
          <a:xfrm>
            <a:off x="8023860" y="2429268"/>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14</a:t>
            </a:r>
            <a:endParaRPr kumimoji="1" lang="zh-CN" altLang="en-US" sz="1100" dirty="0"/>
          </a:p>
        </p:txBody>
      </p:sp>
      <p:sp>
        <p:nvSpPr>
          <p:cNvPr id="120" name="矩形 119">
            <a:extLst>
              <a:ext uri="{FF2B5EF4-FFF2-40B4-BE49-F238E27FC236}">
                <a16:creationId xmlns:a16="http://schemas.microsoft.com/office/drawing/2014/main" id="{89357154-5905-5D2D-8C85-97354C63E28E}"/>
              </a:ext>
            </a:extLst>
          </p:cNvPr>
          <p:cNvSpPr/>
          <p:nvPr/>
        </p:nvSpPr>
        <p:spPr>
          <a:xfrm>
            <a:off x="8374380" y="2428932"/>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15</a:t>
            </a:r>
            <a:endParaRPr kumimoji="1" lang="zh-CN" altLang="en-US" sz="1100" dirty="0"/>
          </a:p>
        </p:txBody>
      </p:sp>
      <p:sp>
        <p:nvSpPr>
          <p:cNvPr id="129" name="矩形 128">
            <a:extLst>
              <a:ext uri="{FF2B5EF4-FFF2-40B4-BE49-F238E27FC236}">
                <a16:creationId xmlns:a16="http://schemas.microsoft.com/office/drawing/2014/main" id="{A17AEDC1-48C5-BC54-E44C-7CD2D5FBF510}"/>
              </a:ext>
            </a:extLst>
          </p:cNvPr>
          <p:cNvSpPr/>
          <p:nvPr/>
        </p:nvSpPr>
        <p:spPr>
          <a:xfrm>
            <a:off x="5913120" y="3061900"/>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16</a:t>
            </a:r>
            <a:endParaRPr kumimoji="1" lang="zh-CN" altLang="en-US" sz="1100" dirty="0"/>
          </a:p>
        </p:txBody>
      </p:sp>
      <p:sp>
        <p:nvSpPr>
          <p:cNvPr id="130" name="矩形 129">
            <a:extLst>
              <a:ext uri="{FF2B5EF4-FFF2-40B4-BE49-F238E27FC236}">
                <a16:creationId xmlns:a16="http://schemas.microsoft.com/office/drawing/2014/main" id="{85312B41-3A44-A253-1FC6-674C5D9F456E}"/>
              </a:ext>
            </a:extLst>
          </p:cNvPr>
          <p:cNvSpPr/>
          <p:nvPr/>
        </p:nvSpPr>
        <p:spPr>
          <a:xfrm>
            <a:off x="6263640" y="3061564"/>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17</a:t>
            </a:r>
            <a:endParaRPr kumimoji="1" lang="zh-CN" altLang="en-US" sz="1100" dirty="0"/>
          </a:p>
        </p:txBody>
      </p:sp>
      <p:sp>
        <p:nvSpPr>
          <p:cNvPr id="131" name="矩形 130">
            <a:extLst>
              <a:ext uri="{FF2B5EF4-FFF2-40B4-BE49-F238E27FC236}">
                <a16:creationId xmlns:a16="http://schemas.microsoft.com/office/drawing/2014/main" id="{AC91940A-BEA2-0F99-BE3F-422895DC45B2}"/>
              </a:ext>
            </a:extLst>
          </p:cNvPr>
          <p:cNvSpPr/>
          <p:nvPr/>
        </p:nvSpPr>
        <p:spPr>
          <a:xfrm>
            <a:off x="6614160" y="3061396"/>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18</a:t>
            </a:r>
            <a:endParaRPr kumimoji="1" lang="zh-CN" altLang="en-US" sz="1100" dirty="0"/>
          </a:p>
        </p:txBody>
      </p:sp>
      <p:sp>
        <p:nvSpPr>
          <p:cNvPr id="132" name="矩形 131">
            <a:extLst>
              <a:ext uri="{FF2B5EF4-FFF2-40B4-BE49-F238E27FC236}">
                <a16:creationId xmlns:a16="http://schemas.microsoft.com/office/drawing/2014/main" id="{74100BD5-8A63-3DB7-2B04-664103BD11B0}"/>
              </a:ext>
            </a:extLst>
          </p:cNvPr>
          <p:cNvSpPr/>
          <p:nvPr/>
        </p:nvSpPr>
        <p:spPr>
          <a:xfrm>
            <a:off x="6964680" y="3061060"/>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19</a:t>
            </a:r>
            <a:endParaRPr kumimoji="1" lang="zh-CN" altLang="en-US" sz="1100" dirty="0"/>
          </a:p>
        </p:txBody>
      </p:sp>
      <p:sp>
        <p:nvSpPr>
          <p:cNvPr id="133" name="矩形 132">
            <a:extLst>
              <a:ext uri="{FF2B5EF4-FFF2-40B4-BE49-F238E27FC236}">
                <a16:creationId xmlns:a16="http://schemas.microsoft.com/office/drawing/2014/main" id="{A3D6FA4D-574C-A78E-41DC-60F837ECB3CE}"/>
              </a:ext>
            </a:extLst>
          </p:cNvPr>
          <p:cNvSpPr/>
          <p:nvPr/>
        </p:nvSpPr>
        <p:spPr>
          <a:xfrm>
            <a:off x="7322820" y="3061396"/>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20</a:t>
            </a:r>
            <a:endParaRPr kumimoji="1" lang="zh-CN" altLang="en-US" sz="1100" dirty="0"/>
          </a:p>
        </p:txBody>
      </p:sp>
      <p:sp>
        <p:nvSpPr>
          <p:cNvPr id="134" name="矩形 133">
            <a:extLst>
              <a:ext uri="{FF2B5EF4-FFF2-40B4-BE49-F238E27FC236}">
                <a16:creationId xmlns:a16="http://schemas.microsoft.com/office/drawing/2014/main" id="{8AD95BF3-724A-A2FE-0C8C-3DFA52AA4C82}"/>
              </a:ext>
            </a:extLst>
          </p:cNvPr>
          <p:cNvSpPr/>
          <p:nvPr/>
        </p:nvSpPr>
        <p:spPr>
          <a:xfrm>
            <a:off x="7673340" y="3061060"/>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21</a:t>
            </a:r>
            <a:endParaRPr kumimoji="1" lang="zh-CN" altLang="en-US" sz="1100" dirty="0"/>
          </a:p>
        </p:txBody>
      </p:sp>
      <p:sp>
        <p:nvSpPr>
          <p:cNvPr id="135" name="矩形 134">
            <a:extLst>
              <a:ext uri="{FF2B5EF4-FFF2-40B4-BE49-F238E27FC236}">
                <a16:creationId xmlns:a16="http://schemas.microsoft.com/office/drawing/2014/main" id="{3962ABA4-C58D-50CF-FD23-4B47E17806E3}"/>
              </a:ext>
            </a:extLst>
          </p:cNvPr>
          <p:cNvSpPr/>
          <p:nvPr/>
        </p:nvSpPr>
        <p:spPr>
          <a:xfrm>
            <a:off x="8023860" y="3060892"/>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22</a:t>
            </a:r>
            <a:endParaRPr kumimoji="1" lang="zh-CN" altLang="en-US" sz="1100" dirty="0"/>
          </a:p>
        </p:txBody>
      </p:sp>
      <p:sp>
        <p:nvSpPr>
          <p:cNvPr id="136" name="矩形 135">
            <a:extLst>
              <a:ext uri="{FF2B5EF4-FFF2-40B4-BE49-F238E27FC236}">
                <a16:creationId xmlns:a16="http://schemas.microsoft.com/office/drawing/2014/main" id="{58914FDB-B447-89A5-F6B1-3CCD8301BB37}"/>
              </a:ext>
            </a:extLst>
          </p:cNvPr>
          <p:cNvSpPr/>
          <p:nvPr/>
        </p:nvSpPr>
        <p:spPr>
          <a:xfrm>
            <a:off x="8374380" y="3060556"/>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23</a:t>
            </a:r>
            <a:endParaRPr kumimoji="1" lang="zh-CN" altLang="en-US" sz="1100" dirty="0"/>
          </a:p>
        </p:txBody>
      </p:sp>
      <p:sp>
        <p:nvSpPr>
          <p:cNvPr id="137" name="矩形 136">
            <a:extLst>
              <a:ext uri="{FF2B5EF4-FFF2-40B4-BE49-F238E27FC236}">
                <a16:creationId xmlns:a16="http://schemas.microsoft.com/office/drawing/2014/main" id="{096974BC-7E9E-D5F2-0E32-2D4CCCF46328}"/>
              </a:ext>
            </a:extLst>
          </p:cNvPr>
          <p:cNvSpPr/>
          <p:nvPr/>
        </p:nvSpPr>
        <p:spPr>
          <a:xfrm>
            <a:off x="5913120" y="3683774"/>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24</a:t>
            </a:r>
            <a:endParaRPr kumimoji="1" lang="zh-CN" altLang="en-US" sz="1100" dirty="0"/>
          </a:p>
        </p:txBody>
      </p:sp>
      <p:sp>
        <p:nvSpPr>
          <p:cNvPr id="138" name="矩形 137">
            <a:extLst>
              <a:ext uri="{FF2B5EF4-FFF2-40B4-BE49-F238E27FC236}">
                <a16:creationId xmlns:a16="http://schemas.microsoft.com/office/drawing/2014/main" id="{C65785F5-DD56-3DC3-9AAC-74F4FD6043F6}"/>
              </a:ext>
            </a:extLst>
          </p:cNvPr>
          <p:cNvSpPr/>
          <p:nvPr/>
        </p:nvSpPr>
        <p:spPr>
          <a:xfrm>
            <a:off x="6263640" y="3683438"/>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25</a:t>
            </a:r>
            <a:endParaRPr kumimoji="1" lang="zh-CN" altLang="en-US" sz="1100" dirty="0"/>
          </a:p>
        </p:txBody>
      </p:sp>
      <p:sp>
        <p:nvSpPr>
          <p:cNvPr id="139" name="矩形 138">
            <a:extLst>
              <a:ext uri="{FF2B5EF4-FFF2-40B4-BE49-F238E27FC236}">
                <a16:creationId xmlns:a16="http://schemas.microsoft.com/office/drawing/2014/main" id="{6C242787-CD03-EC15-E535-76C6B8F1B3E7}"/>
              </a:ext>
            </a:extLst>
          </p:cNvPr>
          <p:cNvSpPr/>
          <p:nvPr/>
        </p:nvSpPr>
        <p:spPr>
          <a:xfrm>
            <a:off x="6614160" y="3683270"/>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26</a:t>
            </a:r>
            <a:endParaRPr kumimoji="1" lang="zh-CN" altLang="en-US" sz="1100" dirty="0"/>
          </a:p>
        </p:txBody>
      </p:sp>
      <p:sp>
        <p:nvSpPr>
          <p:cNvPr id="140" name="矩形 139">
            <a:extLst>
              <a:ext uri="{FF2B5EF4-FFF2-40B4-BE49-F238E27FC236}">
                <a16:creationId xmlns:a16="http://schemas.microsoft.com/office/drawing/2014/main" id="{6103E262-50E9-1947-44F7-740CFB80DD30}"/>
              </a:ext>
            </a:extLst>
          </p:cNvPr>
          <p:cNvSpPr/>
          <p:nvPr/>
        </p:nvSpPr>
        <p:spPr>
          <a:xfrm>
            <a:off x="6964680" y="3682934"/>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27</a:t>
            </a:r>
            <a:endParaRPr kumimoji="1" lang="zh-CN" altLang="en-US" sz="1100" dirty="0"/>
          </a:p>
        </p:txBody>
      </p:sp>
      <p:sp>
        <p:nvSpPr>
          <p:cNvPr id="141" name="矩形 140">
            <a:extLst>
              <a:ext uri="{FF2B5EF4-FFF2-40B4-BE49-F238E27FC236}">
                <a16:creationId xmlns:a16="http://schemas.microsoft.com/office/drawing/2014/main" id="{DF772473-0620-02A5-01CC-60120243DDE9}"/>
              </a:ext>
            </a:extLst>
          </p:cNvPr>
          <p:cNvSpPr/>
          <p:nvPr/>
        </p:nvSpPr>
        <p:spPr>
          <a:xfrm>
            <a:off x="7322820" y="3683270"/>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28</a:t>
            </a:r>
            <a:endParaRPr kumimoji="1" lang="zh-CN" altLang="en-US" sz="1100" dirty="0"/>
          </a:p>
        </p:txBody>
      </p:sp>
      <p:sp>
        <p:nvSpPr>
          <p:cNvPr id="142" name="矩形 141">
            <a:extLst>
              <a:ext uri="{FF2B5EF4-FFF2-40B4-BE49-F238E27FC236}">
                <a16:creationId xmlns:a16="http://schemas.microsoft.com/office/drawing/2014/main" id="{019C2897-2451-790B-6E90-893BB855F330}"/>
              </a:ext>
            </a:extLst>
          </p:cNvPr>
          <p:cNvSpPr/>
          <p:nvPr/>
        </p:nvSpPr>
        <p:spPr>
          <a:xfrm>
            <a:off x="7673340" y="3682934"/>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29</a:t>
            </a:r>
            <a:endParaRPr kumimoji="1" lang="zh-CN" altLang="en-US" sz="1100" dirty="0"/>
          </a:p>
        </p:txBody>
      </p:sp>
      <p:sp>
        <p:nvSpPr>
          <p:cNvPr id="143" name="矩形 142">
            <a:extLst>
              <a:ext uri="{FF2B5EF4-FFF2-40B4-BE49-F238E27FC236}">
                <a16:creationId xmlns:a16="http://schemas.microsoft.com/office/drawing/2014/main" id="{C9D13FBD-DDE1-0DEF-3733-64B8B744656D}"/>
              </a:ext>
            </a:extLst>
          </p:cNvPr>
          <p:cNvSpPr/>
          <p:nvPr/>
        </p:nvSpPr>
        <p:spPr>
          <a:xfrm>
            <a:off x="8023860" y="3682766"/>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30</a:t>
            </a:r>
            <a:endParaRPr kumimoji="1" lang="zh-CN" altLang="en-US" sz="1100" dirty="0"/>
          </a:p>
        </p:txBody>
      </p:sp>
      <p:sp>
        <p:nvSpPr>
          <p:cNvPr id="144" name="矩形 143">
            <a:extLst>
              <a:ext uri="{FF2B5EF4-FFF2-40B4-BE49-F238E27FC236}">
                <a16:creationId xmlns:a16="http://schemas.microsoft.com/office/drawing/2014/main" id="{9CA6CAA2-F7EF-89A4-063A-DC0ABC3593C5}"/>
              </a:ext>
            </a:extLst>
          </p:cNvPr>
          <p:cNvSpPr/>
          <p:nvPr/>
        </p:nvSpPr>
        <p:spPr>
          <a:xfrm>
            <a:off x="8374380" y="3682430"/>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31</a:t>
            </a:r>
            <a:endParaRPr kumimoji="1" lang="zh-CN" altLang="en-US" sz="1100" dirty="0"/>
          </a:p>
        </p:txBody>
      </p:sp>
      <p:sp>
        <p:nvSpPr>
          <p:cNvPr id="147" name="文本框 146">
            <a:extLst>
              <a:ext uri="{FF2B5EF4-FFF2-40B4-BE49-F238E27FC236}">
                <a16:creationId xmlns:a16="http://schemas.microsoft.com/office/drawing/2014/main" id="{A95ABC6D-EBFC-601F-6E27-8B2853CB31E7}"/>
              </a:ext>
            </a:extLst>
          </p:cNvPr>
          <p:cNvSpPr txBox="1"/>
          <p:nvPr/>
        </p:nvSpPr>
        <p:spPr>
          <a:xfrm>
            <a:off x="5154930" y="2806065"/>
            <a:ext cx="582930" cy="369332"/>
          </a:xfrm>
          <a:prstGeom prst="rect">
            <a:avLst/>
          </a:prstGeom>
          <a:noFill/>
        </p:spPr>
        <p:txBody>
          <a:bodyPr wrap="square" rtlCol="0">
            <a:spAutoFit/>
          </a:bodyPr>
          <a:lstStyle/>
          <a:p>
            <a:r>
              <a:rPr kumimoji="1" lang="en-US" altLang="zh-CN" dirty="0"/>
              <a:t>K1</a:t>
            </a:r>
            <a:endParaRPr kumimoji="1" lang="zh-CN" altLang="en-US" dirty="0"/>
          </a:p>
        </p:txBody>
      </p:sp>
      <p:sp>
        <p:nvSpPr>
          <p:cNvPr id="148" name="文本框 147">
            <a:extLst>
              <a:ext uri="{FF2B5EF4-FFF2-40B4-BE49-F238E27FC236}">
                <a16:creationId xmlns:a16="http://schemas.microsoft.com/office/drawing/2014/main" id="{E13FE0AF-19F2-1A96-9E25-E4DFAE0549A8}"/>
              </a:ext>
            </a:extLst>
          </p:cNvPr>
          <p:cNvSpPr txBox="1"/>
          <p:nvPr/>
        </p:nvSpPr>
        <p:spPr>
          <a:xfrm>
            <a:off x="6673215" y="1001022"/>
            <a:ext cx="582930" cy="369332"/>
          </a:xfrm>
          <a:prstGeom prst="rect">
            <a:avLst/>
          </a:prstGeom>
          <a:noFill/>
        </p:spPr>
        <p:txBody>
          <a:bodyPr wrap="square" rtlCol="0">
            <a:spAutoFit/>
          </a:bodyPr>
          <a:lstStyle/>
          <a:p>
            <a:r>
              <a:rPr kumimoji="1" lang="en-US" altLang="zh-CN" dirty="0"/>
              <a:t>N1</a:t>
            </a:r>
            <a:endParaRPr kumimoji="1" lang="zh-CN" altLang="en-US" dirty="0"/>
          </a:p>
        </p:txBody>
      </p:sp>
      <p:sp>
        <p:nvSpPr>
          <p:cNvPr id="151" name="文本框 150">
            <a:extLst>
              <a:ext uri="{FF2B5EF4-FFF2-40B4-BE49-F238E27FC236}">
                <a16:creationId xmlns:a16="http://schemas.microsoft.com/office/drawing/2014/main" id="{4918EC88-A3B3-0205-0234-38042A4EDDB9}"/>
              </a:ext>
            </a:extLst>
          </p:cNvPr>
          <p:cNvSpPr txBox="1"/>
          <p:nvPr/>
        </p:nvSpPr>
        <p:spPr>
          <a:xfrm>
            <a:off x="634365" y="4826675"/>
            <a:ext cx="4053840" cy="2031325"/>
          </a:xfrm>
          <a:prstGeom prst="rect">
            <a:avLst/>
          </a:prstGeom>
          <a:noFill/>
        </p:spPr>
        <p:txBody>
          <a:bodyPr wrap="square" rtlCol="0">
            <a:spAutoFit/>
          </a:bodyPr>
          <a:lstStyle/>
          <a:p>
            <a:r>
              <a:rPr kumimoji="1" lang="zh-CN" altLang="en-US" dirty="0"/>
              <a:t>每行从核上获取的是不同的</a:t>
            </a:r>
            <a:r>
              <a:rPr kumimoji="1" lang="en-US" altLang="zh-CN" dirty="0"/>
              <a:t>m/n,</a:t>
            </a:r>
            <a:r>
              <a:rPr kumimoji="1" lang="zh-CN" altLang="en-US" dirty="0"/>
              <a:t>但是是同样的</a:t>
            </a:r>
            <a:r>
              <a:rPr kumimoji="1" lang="en-US" altLang="zh-CN" dirty="0"/>
              <a:t>k</a:t>
            </a:r>
            <a:r>
              <a:rPr kumimoji="1" lang="zh-CN" altLang="en-US" dirty="0"/>
              <a:t>。</a:t>
            </a:r>
            <a:endParaRPr kumimoji="1" lang="en-US" altLang="zh-CN" dirty="0"/>
          </a:p>
          <a:p>
            <a:r>
              <a:rPr kumimoji="1" lang="zh-CN" altLang="en-US" dirty="0"/>
              <a:t>每列从核上获取的是不同的</a:t>
            </a:r>
            <a:r>
              <a:rPr kumimoji="1" lang="en-US" altLang="zh-CN" dirty="0"/>
              <a:t>k</a:t>
            </a:r>
            <a:r>
              <a:rPr kumimoji="1" lang="zh-CN" altLang="en-US" dirty="0"/>
              <a:t>，但是是同一个</a:t>
            </a:r>
            <a:r>
              <a:rPr kumimoji="1" lang="en-US" altLang="zh-CN" dirty="0"/>
              <a:t>m/n</a:t>
            </a:r>
            <a:r>
              <a:rPr kumimoji="1" lang="zh-CN" altLang="en-US" dirty="0"/>
              <a:t>。</a:t>
            </a:r>
            <a:endParaRPr kumimoji="1" lang="en-US" altLang="zh-CN" dirty="0"/>
          </a:p>
          <a:p>
            <a:r>
              <a:rPr kumimoji="1" lang="zh-CN" altLang="en-US" dirty="0"/>
              <a:t>根据矩阵乘的计算公式可知，同行之间需要做子矩阵乘，列之间需要做</a:t>
            </a:r>
            <a:r>
              <a:rPr kumimoji="1" lang="en-US" altLang="zh-CN" dirty="0"/>
              <a:t>reduce</a:t>
            </a:r>
            <a:r>
              <a:rPr kumimoji="1" lang="zh-CN" altLang="en-US" dirty="0"/>
              <a:t>。</a:t>
            </a:r>
          </a:p>
        </p:txBody>
      </p:sp>
      <p:sp>
        <p:nvSpPr>
          <p:cNvPr id="152" name="矩形 151">
            <a:extLst>
              <a:ext uri="{FF2B5EF4-FFF2-40B4-BE49-F238E27FC236}">
                <a16:creationId xmlns:a16="http://schemas.microsoft.com/office/drawing/2014/main" id="{C9D9D6A9-4640-7798-15E3-0B074040130D}"/>
              </a:ext>
            </a:extLst>
          </p:cNvPr>
          <p:cNvSpPr/>
          <p:nvPr/>
        </p:nvSpPr>
        <p:spPr>
          <a:xfrm>
            <a:off x="6442710" y="4826675"/>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53" name="文本框 152">
            <a:extLst>
              <a:ext uri="{FF2B5EF4-FFF2-40B4-BE49-F238E27FC236}">
                <a16:creationId xmlns:a16="http://schemas.microsoft.com/office/drawing/2014/main" id="{BD8BAB66-358E-A5C1-A46E-E17BFE6ED6DF}"/>
              </a:ext>
            </a:extLst>
          </p:cNvPr>
          <p:cNvSpPr txBox="1"/>
          <p:nvPr/>
        </p:nvSpPr>
        <p:spPr>
          <a:xfrm>
            <a:off x="5842907" y="4853464"/>
            <a:ext cx="582930" cy="369332"/>
          </a:xfrm>
          <a:prstGeom prst="rect">
            <a:avLst/>
          </a:prstGeom>
          <a:noFill/>
        </p:spPr>
        <p:txBody>
          <a:bodyPr wrap="square" rtlCol="0">
            <a:spAutoFit/>
          </a:bodyPr>
          <a:lstStyle/>
          <a:p>
            <a:r>
              <a:rPr kumimoji="1" lang="en-US" altLang="zh-CN" dirty="0"/>
              <a:t>M2</a:t>
            </a:r>
            <a:endParaRPr kumimoji="1" lang="zh-CN" altLang="en-US" dirty="0"/>
          </a:p>
        </p:txBody>
      </p:sp>
      <p:sp>
        <p:nvSpPr>
          <p:cNvPr id="154" name="文本框 153">
            <a:extLst>
              <a:ext uri="{FF2B5EF4-FFF2-40B4-BE49-F238E27FC236}">
                <a16:creationId xmlns:a16="http://schemas.microsoft.com/office/drawing/2014/main" id="{4C7770E5-5561-FCC1-EC4C-CE79F8CEF3BD}"/>
              </a:ext>
            </a:extLst>
          </p:cNvPr>
          <p:cNvSpPr txBox="1"/>
          <p:nvPr/>
        </p:nvSpPr>
        <p:spPr>
          <a:xfrm>
            <a:off x="6546669" y="4456839"/>
            <a:ext cx="582930" cy="369332"/>
          </a:xfrm>
          <a:prstGeom prst="rect">
            <a:avLst/>
          </a:prstGeom>
          <a:noFill/>
        </p:spPr>
        <p:txBody>
          <a:bodyPr wrap="square" rtlCol="0">
            <a:spAutoFit/>
          </a:bodyPr>
          <a:lstStyle/>
          <a:p>
            <a:r>
              <a:rPr kumimoji="1" lang="en-US" altLang="zh-CN" dirty="0"/>
              <a:t>K2</a:t>
            </a:r>
            <a:endParaRPr kumimoji="1" lang="zh-CN" altLang="en-US" dirty="0"/>
          </a:p>
        </p:txBody>
      </p:sp>
      <p:sp>
        <p:nvSpPr>
          <p:cNvPr id="155" name="矩形 154">
            <a:extLst>
              <a:ext uri="{FF2B5EF4-FFF2-40B4-BE49-F238E27FC236}">
                <a16:creationId xmlns:a16="http://schemas.microsoft.com/office/drawing/2014/main" id="{13ECE3CF-B75F-E184-ACB1-012104A6F018}"/>
              </a:ext>
            </a:extLst>
          </p:cNvPr>
          <p:cNvSpPr/>
          <p:nvPr/>
        </p:nvSpPr>
        <p:spPr>
          <a:xfrm>
            <a:off x="8109041" y="4566247"/>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100" dirty="0"/>
          </a:p>
        </p:txBody>
      </p:sp>
      <p:sp>
        <p:nvSpPr>
          <p:cNvPr id="156" name="文本框 155">
            <a:extLst>
              <a:ext uri="{FF2B5EF4-FFF2-40B4-BE49-F238E27FC236}">
                <a16:creationId xmlns:a16="http://schemas.microsoft.com/office/drawing/2014/main" id="{194FEF74-BEA3-BE34-9C0A-B01193C955CE}"/>
              </a:ext>
            </a:extLst>
          </p:cNvPr>
          <p:cNvSpPr txBox="1"/>
          <p:nvPr/>
        </p:nvSpPr>
        <p:spPr>
          <a:xfrm>
            <a:off x="7673340" y="4700390"/>
            <a:ext cx="582930" cy="369332"/>
          </a:xfrm>
          <a:prstGeom prst="rect">
            <a:avLst/>
          </a:prstGeom>
          <a:noFill/>
        </p:spPr>
        <p:txBody>
          <a:bodyPr wrap="square" rtlCol="0">
            <a:spAutoFit/>
          </a:bodyPr>
          <a:lstStyle/>
          <a:p>
            <a:r>
              <a:rPr kumimoji="1" lang="en-US" altLang="zh-CN" dirty="0"/>
              <a:t>K2</a:t>
            </a:r>
            <a:endParaRPr kumimoji="1" lang="zh-CN" altLang="en-US" dirty="0"/>
          </a:p>
        </p:txBody>
      </p:sp>
      <p:sp>
        <p:nvSpPr>
          <p:cNvPr id="157" name="文本框 156">
            <a:extLst>
              <a:ext uri="{FF2B5EF4-FFF2-40B4-BE49-F238E27FC236}">
                <a16:creationId xmlns:a16="http://schemas.microsoft.com/office/drawing/2014/main" id="{9BB39B3A-C084-9D99-9A53-FB4A843ACF8F}"/>
              </a:ext>
            </a:extLst>
          </p:cNvPr>
          <p:cNvSpPr txBox="1"/>
          <p:nvPr/>
        </p:nvSpPr>
        <p:spPr>
          <a:xfrm>
            <a:off x="8082915" y="5338008"/>
            <a:ext cx="582930" cy="369332"/>
          </a:xfrm>
          <a:prstGeom prst="rect">
            <a:avLst/>
          </a:prstGeom>
          <a:noFill/>
        </p:spPr>
        <p:txBody>
          <a:bodyPr wrap="square" rtlCol="0">
            <a:spAutoFit/>
          </a:bodyPr>
          <a:lstStyle/>
          <a:p>
            <a:r>
              <a:rPr kumimoji="1" lang="en-US" altLang="zh-CN" dirty="0"/>
              <a:t>N2</a:t>
            </a:r>
            <a:endParaRPr kumimoji="1" lang="zh-CN" altLang="en-US" dirty="0"/>
          </a:p>
        </p:txBody>
      </p:sp>
    </p:spTree>
    <p:extLst>
      <p:ext uri="{BB962C8B-B14F-4D97-AF65-F5344CB8AC3E}">
        <p14:creationId xmlns:p14="http://schemas.microsoft.com/office/powerpoint/2010/main" val="24945655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295275" y="422752"/>
            <a:ext cx="10515600" cy="515184"/>
          </a:xfrm>
        </p:spPr>
        <p:txBody>
          <a:bodyPr/>
          <a:lstStyle/>
          <a:p>
            <a:r>
              <a:rPr lang="zh-CN" altLang="en-US" dirty="0"/>
              <a:t>方案介绍</a:t>
            </a:r>
          </a:p>
        </p:txBody>
      </p:sp>
      <p:sp>
        <p:nvSpPr>
          <p:cNvPr id="5" name="矩形 4">
            <a:extLst>
              <a:ext uri="{FF2B5EF4-FFF2-40B4-BE49-F238E27FC236}">
                <a16:creationId xmlns:a16="http://schemas.microsoft.com/office/drawing/2014/main" id="{16BB1C70-1DFD-0BF1-CED8-30940E15B35B}"/>
              </a:ext>
            </a:extLst>
          </p:cNvPr>
          <p:cNvSpPr/>
          <p:nvPr/>
        </p:nvSpPr>
        <p:spPr>
          <a:xfrm>
            <a:off x="971550" y="2682054"/>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0</a:t>
            </a:r>
            <a:endParaRPr kumimoji="1" lang="zh-CN" altLang="en-US" dirty="0"/>
          </a:p>
        </p:txBody>
      </p:sp>
      <p:sp>
        <p:nvSpPr>
          <p:cNvPr id="10" name="矩形 9">
            <a:extLst>
              <a:ext uri="{FF2B5EF4-FFF2-40B4-BE49-F238E27FC236}">
                <a16:creationId xmlns:a16="http://schemas.microsoft.com/office/drawing/2014/main" id="{CF83EB2B-9672-B59D-F71D-0C5AB2CC5367}"/>
              </a:ext>
            </a:extLst>
          </p:cNvPr>
          <p:cNvSpPr/>
          <p:nvPr/>
        </p:nvSpPr>
        <p:spPr>
          <a:xfrm>
            <a:off x="971550" y="3059244"/>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11" name="矩形 10">
            <a:extLst>
              <a:ext uri="{FF2B5EF4-FFF2-40B4-BE49-F238E27FC236}">
                <a16:creationId xmlns:a16="http://schemas.microsoft.com/office/drawing/2014/main" id="{06BCEE46-BFB4-F541-495B-BB41EFE53592}"/>
              </a:ext>
            </a:extLst>
          </p:cNvPr>
          <p:cNvSpPr/>
          <p:nvPr/>
        </p:nvSpPr>
        <p:spPr>
          <a:xfrm>
            <a:off x="971550" y="3442149"/>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12" name="矩形 11">
            <a:extLst>
              <a:ext uri="{FF2B5EF4-FFF2-40B4-BE49-F238E27FC236}">
                <a16:creationId xmlns:a16="http://schemas.microsoft.com/office/drawing/2014/main" id="{73F52965-C29E-D665-3B3D-D81555200312}"/>
              </a:ext>
            </a:extLst>
          </p:cNvPr>
          <p:cNvSpPr/>
          <p:nvPr/>
        </p:nvSpPr>
        <p:spPr>
          <a:xfrm>
            <a:off x="971550" y="3819339"/>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17" name="矩形 16">
            <a:extLst>
              <a:ext uri="{FF2B5EF4-FFF2-40B4-BE49-F238E27FC236}">
                <a16:creationId xmlns:a16="http://schemas.microsoft.com/office/drawing/2014/main" id="{2E51993F-F71D-E847-E182-1DD0E0426A7B}"/>
              </a:ext>
            </a:extLst>
          </p:cNvPr>
          <p:cNvSpPr/>
          <p:nvPr/>
        </p:nvSpPr>
        <p:spPr>
          <a:xfrm>
            <a:off x="971550" y="4196529"/>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endParaRPr kumimoji="1" lang="zh-CN" altLang="en-US" dirty="0"/>
          </a:p>
        </p:txBody>
      </p:sp>
      <p:sp>
        <p:nvSpPr>
          <p:cNvPr id="26" name="矩形 25">
            <a:extLst>
              <a:ext uri="{FF2B5EF4-FFF2-40B4-BE49-F238E27FC236}">
                <a16:creationId xmlns:a16="http://schemas.microsoft.com/office/drawing/2014/main" id="{F23AA9F8-02AA-86D8-71C3-33A7ACCBDD65}"/>
              </a:ext>
            </a:extLst>
          </p:cNvPr>
          <p:cNvSpPr/>
          <p:nvPr/>
        </p:nvSpPr>
        <p:spPr>
          <a:xfrm>
            <a:off x="971550" y="4573719"/>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5</a:t>
            </a:r>
            <a:endParaRPr kumimoji="1" lang="zh-CN" altLang="en-US" dirty="0"/>
          </a:p>
        </p:txBody>
      </p:sp>
      <p:sp>
        <p:nvSpPr>
          <p:cNvPr id="27" name="矩形 26">
            <a:extLst>
              <a:ext uri="{FF2B5EF4-FFF2-40B4-BE49-F238E27FC236}">
                <a16:creationId xmlns:a16="http://schemas.microsoft.com/office/drawing/2014/main" id="{6466FC0B-15D1-4764-D035-2FC8DCDC5129}"/>
              </a:ext>
            </a:extLst>
          </p:cNvPr>
          <p:cNvSpPr/>
          <p:nvPr/>
        </p:nvSpPr>
        <p:spPr>
          <a:xfrm>
            <a:off x="971550" y="4956624"/>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6</a:t>
            </a:r>
            <a:endParaRPr kumimoji="1" lang="zh-CN" altLang="en-US" dirty="0"/>
          </a:p>
        </p:txBody>
      </p:sp>
      <p:sp>
        <p:nvSpPr>
          <p:cNvPr id="28" name="矩形 27">
            <a:extLst>
              <a:ext uri="{FF2B5EF4-FFF2-40B4-BE49-F238E27FC236}">
                <a16:creationId xmlns:a16="http://schemas.microsoft.com/office/drawing/2014/main" id="{DDC7AD1A-0916-B205-F6A1-B07BFF94D500}"/>
              </a:ext>
            </a:extLst>
          </p:cNvPr>
          <p:cNvSpPr/>
          <p:nvPr/>
        </p:nvSpPr>
        <p:spPr>
          <a:xfrm>
            <a:off x="971550" y="5333814"/>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7</a:t>
            </a:r>
            <a:endParaRPr kumimoji="1" lang="zh-CN" altLang="en-US" dirty="0"/>
          </a:p>
        </p:txBody>
      </p:sp>
      <p:sp>
        <p:nvSpPr>
          <p:cNvPr id="66" name="文本框 65">
            <a:extLst>
              <a:ext uri="{FF2B5EF4-FFF2-40B4-BE49-F238E27FC236}">
                <a16:creationId xmlns:a16="http://schemas.microsoft.com/office/drawing/2014/main" id="{1B80F90D-2EB4-BB1D-471D-CE7A9E994023}"/>
              </a:ext>
            </a:extLst>
          </p:cNvPr>
          <p:cNvSpPr txBox="1"/>
          <p:nvPr/>
        </p:nvSpPr>
        <p:spPr>
          <a:xfrm>
            <a:off x="342900" y="3859344"/>
            <a:ext cx="582930" cy="369332"/>
          </a:xfrm>
          <a:prstGeom prst="rect">
            <a:avLst/>
          </a:prstGeom>
          <a:noFill/>
        </p:spPr>
        <p:txBody>
          <a:bodyPr wrap="square" rtlCol="0">
            <a:spAutoFit/>
          </a:bodyPr>
          <a:lstStyle/>
          <a:p>
            <a:r>
              <a:rPr kumimoji="1" lang="en-US" altLang="zh-CN" dirty="0"/>
              <a:t>M1</a:t>
            </a:r>
            <a:endParaRPr kumimoji="1" lang="zh-CN" altLang="en-US" dirty="0"/>
          </a:p>
        </p:txBody>
      </p:sp>
      <p:sp>
        <p:nvSpPr>
          <p:cNvPr id="67" name="文本框 66">
            <a:extLst>
              <a:ext uri="{FF2B5EF4-FFF2-40B4-BE49-F238E27FC236}">
                <a16:creationId xmlns:a16="http://schemas.microsoft.com/office/drawing/2014/main" id="{944F78D5-7562-A97E-3F42-4107D7CD67C3}"/>
              </a:ext>
            </a:extLst>
          </p:cNvPr>
          <p:cNvSpPr txBox="1"/>
          <p:nvPr/>
        </p:nvSpPr>
        <p:spPr>
          <a:xfrm>
            <a:off x="1085850" y="2176396"/>
            <a:ext cx="582930" cy="369332"/>
          </a:xfrm>
          <a:prstGeom prst="rect">
            <a:avLst/>
          </a:prstGeom>
          <a:noFill/>
        </p:spPr>
        <p:txBody>
          <a:bodyPr wrap="square" rtlCol="0">
            <a:spAutoFit/>
          </a:bodyPr>
          <a:lstStyle/>
          <a:p>
            <a:r>
              <a:rPr kumimoji="1" lang="en-US" altLang="zh-CN" dirty="0"/>
              <a:t>K2</a:t>
            </a:r>
            <a:endParaRPr kumimoji="1" lang="zh-CN" altLang="en-US" dirty="0"/>
          </a:p>
        </p:txBody>
      </p:sp>
      <p:sp>
        <p:nvSpPr>
          <p:cNvPr id="102" name="矩形 101">
            <a:extLst>
              <a:ext uri="{FF2B5EF4-FFF2-40B4-BE49-F238E27FC236}">
                <a16:creationId xmlns:a16="http://schemas.microsoft.com/office/drawing/2014/main" id="{B9B563C3-813A-A2BE-351B-592E80A26AE1}"/>
              </a:ext>
            </a:extLst>
          </p:cNvPr>
          <p:cNvSpPr/>
          <p:nvPr/>
        </p:nvSpPr>
        <p:spPr>
          <a:xfrm>
            <a:off x="2518410" y="1781546"/>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0</a:t>
            </a:r>
            <a:endParaRPr kumimoji="1" lang="zh-CN" altLang="en-US" sz="1100" dirty="0"/>
          </a:p>
        </p:txBody>
      </p:sp>
      <p:sp>
        <p:nvSpPr>
          <p:cNvPr id="103" name="矩形 102">
            <a:extLst>
              <a:ext uri="{FF2B5EF4-FFF2-40B4-BE49-F238E27FC236}">
                <a16:creationId xmlns:a16="http://schemas.microsoft.com/office/drawing/2014/main" id="{AE74748B-2F40-DE5E-0E84-2C9EB029753C}"/>
              </a:ext>
            </a:extLst>
          </p:cNvPr>
          <p:cNvSpPr/>
          <p:nvPr/>
        </p:nvSpPr>
        <p:spPr>
          <a:xfrm>
            <a:off x="2868930" y="1781210"/>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a:t>
            </a:r>
            <a:endParaRPr kumimoji="1" lang="zh-CN" altLang="en-US" sz="1100" dirty="0"/>
          </a:p>
        </p:txBody>
      </p:sp>
      <p:sp>
        <p:nvSpPr>
          <p:cNvPr id="107" name="矩形 106">
            <a:extLst>
              <a:ext uri="{FF2B5EF4-FFF2-40B4-BE49-F238E27FC236}">
                <a16:creationId xmlns:a16="http://schemas.microsoft.com/office/drawing/2014/main" id="{077E6AE8-EEC9-FA77-6F82-741EAE1DF125}"/>
              </a:ext>
            </a:extLst>
          </p:cNvPr>
          <p:cNvSpPr/>
          <p:nvPr/>
        </p:nvSpPr>
        <p:spPr>
          <a:xfrm>
            <a:off x="3219450" y="1781042"/>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2</a:t>
            </a:r>
            <a:endParaRPr kumimoji="1" lang="zh-CN" altLang="en-US" sz="1100" dirty="0"/>
          </a:p>
        </p:txBody>
      </p:sp>
      <p:sp>
        <p:nvSpPr>
          <p:cNvPr id="108" name="矩形 107">
            <a:extLst>
              <a:ext uri="{FF2B5EF4-FFF2-40B4-BE49-F238E27FC236}">
                <a16:creationId xmlns:a16="http://schemas.microsoft.com/office/drawing/2014/main" id="{0804F25C-B610-5672-BBDF-CC04439CB80F}"/>
              </a:ext>
            </a:extLst>
          </p:cNvPr>
          <p:cNvSpPr/>
          <p:nvPr/>
        </p:nvSpPr>
        <p:spPr>
          <a:xfrm>
            <a:off x="3569970" y="1780706"/>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3</a:t>
            </a:r>
            <a:endParaRPr kumimoji="1" lang="zh-CN" altLang="en-US" sz="1100" dirty="0"/>
          </a:p>
        </p:txBody>
      </p:sp>
      <p:sp>
        <p:nvSpPr>
          <p:cNvPr id="109" name="矩形 108">
            <a:extLst>
              <a:ext uri="{FF2B5EF4-FFF2-40B4-BE49-F238E27FC236}">
                <a16:creationId xmlns:a16="http://schemas.microsoft.com/office/drawing/2014/main" id="{CFB9F46E-7BC2-9A50-DF6E-651DC6C11CD8}"/>
              </a:ext>
            </a:extLst>
          </p:cNvPr>
          <p:cNvSpPr/>
          <p:nvPr/>
        </p:nvSpPr>
        <p:spPr>
          <a:xfrm>
            <a:off x="3928110" y="1781042"/>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4</a:t>
            </a:r>
            <a:endParaRPr kumimoji="1" lang="zh-CN" altLang="en-US" sz="1100" dirty="0"/>
          </a:p>
        </p:txBody>
      </p:sp>
      <p:sp>
        <p:nvSpPr>
          <p:cNvPr id="110" name="矩形 109">
            <a:extLst>
              <a:ext uri="{FF2B5EF4-FFF2-40B4-BE49-F238E27FC236}">
                <a16:creationId xmlns:a16="http://schemas.microsoft.com/office/drawing/2014/main" id="{855CFAF3-B604-14D5-5C71-5E1A74F1853F}"/>
              </a:ext>
            </a:extLst>
          </p:cNvPr>
          <p:cNvSpPr/>
          <p:nvPr/>
        </p:nvSpPr>
        <p:spPr>
          <a:xfrm>
            <a:off x="4278630" y="1780706"/>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5</a:t>
            </a:r>
            <a:endParaRPr kumimoji="1" lang="zh-CN" altLang="en-US" sz="1100" dirty="0"/>
          </a:p>
        </p:txBody>
      </p:sp>
      <p:sp>
        <p:nvSpPr>
          <p:cNvPr id="111" name="矩形 110">
            <a:extLst>
              <a:ext uri="{FF2B5EF4-FFF2-40B4-BE49-F238E27FC236}">
                <a16:creationId xmlns:a16="http://schemas.microsoft.com/office/drawing/2014/main" id="{EAC2680D-DFAD-EE17-618D-417558970B2F}"/>
              </a:ext>
            </a:extLst>
          </p:cNvPr>
          <p:cNvSpPr/>
          <p:nvPr/>
        </p:nvSpPr>
        <p:spPr>
          <a:xfrm>
            <a:off x="4629150" y="1780538"/>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6</a:t>
            </a:r>
            <a:endParaRPr kumimoji="1" lang="zh-CN" altLang="en-US" sz="1100" dirty="0"/>
          </a:p>
        </p:txBody>
      </p:sp>
      <p:sp>
        <p:nvSpPr>
          <p:cNvPr id="112" name="矩形 111">
            <a:extLst>
              <a:ext uri="{FF2B5EF4-FFF2-40B4-BE49-F238E27FC236}">
                <a16:creationId xmlns:a16="http://schemas.microsoft.com/office/drawing/2014/main" id="{6D07DD4C-DA40-9EDE-DB43-48F0E05B6178}"/>
              </a:ext>
            </a:extLst>
          </p:cNvPr>
          <p:cNvSpPr/>
          <p:nvPr/>
        </p:nvSpPr>
        <p:spPr>
          <a:xfrm>
            <a:off x="4979670" y="1780202"/>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7</a:t>
            </a:r>
            <a:endParaRPr kumimoji="1" lang="zh-CN" altLang="en-US" sz="1100" dirty="0"/>
          </a:p>
        </p:txBody>
      </p:sp>
      <p:sp>
        <p:nvSpPr>
          <p:cNvPr id="147" name="文本框 146">
            <a:extLst>
              <a:ext uri="{FF2B5EF4-FFF2-40B4-BE49-F238E27FC236}">
                <a16:creationId xmlns:a16="http://schemas.microsoft.com/office/drawing/2014/main" id="{A95ABC6D-EBFC-601F-6E27-8B2853CB31E7}"/>
              </a:ext>
            </a:extLst>
          </p:cNvPr>
          <p:cNvSpPr txBox="1"/>
          <p:nvPr/>
        </p:nvSpPr>
        <p:spPr>
          <a:xfrm>
            <a:off x="1935480" y="1843358"/>
            <a:ext cx="582930" cy="369332"/>
          </a:xfrm>
          <a:prstGeom prst="rect">
            <a:avLst/>
          </a:prstGeom>
          <a:noFill/>
        </p:spPr>
        <p:txBody>
          <a:bodyPr wrap="square" rtlCol="0">
            <a:spAutoFit/>
          </a:bodyPr>
          <a:lstStyle/>
          <a:p>
            <a:r>
              <a:rPr kumimoji="1" lang="en-US" altLang="zh-CN" dirty="0"/>
              <a:t>K2</a:t>
            </a:r>
            <a:endParaRPr kumimoji="1" lang="zh-CN" altLang="en-US" dirty="0"/>
          </a:p>
        </p:txBody>
      </p:sp>
      <p:sp>
        <p:nvSpPr>
          <p:cNvPr id="148" name="文本框 147">
            <a:extLst>
              <a:ext uri="{FF2B5EF4-FFF2-40B4-BE49-F238E27FC236}">
                <a16:creationId xmlns:a16="http://schemas.microsoft.com/office/drawing/2014/main" id="{E13FE0AF-19F2-1A96-9E25-E4DFAE0549A8}"/>
              </a:ext>
            </a:extLst>
          </p:cNvPr>
          <p:cNvSpPr txBox="1"/>
          <p:nvPr/>
        </p:nvSpPr>
        <p:spPr>
          <a:xfrm>
            <a:off x="3278505" y="974166"/>
            <a:ext cx="582930" cy="369332"/>
          </a:xfrm>
          <a:prstGeom prst="rect">
            <a:avLst/>
          </a:prstGeom>
          <a:noFill/>
        </p:spPr>
        <p:txBody>
          <a:bodyPr wrap="square" rtlCol="0">
            <a:spAutoFit/>
          </a:bodyPr>
          <a:lstStyle/>
          <a:p>
            <a:r>
              <a:rPr kumimoji="1" lang="en-US" altLang="zh-CN" dirty="0"/>
              <a:t>N1</a:t>
            </a:r>
            <a:endParaRPr kumimoji="1" lang="zh-CN" altLang="en-US" dirty="0"/>
          </a:p>
        </p:txBody>
      </p:sp>
      <p:sp>
        <p:nvSpPr>
          <p:cNvPr id="71" name="矩形 70">
            <a:extLst>
              <a:ext uri="{FF2B5EF4-FFF2-40B4-BE49-F238E27FC236}">
                <a16:creationId xmlns:a16="http://schemas.microsoft.com/office/drawing/2014/main" id="{04915CE5-FD19-CBD8-A332-0CD216FE14DA}"/>
              </a:ext>
            </a:extLst>
          </p:cNvPr>
          <p:cNvSpPr/>
          <p:nvPr/>
        </p:nvSpPr>
        <p:spPr>
          <a:xfrm>
            <a:off x="2484120" y="2693484"/>
            <a:ext cx="350520" cy="377190"/>
          </a:xfrm>
          <a:prstGeom prst="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0</a:t>
            </a:r>
            <a:endParaRPr kumimoji="1" lang="zh-CN" altLang="en-US" dirty="0"/>
          </a:p>
        </p:txBody>
      </p:sp>
      <p:sp>
        <p:nvSpPr>
          <p:cNvPr id="72" name="矩形 71">
            <a:extLst>
              <a:ext uri="{FF2B5EF4-FFF2-40B4-BE49-F238E27FC236}">
                <a16:creationId xmlns:a16="http://schemas.microsoft.com/office/drawing/2014/main" id="{0D7F797F-0560-0A74-7268-092D438048DC}"/>
              </a:ext>
            </a:extLst>
          </p:cNvPr>
          <p:cNvSpPr/>
          <p:nvPr/>
        </p:nvSpPr>
        <p:spPr>
          <a:xfrm>
            <a:off x="2484120" y="3070674"/>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73" name="矩形 72">
            <a:extLst>
              <a:ext uri="{FF2B5EF4-FFF2-40B4-BE49-F238E27FC236}">
                <a16:creationId xmlns:a16="http://schemas.microsoft.com/office/drawing/2014/main" id="{6F4B809F-1D54-D8F4-33F4-7A4CE77900A6}"/>
              </a:ext>
            </a:extLst>
          </p:cNvPr>
          <p:cNvSpPr/>
          <p:nvPr/>
        </p:nvSpPr>
        <p:spPr>
          <a:xfrm>
            <a:off x="2484120" y="3453579"/>
            <a:ext cx="350520" cy="377190"/>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74" name="矩形 73">
            <a:extLst>
              <a:ext uri="{FF2B5EF4-FFF2-40B4-BE49-F238E27FC236}">
                <a16:creationId xmlns:a16="http://schemas.microsoft.com/office/drawing/2014/main" id="{6C954204-DFB4-68A6-A2B5-AA405FDC258B}"/>
              </a:ext>
            </a:extLst>
          </p:cNvPr>
          <p:cNvSpPr/>
          <p:nvPr/>
        </p:nvSpPr>
        <p:spPr>
          <a:xfrm>
            <a:off x="2484120" y="3830769"/>
            <a:ext cx="350520" cy="37719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75" name="矩形 74">
            <a:extLst>
              <a:ext uri="{FF2B5EF4-FFF2-40B4-BE49-F238E27FC236}">
                <a16:creationId xmlns:a16="http://schemas.microsoft.com/office/drawing/2014/main" id="{973CE7A1-9221-C0FA-9362-4B1BCACC0E89}"/>
              </a:ext>
            </a:extLst>
          </p:cNvPr>
          <p:cNvSpPr/>
          <p:nvPr/>
        </p:nvSpPr>
        <p:spPr>
          <a:xfrm>
            <a:off x="2484120" y="4207959"/>
            <a:ext cx="350520" cy="377190"/>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endParaRPr kumimoji="1" lang="zh-CN" altLang="en-US" dirty="0"/>
          </a:p>
        </p:txBody>
      </p:sp>
      <p:sp>
        <p:nvSpPr>
          <p:cNvPr id="76" name="矩形 75">
            <a:extLst>
              <a:ext uri="{FF2B5EF4-FFF2-40B4-BE49-F238E27FC236}">
                <a16:creationId xmlns:a16="http://schemas.microsoft.com/office/drawing/2014/main" id="{EAB78CB3-130A-2F7C-36AF-5D48F95239C2}"/>
              </a:ext>
            </a:extLst>
          </p:cNvPr>
          <p:cNvSpPr/>
          <p:nvPr/>
        </p:nvSpPr>
        <p:spPr>
          <a:xfrm>
            <a:off x="2484120" y="4585149"/>
            <a:ext cx="350520" cy="37719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5</a:t>
            </a:r>
            <a:endParaRPr kumimoji="1" lang="zh-CN" altLang="en-US" dirty="0"/>
          </a:p>
        </p:txBody>
      </p:sp>
      <p:sp>
        <p:nvSpPr>
          <p:cNvPr id="77" name="矩形 76">
            <a:extLst>
              <a:ext uri="{FF2B5EF4-FFF2-40B4-BE49-F238E27FC236}">
                <a16:creationId xmlns:a16="http://schemas.microsoft.com/office/drawing/2014/main" id="{FF3582A3-0118-020C-3680-9B6700EFB346}"/>
              </a:ext>
            </a:extLst>
          </p:cNvPr>
          <p:cNvSpPr/>
          <p:nvPr/>
        </p:nvSpPr>
        <p:spPr>
          <a:xfrm>
            <a:off x="2484120" y="4968054"/>
            <a:ext cx="350520" cy="37719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6</a:t>
            </a:r>
            <a:endParaRPr kumimoji="1" lang="zh-CN" altLang="en-US" dirty="0"/>
          </a:p>
        </p:txBody>
      </p:sp>
      <p:sp>
        <p:nvSpPr>
          <p:cNvPr id="78" name="矩形 77">
            <a:extLst>
              <a:ext uri="{FF2B5EF4-FFF2-40B4-BE49-F238E27FC236}">
                <a16:creationId xmlns:a16="http://schemas.microsoft.com/office/drawing/2014/main" id="{0787C977-1C92-B0B0-2692-6D99C246176E}"/>
              </a:ext>
            </a:extLst>
          </p:cNvPr>
          <p:cNvSpPr/>
          <p:nvPr/>
        </p:nvSpPr>
        <p:spPr>
          <a:xfrm>
            <a:off x="2484120" y="5345244"/>
            <a:ext cx="350520" cy="377190"/>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7</a:t>
            </a:r>
            <a:endParaRPr kumimoji="1" lang="zh-CN" altLang="en-US" dirty="0"/>
          </a:p>
        </p:txBody>
      </p:sp>
      <p:sp>
        <p:nvSpPr>
          <p:cNvPr id="87" name="矩形 86">
            <a:extLst>
              <a:ext uri="{FF2B5EF4-FFF2-40B4-BE49-F238E27FC236}">
                <a16:creationId xmlns:a16="http://schemas.microsoft.com/office/drawing/2014/main" id="{DA075584-68F4-0553-503B-4C63A9C53FE2}"/>
              </a:ext>
            </a:extLst>
          </p:cNvPr>
          <p:cNvSpPr/>
          <p:nvPr/>
        </p:nvSpPr>
        <p:spPr>
          <a:xfrm>
            <a:off x="2834640" y="2693484"/>
            <a:ext cx="350520" cy="377190"/>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0</a:t>
            </a:r>
            <a:endParaRPr kumimoji="1" lang="zh-CN" altLang="en-US" dirty="0"/>
          </a:p>
        </p:txBody>
      </p:sp>
      <p:sp>
        <p:nvSpPr>
          <p:cNvPr id="88" name="矩形 87">
            <a:extLst>
              <a:ext uri="{FF2B5EF4-FFF2-40B4-BE49-F238E27FC236}">
                <a16:creationId xmlns:a16="http://schemas.microsoft.com/office/drawing/2014/main" id="{F1DED91C-07E0-DEB1-30CA-0D5195AB601A}"/>
              </a:ext>
            </a:extLst>
          </p:cNvPr>
          <p:cNvSpPr/>
          <p:nvPr/>
        </p:nvSpPr>
        <p:spPr>
          <a:xfrm>
            <a:off x="2834640" y="3070674"/>
            <a:ext cx="350520" cy="377190"/>
          </a:xfrm>
          <a:prstGeom prst="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89" name="矩形 88">
            <a:extLst>
              <a:ext uri="{FF2B5EF4-FFF2-40B4-BE49-F238E27FC236}">
                <a16:creationId xmlns:a16="http://schemas.microsoft.com/office/drawing/2014/main" id="{A0E14F62-8352-85AC-F0AF-C5AD04DC3B5E}"/>
              </a:ext>
            </a:extLst>
          </p:cNvPr>
          <p:cNvSpPr/>
          <p:nvPr/>
        </p:nvSpPr>
        <p:spPr>
          <a:xfrm>
            <a:off x="2834640" y="3453579"/>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90" name="矩形 89">
            <a:extLst>
              <a:ext uri="{FF2B5EF4-FFF2-40B4-BE49-F238E27FC236}">
                <a16:creationId xmlns:a16="http://schemas.microsoft.com/office/drawing/2014/main" id="{54F7DDAC-8F2C-F11D-35E2-E5CCE8CF2502}"/>
              </a:ext>
            </a:extLst>
          </p:cNvPr>
          <p:cNvSpPr/>
          <p:nvPr/>
        </p:nvSpPr>
        <p:spPr>
          <a:xfrm>
            <a:off x="2834640" y="3830769"/>
            <a:ext cx="350520" cy="377190"/>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91" name="矩形 90">
            <a:extLst>
              <a:ext uri="{FF2B5EF4-FFF2-40B4-BE49-F238E27FC236}">
                <a16:creationId xmlns:a16="http://schemas.microsoft.com/office/drawing/2014/main" id="{9A93AEE4-DDB2-E8F4-766F-C15B15FBEA89}"/>
              </a:ext>
            </a:extLst>
          </p:cNvPr>
          <p:cNvSpPr/>
          <p:nvPr/>
        </p:nvSpPr>
        <p:spPr>
          <a:xfrm>
            <a:off x="2834640" y="4207959"/>
            <a:ext cx="350520" cy="37719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endParaRPr kumimoji="1" lang="zh-CN" altLang="en-US" dirty="0"/>
          </a:p>
        </p:txBody>
      </p:sp>
      <p:sp>
        <p:nvSpPr>
          <p:cNvPr id="92" name="矩形 91">
            <a:extLst>
              <a:ext uri="{FF2B5EF4-FFF2-40B4-BE49-F238E27FC236}">
                <a16:creationId xmlns:a16="http://schemas.microsoft.com/office/drawing/2014/main" id="{32D79D4D-CC08-F0C6-FD92-A914B4900C53}"/>
              </a:ext>
            </a:extLst>
          </p:cNvPr>
          <p:cNvSpPr/>
          <p:nvPr/>
        </p:nvSpPr>
        <p:spPr>
          <a:xfrm>
            <a:off x="2834640" y="4585149"/>
            <a:ext cx="350520" cy="377190"/>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5</a:t>
            </a:r>
            <a:endParaRPr kumimoji="1" lang="zh-CN" altLang="en-US" dirty="0"/>
          </a:p>
        </p:txBody>
      </p:sp>
      <p:sp>
        <p:nvSpPr>
          <p:cNvPr id="93" name="矩形 92">
            <a:extLst>
              <a:ext uri="{FF2B5EF4-FFF2-40B4-BE49-F238E27FC236}">
                <a16:creationId xmlns:a16="http://schemas.microsoft.com/office/drawing/2014/main" id="{BD5F3EED-3C58-324E-9305-B84C9FED62DD}"/>
              </a:ext>
            </a:extLst>
          </p:cNvPr>
          <p:cNvSpPr/>
          <p:nvPr/>
        </p:nvSpPr>
        <p:spPr>
          <a:xfrm>
            <a:off x="2834640" y="4968054"/>
            <a:ext cx="350520" cy="37719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6</a:t>
            </a:r>
            <a:endParaRPr kumimoji="1" lang="zh-CN" altLang="en-US" dirty="0"/>
          </a:p>
        </p:txBody>
      </p:sp>
      <p:sp>
        <p:nvSpPr>
          <p:cNvPr id="94" name="矩形 93">
            <a:extLst>
              <a:ext uri="{FF2B5EF4-FFF2-40B4-BE49-F238E27FC236}">
                <a16:creationId xmlns:a16="http://schemas.microsoft.com/office/drawing/2014/main" id="{C870FCAC-3211-5485-CFB5-39305E213684}"/>
              </a:ext>
            </a:extLst>
          </p:cNvPr>
          <p:cNvSpPr/>
          <p:nvPr/>
        </p:nvSpPr>
        <p:spPr>
          <a:xfrm>
            <a:off x="2834640" y="5345244"/>
            <a:ext cx="350520" cy="37719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7</a:t>
            </a:r>
            <a:endParaRPr kumimoji="1" lang="zh-CN" altLang="en-US" dirty="0"/>
          </a:p>
        </p:txBody>
      </p:sp>
      <p:sp>
        <p:nvSpPr>
          <p:cNvPr id="145" name="矩形 144">
            <a:extLst>
              <a:ext uri="{FF2B5EF4-FFF2-40B4-BE49-F238E27FC236}">
                <a16:creationId xmlns:a16="http://schemas.microsoft.com/office/drawing/2014/main" id="{1468C5A6-5F2E-6C41-DE5E-BF71A7CAA038}"/>
              </a:ext>
            </a:extLst>
          </p:cNvPr>
          <p:cNvSpPr/>
          <p:nvPr/>
        </p:nvSpPr>
        <p:spPr>
          <a:xfrm>
            <a:off x="3200400" y="2694218"/>
            <a:ext cx="350520" cy="37719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0</a:t>
            </a:r>
            <a:endParaRPr kumimoji="1" lang="zh-CN" altLang="en-US" dirty="0"/>
          </a:p>
        </p:txBody>
      </p:sp>
      <p:sp>
        <p:nvSpPr>
          <p:cNvPr id="146" name="矩形 145">
            <a:extLst>
              <a:ext uri="{FF2B5EF4-FFF2-40B4-BE49-F238E27FC236}">
                <a16:creationId xmlns:a16="http://schemas.microsoft.com/office/drawing/2014/main" id="{5FB05E92-FEDB-35F7-026D-DC22B9103628}"/>
              </a:ext>
            </a:extLst>
          </p:cNvPr>
          <p:cNvSpPr/>
          <p:nvPr/>
        </p:nvSpPr>
        <p:spPr>
          <a:xfrm>
            <a:off x="3200400" y="3071408"/>
            <a:ext cx="350520" cy="377190"/>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149" name="矩形 148">
            <a:extLst>
              <a:ext uri="{FF2B5EF4-FFF2-40B4-BE49-F238E27FC236}">
                <a16:creationId xmlns:a16="http://schemas.microsoft.com/office/drawing/2014/main" id="{67F46A36-09E0-B35C-D210-E50A7407680C}"/>
              </a:ext>
            </a:extLst>
          </p:cNvPr>
          <p:cNvSpPr/>
          <p:nvPr/>
        </p:nvSpPr>
        <p:spPr>
          <a:xfrm>
            <a:off x="3200400" y="3454313"/>
            <a:ext cx="350520" cy="377190"/>
          </a:xfrm>
          <a:prstGeom prst="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150" name="矩形 149">
            <a:extLst>
              <a:ext uri="{FF2B5EF4-FFF2-40B4-BE49-F238E27FC236}">
                <a16:creationId xmlns:a16="http://schemas.microsoft.com/office/drawing/2014/main" id="{F645856D-D85A-AC4B-4C91-A6ECA158FD3A}"/>
              </a:ext>
            </a:extLst>
          </p:cNvPr>
          <p:cNvSpPr/>
          <p:nvPr/>
        </p:nvSpPr>
        <p:spPr>
          <a:xfrm>
            <a:off x="3200400" y="3831503"/>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152" name="矩形 151">
            <a:extLst>
              <a:ext uri="{FF2B5EF4-FFF2-40B4-BE49-F238E27FC236}">
                <a16:creationId xmlns:a16="http://schemas.microsoft.com/office/drawing/2014/main" id="{A4004266-F42B-1A51-B82C-EDD9DD99FA5F}"/>
              </a:ext>
            </a:extLst>
          </p:cNvPr>
          <p:cNvSpPr/>
          <p:nvPr/>
        </p:nvSpPr>
        <p:spPr>
          <a:xfrm>
            <a:off x="3200400" y="4208693"/>
            <a:ext cx="350520" cy="377190"/>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endParaRPr kumimoji="1" lang="zh-CN" altLang="en-US" dirty="0"/>
          </a:p>
        </p:txBody>
      </p:sp>
      <p:sp>
        <p:nvSpPr>
          <p:cNvPr id="153" name="矩形 152">
            <a:extLst>
              <a:ext uri="{FF2B5EF4-FFF2-40B4-BE49-F238E27FC236}">
                <a16:creationId xmlns:a16="http://schemas.microsoft.com/office/drawing/2014/main" id="{B86EB460-688B-4250-079C-EAD05D38360E}"/>
              </a:ext>
            </a:extLst>
          </p:cNvPr>
          <p:cNvSpPr/>
          <p:nvPr/>
        </p:nvSpPr>
        <p:spPr>
          <a:xfrm>
            <a:off x="3200400" y="4585883"/>
            <a:ext cx="350520" cy="37719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5</a:t>
            </a:r>
            <a:endParaRPr kumimoji="1" lang="zh-CN" altLang="en-US" dirty="0"/>
          </a:p>
        </p:txBody>
      </p:sp>
      <p:sp>
        <p:nvSpPr>
          <p:cNvPr id="154" name="矩形 153">
            <a:extLst>
              <a:ext uri="{FF2B5EF4-FFF2-40B4-BE49-F238E27FC236}">
                <a16:creationId xmlns:a16="http://schemas.microsoft.com/office/drawing/2014/main" id="{6F061C96-6E20-BA6E-9F95-4BBBF503ACAA}"/>
              </a:ext>
            </a:extLst>
          </p:cNvPr>
          <p:cNvSpPr/>
          <p:nvPr/>
        </p:nvSpPr>
        <p:spPr>
          <a:xfrm>
            <a:off x="3200400" y="4968788"/>
            <a:ext cx="350520" cy="377190"/>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6</a:t>
            </a:r>
            <a:endParaRPr kumimoji="1" lang="zh-CN" altLang="en-US" dirty="0"/>
          </a:p>
        </p:txBody>
      </p:sp>
      <p:sp>
        <p:nvSpPr>
          <p:cNvPr id="155" name="矩形 154">
            <a:extLst>
              <a:ext uri="{FF2B5EF4-FFF2-40B4-BE49-F238E27FC236}">
                <a16:creationId xmlns:a16="http://schemas.microsoft.com/office/drawing/2014/main" id="{2C2658F0-245E-287E-02CA-A7D5CBF9A152}"/>
              </a:ext>
            </a:extLst>
          </p:cNvPr>
          <p:cNvSpPr/>
          <p:nvPr/>
        </p:nvSpPr>
        <p:spPr>
          <a:xfrm>
            <a:off x="3200400" y="5345978"/>
            <a:ext cx="350520" cy="37719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7</a:t>
            </a:r>
            <a:endParaRPr kumimoji="1" lang="zh-CN" altLang="en-US" dirty="0"/>
          </a:p>
        </p:txBody>
      </p:sp>
      <p:sp>
        <p:nvSpPr>
          <p:cNvPr id="156" name="矩形 155">
            <a:extLst>
              <a:ext uri="{FF2B5EF4-FFF2-40B4-BE49-F238E27FC236}">
                <a16:creationId xmlns:a16="http://schemas.microsoft.com/office/drawing/2014/main" id="{947BC437-0DDD-7A95-25DC-FF1035965594}"/>
              </a:ext>
            </a:extLst>
          </p:cNvPr>
          <p:cNvSpPr/>
          <p:nvPr/>
        </p:nvSpPr>
        <p:spPr>
          <a:xfrm>
            <a:off x="3550920" y="2694218"/>
            <a:ext cx="350520" cy="37719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0</a:t>
            </a:r>
            <a:endParaRPr kumimoji="1" lang="zh-CN" altLang="en-US" dirty="0"/>
          </a:p>
        </p:txBody>
      </p:sp>
      <p:sp>
        <p:nvSpPr>
          <p:cNvPr id="157" name="矩形 156">
            <a:extLst>
              <a:ext uri="{FF2B5EF4-FFF2-40B4-BE49-F238E27FC236}">
                <a16:creationId xmlns:a16="http://schemas.microsoft.com/office/drawing/2014/main" id="{09DF6B72-EA7B-8F55-A99A-C3777D925813}"/>
              </a:ext>
            </a:extLst>
          </p:cNvPr>
          <p:cNvSpPr/>
          <p:nvPr/>
        </p:nvSpPr>
        <p:spPr>
          <a:xfrm>
            <a:off x="3550920" y="3071408"/>
            <a:ext cx="350520" cy="37719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158" name="矩形 157">
            <a:extLst>
              <a:ext uri="{FF2B5EF4-FFF2-40B4-BE49-F238E27FC236}">
                <a16:creationId xmlns:a16="http://schemas.microsoft.com/office/drawing/2014/main" id="{95D13704-B24B-AD2E-AE9E-9E505972271E}"/>
              </a:ext>
            </a:extLst>
          </p:cNvPr>
          <p:cNvSpPr/>
          <p:nvPr/>
        </p:nvSpPr>
        <p:spPr>
          <a:xfrm>
            <a:off x="3550920" y="3454313"/>
            <a:ext cx="350520" cy="377190"/>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159" name="矩形 158">
            <a:extLst>
              <a:ext uri="{FF2B5EF4-FFF2-40B4-BE49-F238E27FC236}">
                <a16:creationId xmlns:a16="http://schemas.microsoft.com/office/drawing/2014/main" id="{3131F0DA-CB95-CAF1-A21A-4F1036FE76D6}"/>
              </a:ext>
            </a:extLst>
          </p:cNvPr>
          <p:cNvSpPr/>
          <p:nvPr/>
        </p:nvSpPr>
        <p:spPr>
          <a:xfrm>
            <a:off x="3550920" y="3831503"/>
            <a:ext cx="350520" cy="377190"/>
          </a:xfrm>
          <a:prstGeom prst="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160" name="矩形 159">
            <a:extLst>
              <a:ext uri="{FF2B5EF4-FFF2-40B4-BE49-F238E27FC236}">
                <a16:creationId xmlns:a16="http://schemas.microsoft.com/office/drawing/2014/main" id="{060B05F2-05E8-6FC7-D62E-B63D7428B0DF}"/>
              </a:ext>
            </a:extLst>
          </p:cNvPr>
          <p:cNvSpPr/>
          <p:nvPr/>
        </p:nvSpPr>
        <p:spPr>
          <a:xfrm>
            <a:off x="3550920" y="4208693"/>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endParaRPr kumimoji="1" lang="zh-CN" altLang="en-US" dirty="0"/>
          </a:p>
        </p:txBody>
      </p:sp>
      <p:sp>
        <p:nvSpPr>
          <p:cNvPr id="161" name="矩形 160">
            <a:extLst>
              <a:ext uri="{FF2B5EF4-FFF2-40B4-BE49-F238E27FC236}">
                <a16:creationId xmlns:a16="http://schemas.microsoft.com/office/drawing/2014/main" id="{FF9E4ACE-9F80-F924-F5BA-2A604C5479F3}"/>
              </a:ext>
            </a:extLst>
          </p:cNvPr>
          <p:cNvSpPr/>
          <p:nvPr/>
        </p:nvSpPr>
        <p:spPr>
          <a:xfrm>
            <a:off x="3550920" y="4585883"/>
            <a:ext cx="350520" cy="377190"/>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5</a:t>
            </a:r>
            <a:endParaRPr kumimoji="1" lang="zh-CN" altLang="en-US" dirty="0"/>
          </a:p>
        </p:txBody>
      </p:sp>
      <p:sp>
        <p:nvSpPr>
          <p:cNvPr id="162" name="矩形 161">
            <a:extLst>
              <a:ext uri="{FF2B5EF4-FFF2-40B4-BE49-F238E27FC236}">
                <a16:creationId xmlns:a16="http://schemas.microsoft.com/office/drawing/2014/main" id="{8963ED61-8ED4-0B8C-C195-57B0C42FFE1A}"/>
              </a:ext>
            </a:extLst>
          </p:cNvPr>
          <p:cNvSpPr/>
          <p:nvPr/>
        </p:nvSpPr>
        <p:spPr>
          <a:xfrm>
            <a:off x="3550920" y="4968788"/>
            <a:ext cx="350520" cy="37719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6</a:t>
            </a:r>
            <a:endParaRPr kumimoji="1" lang="zh-CN" altLang="en-US" dirty="0"/>
          </a:p>
        </p:txBody>
      </p:sp>
      <p:sp>
        <p:nvSpPr>
          <p:cNvPr id="163" name="矩形 162">
            <a:extLst>
              <a:ext uri="{FF2B5EF4-FFF2-40B4-BE49-F238E27FC236}">
                <a16:creationId xmlns:a16="http://schemas.microsoft.com/office/drawing/2014/main" id="{F6178A3A-FEDA-8019-C7D6-84F4253A7961}"/>
              </a:ext>
            </a:extLst>
          </p:cNvPr>
          <p:cNvSpPr/>
          <p:nvPr/>
        </p:nvSpPr>
        <p:spPr>
          <a:xfrm>
            <a:off x="3550920" y="5345978"/>
            <a:ext cx="350520" cy="377190"/>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7</a:t>
            </a:r>
            <a:endParaRPr kumimoji="1" lang="zh-CN" altLang="en-US" dirty="0"/>
          </a:p>
        </p:txBody>
      </p:sp>
      <p:sp>
        <p:nvSpPr>
          <p:cNvPr id="164" name="矩形 163">
            <a:extLst>
              <a:ext uri="{FF2B5EF4-FFF2-40B4-BE49-F238E27FC236}">
                <a16:creationId xmlns:a16="http://schemas.microsoft.com/office/drawing/2014/main" id="{E28901EC-0215-35E1-42BB-9AEF585A9839}"/>
              </a:ext>
            </a:extLst>
          </p:cNvPr>
          <p:cNvSpPr/>
          <p:nvPr/>
        </p:nvSpPr>
        <p:spPr>
          <a:xfrm>
            <a:off x="3912870" y="2692750"/>
            <a:ext cx="350520" cy="377190"/>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0</a:t>
            </a:r>
            <a:endParaRPr kumimoji="1" lang="zh-CN" altLang="en-US" dirty="0"/>
          </a:p>
        </p:txBody>
      </p:sp>
      <p:sp>
        <p:nvSpPr>
          <p:cNvPr id="165" name="矩形 164">
            <a:extLst>
              <a:ext uri="{FF2B5EF4-FFF2-40B4-BE49-F238E27FC236}">
                <a16:creationId xmlns:a16="http://schemas.microsoft.com/office/drawing/2014/main" id="{BD887C1B-F813-547F-A2E8-6A3981C80DDC}"/>
              </a:ext>
            </a:extLst>
          </p:cNvPr>
          <p:cNvSpPr/>
          <p:nvPr/>
        </p:nvSpPr>
        <p:spPr>
          <a:xfrm>
            <a:off x="3912870" y="3069940"/>
            <a:ext cx="350520" cy="37719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166" name="矩形 165">
            <a:extLst>
              <a:ext uri="{FF2B5EF4-FFF2-40B4-BE49-F238E27FC236}">
                <a16:creationId xmlns:a16="http://schemas.microsoft.com/office/drawing/2014/main" id="{4613396F-B732-080B-4274-C96E7D2804DB}"/>
              </a:ext>
            </a:extLst>
          </p:cNvPr>
          <p:cNvSpPr/>
          <p:nvPr/>
        </p:nvSpPr>
        <p:spPr>
          <a:xfrm>
            <a:off x="3912870" y="3452845"/>
            <a:ext cx="350520" cy="37719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167" name="矩形 166">
            <a:extLst>
              <a:ext uri="{FF2B5EF4-FFF2-40B4-BE49-F238E27FC236}">
                <a16:creationId xmlns:a16="http://schemas.microsoft.com/office/drawing/2014/main" id="{79DD5936-09AF-0AA1-AACD-1E7C029D0C53}"/>
              </a:ext>
            </a:extLst>
          </p:cNvPr>
          <p:cNvSpPr/>
          <p:nvPr/>
        </p:nvSpPr>
        <p:spPr>
          <a:xfrm>
            <a:off x="3912870" y="3830035"/>
            <a:ext cx="350520" cy="377190"/>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168" name="矩形 167">
            <a:extLst>
              <a:ext uri="{FF2B5EF4-FFF2-40B4-BE49-F238E27FC236}">
                <a16:creationId xmlns:a16="http://schemas.microsoft.com/office/drawing/2014/main" id="{C6FBBABA-C65B-6B46-309B-3FE1401852E0}"/>
              </a:ext>
            </a:extLst>
          </p:cNvPr>
          <p:cNvSpPr/>
          <p:nvPr/>
        </p:nvSpPr>
        <p:spPr>
          <a:xfrm>
            <a:off x="3912870" y="4207225"/>
            <a:ext cx="350520" cy="377190"/>
          </a:xfrm>
          <a:prstGeom prst="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endParaRPr kumimoji="1" lang="zh-CN" altLang="en-US" dirty="0"/>
          </a:p>
        </p:txBody>
      </p:sp>
      <p:sp>
        <p:nvSpPr>
          <p:cNvPr id="169" name="矩形 168">
            <a:extLst>
              <a:ext uri="{FF2B5EF4-FFF2-40B4-BE49-F238E27FC236}">
                <a16:creationId xmlns:a16="http://schemas.microsoft.com/office/drawing/2014/main" id="{E703362B-CDBB-BD60-6710-F724408BA867}"/>
              </a:ext>
            </a:extLst>
          </p:cNvPr>
          <p:cNvSpPr/>
          <p:nvPr/>
        </p:nvSpPr>
        <p:spPr>
          <a:xfrm>
            <a:off x="3912870" y="4584415"/>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5</a:t>
            </a:r>
            <a:endParaRPr kumimoji="1" lang="zh-CN" altLang="en-US" dirty="0"/>
          </a:p>
        </p:txBody>
      </p:sp>
      <p:sp>
        <p:nvSpPr>
          <p:cNvPr id="170" name="矩形 169">
            <a:extLst>
              <a:ext uri="{FF2B5EF4-FFF2-40B4-BE49-F238E27FC236}">
                <a16:creationId xmlns:a16="http://schemas.microsoft.com/office/drawing/2014/main" id="{51FA1121-EC6F-F441-54F0-AA2DFE4D20D9}"/>
              </a:ext>
            </a:extLst>
          </p:cNvPr>
          <p:cNvSpPr/>
          <p:nvPr/>
        </p:nvSpPr>
        <p:spPr>
          <a:xfrm>
            <a:off x="3912870" y="4967320"/>
            <a:ext cx="350520" cy="377190"/>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6</a:t>
            </a:r>
            <a:endParaRPr kumimoji="1" lang="zh-CN" altLang="en-US" dirty="0"/>
          </a:p>
        </p:txBody>
      </p:sp>
      <p:sp>
        <p:nvSpPr>
          <p:cNvPr id="171" name="矩形 170">
            <a:extLst>
              <a:ext uri="{FF2B5EF4-FFF2-40B4-BE49-F238E27FC236}">
                <a16:creationId xmlns:a16="http://schemas.microsoft.com/office/drawing/2014/main" id="{62E75B86-45BC-8763-9C73-759D04C021C7}"/>
              </a:ext>
            </a:extLst>
          </p:cNvPr>
          <p:cNvSpPr/>
          <p:nvPr/>
        </p:nvSpPr>
        <p:spPr>
          <a:xfrm>
            <a:off x="3912870" y="5344510"/>
            <a:ext cx="350520" cy="37719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7</a:t>
            </a:r>
            <a:endParaRPr kumimoji="1" lang="zh-CN" altLang="en-US" dirty="0"/>
          </a:p>
        </p:txBody>
      </p:sp>
      <p:sp>
        <p:nvSpPr>
          <p:cNvPr id="172" name="矩形 171">
            <a:extLst>
              <a:ext uri="{FF2B5EF4-FFF2-40B4-BE49-F238E27FC236}">
                <a16:creationId xmlns:a16="http://schemas.microsoft.com/office/drawing/2014/main" id="{04A17162-68AF-5F5E-5DFE-CB950AD36828}"/>
              </a:ext>
            </a:extLst>
          </p:cNvPr>
          <p:cNvSpPr/>
          <p:nvPr/>
        </p:nvSpPr>
        <p:spPr>
          <a:xfrm>
            <a:off x="4263390" y="2692750"/>
            <a:ext cx="350520" cy="37719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0</a:t>
            </a:r>
            <a:endParaRPr kumimoji="1" lang="zh-CN" altLang="en-US" dirty="0"/>
          </a:p>
        </p:txBody>
      </p:sp>
      <p:sp>
        <p:nvSpPr>
          <p:cNvPr id="173" name="矩形 172">
            <a:extLst>
              <a:ext uri="{FF2B5EF4-FFF2-40B4-BE49-F238E27FC236}">
                <a16:creationId xmlns:a16="http://schemas.microsoft.com/office/drawing/2014/main" id="{FB19802D-7345-80A7-405D-5689A84A2877}"/>
              </a:ext>
            </a:extLst>
          </p:cNvPr>
          <p:cNvSpPr/>
          <p:nvPr/>
        </p:nvSpPr>
        <p:spPr>
          <a:xfrm>
            <a:off x="4263390" y="3069940"/>
            <a:ext cx="350520" cy="377190"/>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174" name="矩形 173">
            <a:extLst>
              <a:ext uri="{FF2B5EF4-FFF2-40B4-BE49-F238E27FC236}">
                <a16:creationId xmlns:a16="http://schemas.microsoft.com/office/drawing/2014/main" id="{F512A7E6-FD1B-6159-6A89-65411C9A8CB6}"/>
              </a:ext>
            </a:extLst>
          </p:cNvPr>
          <p:cNvSpPr/>
          <p:nvPr/>
        </p:nvSpPr>
        <p:spPr>
          <a:xfrm>
            <a:off x="4263390" y="3452845"/>
            <a:ext cx="350520" cy="37719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175" name="矩形 174">
            <a:extLst>
              <a:ext uri="{FF2B5EF4-FFF2-40B4-BE49-F238E27FC236}">
                <a16:creationId xmlns:a16="http://schemas.microsoft.com/office/drawing/2014/main" id="{1292A3D0-BE62-9829-7785-1DCE1596A3AE}"/>
              </a:ext>
            </a:extLst>
          </p:cNvPr>
          <p:cNvSpPr/>
          <p:nvPr/>
        </p:nvSpPr>
        <p:spPr>
          <a:xfrm>
            <a:off x="4263390" y="3830035"/>
            <a:ext cx="350520" cy="37719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176" name="矩形 175">
            <a:extLst>
              <a:ext uri="{FF2B5EF4-FFF2-40B4-BE49-F238E27FC236}">
                <a16:creationId xmlns:a16="http://schemas.microsoft.com/office/drawing/2014/main" id="{90C1EC02-5150-6F4D-68B2-E02069FBD951}"/>
              </a:ext>
            </a:extLst>
          </p:cNvPr>
          <p:cNvSpPr/>
          <p:nvPr/>
        </p:nvSpPr>
        <p:spPr>
          <a:xfrm>
            <a:off x="4263390" y="4207225"/>
            <a:ext cx="350520" cy="377190"/>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endParaRPr kumimoji="1" lang="zh-CN" altLang="en-US" dirty="0"/>
          </a:p>
        </p:txBody>
      </p:sp>
      <p:sp>
        <p:nvSpPr>
          <p:cNvPr id="177" name="矩形 176">
            <a:extLst>
              <a:ext uri="{FF2B5EF4-FFF2-40B4-BE49-F238E27FC236}">
                <a16:creationId xmlns:a16="http://schemas.microsoft.com/office/drawing/2014/main" id="{8673F293-CDEC-B75B-27BE-0C56AC337214}"/>
              </a:ext>
            </a:extLst>
          </p:cNvPr>
          <p:cNvSpPr/>
          <p:nvPr/>
        </p:nvSpPr>
        <p:spPr>
          <a:xfrm>
            <a:off x="4263390" y="4584415"/>
            <a:ext cx="350520" cy="377190"/>
          </a:xfrm>
          <a:prstGeom prst="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5</a:t>
            </a:r>
            <a:endParaRPr kumimoji="1" lang="zh-CN" altLang="en-US" dirty="0"/>
          </a:p>
        </p:txBody>
      </p:sp>
      <p:sp>
        <p:nvSpPr>
          <p:cNvPr id="178" name="矩形 177">
            <a:extLst>
              <a:ext uri="{FF2B5EF4-FFF2-40B4-BE49-F238E27FC236}">
                <a16:creationId xmlns:a16="http://schemas.microsoft.com/office/drawing/2014/main" id="{C2CBAFA5-73B6-7E79-EDE1-147545C36380}"/>
              </a:ext>
            </a:extLst>
          </p:cNvPr>
          <p:cNvSpPr/>
          <p:nvPr/>
        </p:nvSpPr>
        <p:spPr>
          <a:xfrm>
            <a:off x="4263390" y="4967320"/>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6</a:t>
            </a:r>
            <a:endParaRPr kumimoji="1" lang="zh-CN" altLang="en-US" dirty="0"/>
          </a:p>
        </p:txBody>
      </p:sp>
      <p:sp>
        <p:nvSpPr>
          <p:cNvPr id="179" name="矩形 178">
            <a:extLst>
              <a:ext uri="{FF2B5EF4-FFF2-40B4-BE49-F238E27FC236}">
                <a16:creationId xmlns:a16="http://schemas.microsoft.com/office/drawing/2014/main" id="{C7EC24C7-D9D7-D414-EE85-0B3DC9B267E9}"/>
              </a:ext>
            </a:extLst>
          </p:cNvPr>
          <p:cNvSpPr/>
          <p:nvPr/>
        </p:nvSpPr>
        <p:spPr>
          <a:xfrm>
            <a:off x="4263390" y="5344510"/>
            <a:ext cx="350520" cy="377190"/>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7</a:t>
            </a:r>
            <a:endParaRPr kumimoji="1" lang="zh-CN" altLang="en-US" dirty="0"/>
          </a:p>
        </p:txBody>
      </p:sp>
      <p:sp>
        <p:nvSpPr>
          <p:cNvPr id="180" name="矩形 179">
            <a:extLst>
              <a:ext uri="{FF2B5EF4-FFF2-40B4-BE49-F238E27FC236}">
                <a16:creationId xmlns:a16="http://schemas.microsoft.com/office/drawing/2014/main" id="{A9899FDB-5FC4-93B2-AFBF-74B653D43408}"/>
              </a:ext>
            </a:extLst>
          </p:cNvPr>
          <p:cNvSpPr/>
          <p:nvPr/>
        </p:nvSpPr>
        <p:spPr>
          <a:xfrm>
            <a:off x="4629150" y="2693484"/>
            <a:ext cx="350520" cy="377190"/>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0</a:t>
            </a:r>
            <a:endParaRPr kumimoji="1" lang="zh-CN" altLang="en-US" dirty="0"/>
          </a:p>
        </p:txBody>
      </p:sp>
      <p:sp>
        <p:nvSpPr>
          <p:cNvPr id="181" name="矩形 180">
            <a:extLst>
              <a:ext uri="{FF2B5EF4-FFF2-40B4-BE49-F238E27FC236}">
                <a16:creationId xmlns:a16="http://schemas.microsoft.com/office/drawing/2014/main" id="{AD942E8E-F099-EECA-28AC-0F8027C75E3C}"/>
              </a:ext>
            </a:extLst>
          </p:cNvPr>
          <p:cNvSpPr/>
          <p:nvPr/>
        </p:nvSpPr>
        <p:spPr>
          <a:xfrm>
            <a:off x="4629150" y="3070674"/>
            <a:ext cx="350520" cy="37719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182" name="矩形 181">
            <a:extLst>
              <a:ext uri="{FF2B5EF4-FFF2-40B4-BE49-F238E27FC236}">
                <a16:creationId xmlns:a16="http://schemas.microsoft.com/office/drawing/2014/main" id="{5D3CC1C9-EB1F-91A6-5800-8E9F5E21B0F7}"/>
              </a:ext>
            </a:extLst>
          </p:cNvPr>
          <p:cNvSpPr/>
          <p:nvPr/>
        </p:nvSpPr>
        <p:spPr>
          <a:xfrm>
            <a:off x="4629150" y="3453579"/>
            <a:ext cx="350520" cy="377190"/>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183" name="矩形 182">
            <a:extLst>
              <a:ext uri="{FF2B5EF4-FFF2-40B4-BE49-F238E27FC236}">
                <a16:creationId xmlns:a16="http://schemas.microsoft.com/office/drawing/2014/main" id="{3DD36383-187C-49B7-76A4-4366B46EFCC8}"/>
              </a:ext>
            </a:extLst>
          </p:cNvPr>
          <p:cNvSpPr/>
          <p:nvPr/>
        </p:nvSpPr>
        <p:spPr>
          <a:xfrm>
            <a:off x="4629150" y="3830769"/>
            <a:ext cx="350520" cy="37719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184" name="矩形 183">
            <a:extLst>
              <a:ext uri="{FF2B5EF4-FFF2-40B4-BE49-F238E27FC236}">
                <a16:creationId xmlns:a16="http://schemas.microsoft.com/office/drawing/2014/main" id="{C1ADE286-C053-DCD7-7EBC-D4648C790FFB}"/>
              </a:ext>
            </a:extLst>
          </p:cNvPr>
          <p:cNvSpPr/>
          <p:nvPr/>
        </p:nvSpPr>
        <p:spPr>
          <a:xfrm>
            <a:off x="4629150" y="4207959"/>
            <a:ext cx="350520" cy="37719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endParaRPr kumimoji="1" lang="zh-CN" altLang="en-US" dirty="0"/>
          </a:p>
        </p:txBody>
      </p:sp>
      <p:sp>
        <p:nvSpPr>
          <p:cNvPr id="185" name="矩形 184">
            <a:extLst>
              <a:ext uri="{FF2B5EF4-FFF2-40B4-BE49-F238E27FC236}">
                <a16:creationId xmlns:a16="http://schemas.microsoft.com/office/drawing/2014/main" id="{613E9B35-F41B-315C-5589-0145D3BCFF2F}"/>
              </a:ext>
            </a:extLst>
          </p:cNvPr>
          <p:cNvSpPr/>
          <p:nvPr/>
        </p:nvSpPr>
        <p:spPr>
          <a:xfrm>
            <a:off x="4629150" y="4585149"/>
            <a:ext cx="350520" cy="377190"/>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5</a:t>
            </a:r>
            <a:endParaRPr kumimoji="1" lang="zh-CN" altLang="en-US" dirty="0"/>
          </a:p>
        </p:txBody>
      </p:sp>
      <p:sp>
        <p:nvSpPr>
          <p:cNvPr id="186" name="矩形 185">
            <a:extLst>
              <a:ext uri="{FF2B5EF4-FFF2-40B4-BE49-F238E27FC236}">
                <a16:creationId xmlns:a16="http://schemas.microsoft.com/office/drawing/2014/main" id="{56D87FA6-ECA7-F12B-62B9-5A8ED6EB8F6D}"/>
              </a:ext>
            </a:extLst>
          </p:cNvPr>
          <p:cNvSpPr/>
          <p:nvPr/>
        </p:nvSpPr>
        <p:spPr>
          <a:xfrm>
            <a:off x="4629150" y="4968054"/>
            <a:ext cx="350520" cy="377190"/>
          </a:xfrm>
          <a:prstGeom prst="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6</a:t>
            </a:r>
            <a:endParaRPr kumimoji="1" lang="zh-CN" altLang="en-US" dirty="0"/>
          </a:p>
        </p:txBody>
      </p:sp>
      <p:sp>
        <p:nvSpPr>
          <p:cNvPr id="187" name="矩形 186">
            <a:extLst>
              <a:ext uri="{FF2B5EF4-FFF2-40B4-BE49-F238E27FC236}">
                <a16:creationId xmlns:a16="http://schemas.microsoft.com/office/drawing/2014/main" id="{B1ECFFA0-9395-F2D8-119B-A045BA2F12D2}"/>
              </a:ext>
            </a:extLst>
          </p:cNvPr>
          <p:cNvSpPr/>
          <p:nvPr/>
        </p:nvSpPr>
        <p:spPr>
          <a:xfrm>
            <a:off x="4629150" y="5345244"/>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7</a:t>
            </a:r>
            <a:endParaRPr kumimoji="1" lang="zh-CN" altLang="en-US" dirty="0"/>
          </a:p>
        </p:txBody>
      </p:sp>
      <p:sp>
        <p:nvSpPr>
          <p:cNvPr id="188" name="矩形 187">
            <a:extLst>
              <a:ext uri="{FF2B5EF4-FFF2-40B4-BE49-F238E27FC236}">
                <a16:creationId xmlns:a16="http://schemas.microsoft.com/office/drawing/2014/main" id="{30D89C17-6910-8079-FE4E-6E2E4B4AF452}"/>
              </a:ext>
            </a:extLst>
          </p:cNvPr>
          <p:cNvSpPr/>
          <p:nvPr/>
        </p:nvSpPr>
        <p:spPr>
          <a:xfrm>
            <a:off x="4979670" y="2693484"/>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0</a:t>
            </a:r>
            <a:endParaRPr kumimoji="1" lang="zh-CN" altLang="en-US" dirty="0"/>
          </a:p>
        </p:txBody>
      </p:sp>
      <p:sp>
        <p:nvSpPr>
          <p:cNvPr id="189" name="矩形 188">
            <a:extLst>
              <a:ext uri="{FF2B5EF4-FFF2-40B4-BE49-F238E27FC236}">
                <a16:creationId xmlns:a16="http://schemas.microsoft.com/office/drawing/2014/main" id="{5C6D663F-65EF-BA3C-524E-D350586E748C}"/>
              </a:ext>
            </a:extLst>
          </p:cNvPr>
          <p:cNvSpPr/>
          <p:nvPr/>
        </p:nvSpPr>
        <p:spPr>
          <a:xfrm>
            <a:off x="4979670" y="3070674"/>
            <a:ext cx="350520" cy="377190"/>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190" name="矩形 189">
            <a:extLst>
              <a:ext uri="{FF2B5EF4-FFF2-40B4-BE49-F238E27FC236}">
                <a16:creationId xmlns:a16="http://schemas.microsoft.com/office/drawing/2014/main" id="{9B5273BB-6325-9889-4C41-7E1E0B8289BF}"/>
              </a:ext>
            </a:extLst>
          </p:cNvPr>
          <p:cNvSpPr/>
          <p:nvPr/>
        </p:nvSpPr>
        <p:spPr>
          <a:xfrm>
            <a:off x="4979670" y="3453579"/>
            <a:ext cx="350520" cy="37719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191" name="矩形 190">
            <a:extLst>
              <a:ext uri="{FF2B5EF4-FFF2-40B4-BE49-F238E27FC236}">
                <a16:creationId xmlns:a16="http://schemas.microsoft.com/office/drawing/2014/main" id="{0797F8B5-4951-6C8F-DA26-E8ED3A8C77BC}"/>
              </a:ext>
            </a:extLst>
          </p:cNvPr>
          <p:cNvSpPr/>
          <p:nvPr/>
        </p:nvSpPr>
        <p:spPr>
          <a:xfrm>
            <a:off x="4979670" y="3830769"/>
            <a:ext cx="350520" cy="377190"/>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192" name="矩形 191">
            <a:extLst>
              <a:ext uri="{FF2B5EF4-FFF2-40B4-BE49-F238E27FC236}">
                <a16:creationId xmlns:a16="http://schemas.microsoft.com/office/drawing/2014/main" id="{EC8F9342-574A-D074-4D04-B945A57ECD53}"/>
              </a:ext>
            </a:extLst>
          </p:cNvPr>
          <p:cNvSpPr/>
          <p:nvPr/>
        </p:nvSpPr>
        <p:spPr>
          <a:xfrm>
            <a:off x="4979670" y="4207959"/>
            <a:ext cx="350520" cy="37719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endParaRPr kumimoji="1" lang="zh-CN" altLang="en-US" dirty="0"/>
          </a:p>
        </p:txBody>
      </p:sp>
      <p:sp>
        <p:nvSpPr>
          <p:cNvPr id="193" name="矩形 192">
            <a:extLst>
              <a:ext uri="{FF2B5EF4-FFF2-40B4-BE49-F238E27FC236}">
                <a16:creationId xmlns:a16="http://schemas.microsoft.com/office/drawing/2014/main" id="{4F52F1C7-7BF0-9C1E-2934-C7EDAC540A7A}"/>
              </a:ext>
            </a:extLst>
          </p:cNvPr>
          <p:cNvSpPr/>
          <p:nvPr/>
        </p:nvSpPr>
        <p:spPr>
          <a:xfrm>
            <a:off x="4979670" y="4585149"/>
            <a:ext cx="350520" cy="37719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5</a:t>
            </a:r>
            <a:endParaRPr kumimoji="1" lang="zh-CN" altLang="en-US" dirty="0"/>
          </a:p>
        </p:txBody>
      </p:sp>
      <p:sp>
        <p:nvSpPr>
          <p:cNvPr id="194" name="矩形 193">
            <a:extLst>
              <a:ext uri="{FF2B5EF4-FFF2-40B4-BE49-F238E27FC236}">
                <a16:creationId xmlns:a16="http://schemas.microsoft.com/office/drawing/2014/main" id="{C5B3E90F-069A-1859-E4C3-A955B5E95F77}"/>
              </a:ext>
            </a:extLst>
          </p:cNvPr>
          <p:cNvSpPr/>
          <p:nvPr/>
        </p:nvSpPr>
        <p:spPr>
          <a:xfrm>
            <a:off x="4979670" y="4968054"/>
            <a:ext cx="350520" cy="377190"/>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6</a:t>
            </a:r>
            <a:endParaRPr kumimoji="1" lang="zh-CN" altLang="en-US" dirty="0"/>
          </a:p>
        </p:txBody>
      </p:sp>
      <p:sp>
        <p:nvSpPr>
          <p:cNvPr id="195" name="矩形 194">
            <a:extLst>
              <a:ext uri="{FF2B5EF4-FFF2-40B4-BE49-F238E27FC236}">
                <a16:creationId xmlns:a16="http://schemas.microsoft.com/office/drawing/2014/main" id="{8DE58D0B-48C5-2CDE-8B66-12393B801A23}"/>
              </a:ext>
            </a:extLst>
          </p:cNvPr>
          <p:cNvSpPr/>
          <p:nvPr/>
        </p:nvSpPr>
        <p:spPr>
          <a:xfrm>
            <a:off x="4979670" y="5345244"/>
            <a:ext cx="350520" cy="377190"/>
          </a:xfrm>
          <a:prstGeom prst="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7</a:t>
            </a:r>
            <a:endParaRPr kumimoji="1" lang="zh-CN" altLang="en-US" dirty="0"/>
          </a:p>
        </p:txBody>
      </p:sp>
      <p:sp>
        <p:nvSpPr>
          <p:cNvPr id="198" name="文本框 197">
            <a:extLst>
              <a:ext uri="{FF2B5EF4-FFF2-40B4-BE49-F238E27FC236}">
                <a16:creationId xmlns:a16="http://schemas.microsoft.com/office/drawing/2014/main" id="{FAE1C44D-68D0-4A3B-461F-F96E8DE8376D}"/>
              </a:ext>
            </a:extLst>
          </p:cNvPr>
          <p:cNvSpPr txBox="1"/>
          <p:nvPr/>
        </p:nvSpPr>
        <p:spPr>
          <a:xfrm>
            <a:off x="6423660" y="2347115"/>
            <a:ext cx="3459891" cy="1200329"/>
          </a:xfrm>
          <a:prstGeom prst="rect">
            <a:avLst/>
          </a:prstGeom>
          <a:noFill/>
        </p:spPr>
        <p:txBody>
          <a:bodyPr wrap="square" rtlCol="0">
            <a:spAutoFit/>
          </a:bodyPr>
          <a:lstStyle/>
          <a:p>
            <a:r>
              <a:rPr kumimoji="1" lang="zh-CN" altLang="en-US" dirty="0"/>
              <a:t>每个从核需要完整计算自身的</a:t>
            </a:r>
            <a:r>
              <a:rPr kumimoji="1" lang="en-US" altLang="zh-CN" dirty="0"/>
              <a:t>M2</a:t>
            </a:r>
            <a:r>
              <a:rPr kumimoji="1" lang="zh-CN" altLang="en-US" dirty="0"/>
              <a:t>和完整的</a:t>
            </a:r>
            <a:r>
              <a:rPr kumimoji="1" lang="en-US" altLang="zh-CN" dirty="0"/>
              <a:t>N1</a:t>
            </a:r>
            <a:r>
              <a:rPr kumimoji="1" lang="zh-CN" altLang="en-US" dirty="0"/>
              <a:t>，因此需要通过</a:t>
            </a:r>
            <a:r>
              <a:rPr kumimoji="1" lang="en-US" altLang="zh-CN" dirty="0"/>
              <a:t>RMA</a:t>
            </a:r>
            <a:r>
              <a:rPr kumimoji="1" lang="zh-CN" altLang="en-US" dirty="0"/>
              <a:t>通路获取同行从核上的</a:t>
            </a:r>
            <a:r>
              <a:rPr kumimoji="1" lang="en-US" altLang="zh-CN" dirty="0" err="1"/>
              <a:t>MatB</a:t>
            </a:r>
            <a:r>
              <a:rPr kumimoji="1" lang="zh-CN" altLang="en-US" dirty="0"/>
              <a:t>。</a:t>
            </a:r>
          </a:p>
        </p:txBody>
      </p:sp>
      <p:sp>
        <p:nvSpPr>
          <p:cNvPr id="7" name="矩形 6">
            <a:extLst>
              <a:ext uri="{FF2B5EF4-FFF2-40B4-BE49-F238E27FC236}">
                <a16:creationId xmlns:a16="http://schemas.microsoft.com/office/drawing/2014/main" id="{0A5213A5-E877-74AE-AFD3-D9E65F010724}"/>
              </a:ext>
            </a:extLst>
          </p:cNvPr>
          <p:cNvSpPr/>
          <p:nvPr/>
        </p:nvSpPr>
        <p:spPr>
          <a:xfrm>
            <a:off x="6096000" y="4761580"/>
            <a:ext cx="350520" cy="377190"/>
          </a:xfrm>
          <a:prstGeom prst="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8" name="矩形 7">
            <a:extLst>
              <a:ext uri="{FF2B5EF4-FFF2-40B4-BE49-F238E27FC236}">
                <a16:creationId xmlns:a16="http://schemas.microsoft.com/office/drawing/2014/main" id="{D8CF2F7C-2BF8-A197-AA83-0C7B573CCAA3}"/>
              </a:ext>
            </a:extLst>
          </p:cNvPr>
          <p:cNvSpPr/>
          <p:nvPr/>
        </p:nvSpPr>
        <p:spPr>
          <a:xfrm>
            <a:off x="6446520" y="4761580"/>
            <a:ext cx="350520" cy="377190"/>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9" name="矩形 8">
            <a:extLst>
              <a:ext uri="{FF2B5EF4-FFF2-40B4-BE49-F238E27FC236}">
                <a16:creationId xmlns:a16="http://schemas.microsoft.com/office/drawing/2014/main" id="{536FDDD0-4E8A-BB93-BC7F-D447D1C0C4B9}"/>
              </a:ext>
            </a:extLst>
          </p:cNvPr>
          <p:cNvSpPr/>
          <p:nvPr/>
        </p:nvSpPr>
        <p:spPr>
          <a:xfrm>
            <a:off x="6812280" y="4762314"/>
            <a:ext cx="350520" cy="37719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3" name="矩形 12">
            <a:extLst>
              <a:ext uri="{FF2B5EF4-FFF2-40B4-BE49-F238E27FC236}">
                <a16:creationId xmlns:a16="http://schemas.microsoft.com/office/drawing/2014/main" id="{4692E204-9D78-C821-F9B3-EB0A2CC69B53}"/>
              </a:ext>
            </a:extLst>
          </p:cNvPr>
          <p:cNvSpPr/>
          <p:nvPr/>
        </p:nvSpPr>
        <p:spPr>
          <a:xfrm>
            <a:off x="7162800" y="4762314"/>
            <a:ext cx="350520" cy="37719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4" name="矩形 13">
            <a:extLst>
              <a:ext uri="{FF2B5EF4-FFF2-40B4-BE49-F238E27FC236}">
                <a16:creationId xmlns:a16="http://schemas.microsoft.com/office/drawing/2014/main" id="{E24B1A4C-75D1-2ED5-8383-01556C85714E}"/>
              </a:ext>
            </a:extLst>
          </p:cNvPr>
          <p:cNvSpPr/>
          <p:nvPr/>
        </p:nvSpPr>
        <p:spPr>
          <a:xfrm>
            <a:off x="7524750" y="4760846"/>
            <a:ext cx="350520" cy="377190"/>
          </a:xfrm>
          <a:prstGeom prst="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5" name="矩形 14">
            <a:extLst>
              <a:ext uri="{FF2B5EF4-FFF2-40B4-BE49-F238E27FC236}">
                <a16:creationId xmlns:a16="http://schemas.microsoft.com/office/drawing/2014/main" id="{FD18A88A-3DDC-4826-E7CE-9D86D28CFDB0}"/>
              </a:ext>
            </a:extLst>
          </p:cNvPr>
          <p:cNvSpPr/>
          <p:nvPr/>
        </p:nvSpPr>
        <p:spPr>
          <a:xfrm>
            <a:off x="7875270" y="4760846"/>
            <a:ext cx="350520" cy="37719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6" name="矩形 15">
            <a:extLst>
              <a:ext uri="{FF2B5EF4-FFF2-40B4-BE49-F238E27FC236}">
                <a16:creationId xmlns:a16="http://schemas.microsoft.com/office/drawing/2014/main" id="{37FA8D05-E56B-A84F-9408-3B53D9DCC935}"/>
              </a:ext>
            </a:extLst>
          </p:cNvPr>
          <p:cNvSpPr/>
          <p:nvPr/>
        </p:nvSpPr>
        <p:spPr>
          <a:xfrm>
            <a:off x="8241030" y="4761580"/>
            <a:ext cx="350520" cy="377190"/>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8" name="矩形 17">
            <a:extLst>
              <a:ext uri="{FF2B5EF4-FFF2-40B4-BE49-F238E27FC236}">
                <a16:creationId xmlns:a16="http://schemas.microsoft.com/office/drawing/2014/main" id="{F5200C28-7BE4-8907-9D98-F1500F4ED440}"/>
              </a:ext>
            </a:extLst>
          </p:cNvPr>
          <p:cNvSpPr/>
          <p:nvPr/>
        </p:nvSpPr>
        <p:spPr>
          <a:xfrm>
            <a:off x="8591550" y="4761580"/>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1" name="右箭头 20">
            <a:extLst>
              <a:ext uri="{FF2B5EF4-FFF2-40B4-BE49-F238E27FC236}">
                <a16:creationId xmlns:a16="http://schemas.microsoft.com/office/drawing/2014/main" id="{B7D81E09-6F08-E1E2-1754-A8DAD37F3F6A}"/>
              </a:ext>
            </a:extLst>
          </p:cNvPr>
          <p:cNvSpPr/>
          <p:nvPr/>
        </p:nvSpPr>
        <p:spPr>
          <a:xfrm>
            <a:off x="6217920" y="4298665"/>
            <a:ext cx="2023110" cy="2857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文本框 1">
            <a:extLst>
              <a:ext uri="{FF2B5EF4-FFF2-40B4-BE49-F238E27FC236}">
                <a16:creationId xmlns:a16="http://schemas.microsoft.com/office/drawing/2014/main" id="{B4F3A9C3-C4C7-4B39-987C-FDC961A572E5}"/>
              </a:ext>
            </a:extLst>
          </p:cNvPr>
          <p:cNvSpPr txBox="1"/>
          <p:nvPr/>
        </p:nvSpPr>
        <p:spPr>
          <a:xfrm>
            <a:off x="6621780" y="4072208"/>
            <a:ext cx="1443990" cy="369332"/>
          </a:xfrm>
          <a:prstGeom prst="rect">
            <a:avLst/>
          </a:prstGeom>
          <a:noFill/>
        </p:spPr>
        <p:txBody>
          <a:bodyPr wrap="square" rtlCol="0">
            <a:spAutoFit/>
          </a:bodyPr>
          <a:lstStyle/>
          <a:p>
            <a:r>
              <a:rPr kumimoji="1" lang="zh-CN" altLang="en-US" dirty="0"/>
              <a:t>计算顺序</a:t>
            </a:r>
          </a:p>
        </p:txBody>
      </p:sp>
    </p:spTree>
    <p:extLst>
      <p:ext uri="{BB962C8B-B14F-4D97-AF65-F5344CB8AC3E}">
        <p14:creationId xmlns:p14="http://schemas.microsoft.com/office/powerpoint/2010/main" val="36273051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295275" y="422752"/>
            <a:ext cx="10515600" cy="515184"/>
          </a:xfrm>
        </p:spPr>
        <p:txBody>
          <a:bodyPr/>
          <a:lstStyle/>
          <a:p>
            <a:r>
              <a:rPr lang="zh-CN" altLang="en-US" dirty="0"/>
              <a:t>方案介绍</a:t>
            </a:r>
          </a:p>
        </p:txBody>
      </p:sp>
      <p:sp>
        <p:nvSpPr>
          <p:cNvPr id="5" name="矩形 4">
            <a:extLst>
              <a:ext uri="{FF2B5EF4-FFF2-40B4-BE49-F238E27FC236}">
                <a16:creationId xmlns:a16="http://schemas.microsoft.com/office/drawing/2014/main" id="{16BB1C70-1DFD-0BF1-CED8-30940E15B35B}"/>
              </a:ext>
            </a:extLst>
          </p:cNvPr>
          <p:cNvSpPr/>
          <p:nvPr/>
        </p:nvSpPr>
        <p:spPr>
          <a:xfrm>
            <a:off x="860337" y="1924158"/>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0</a:t>
            </a:r>
            <a:endParaRPr kumimoji="1" lang="zh-CN" altLang="en-US" dirty="0"/>
          </a:p>
        </p:txBody>
      </p:sp>
      <p:sp>
        <p:nvSpPr>
          <p:cNvPr id="10" name="矩形 9">
            <a:extLst>
              <a:ext uri="{FF2B5EF4-FFF2-40B4-BE49-F238E27FC236}">
                <a16:creationId xmlns:a16="http://schemas.microsoft.com/office/drawing/2014/main" id="{CF83EB2B-9672-B59D-F71D-0C5AB2CC5367}"/>
              </a:ext>
            </a:extLst>
          </p:cNvPr>
          <p:cNvSpPr/>
          <p:nvPr/>
        </p:nvSpPr>
        <p:spPr>
          <a:xfrm>
            <a:off x="860337" y="2301348"/>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11" name="矩形 10">
            <a:extLst>
              <a:ext uri="{FF2B5EF4-FFF2-40B4-BE49-F238E27FC236}">
                <a16:creationId xmlns:a16="http://schemas.microsoft.com/office/drawing/2014/main" id="{06BCEE46-BFB4-F541-495B-BB41EFE53592}"/>
              </a:ext>
            </a:extLst>
          </p:cNvPr>
          <p:cNvSpPr/>
          <p:nvPr/>
        </p:nvSpPr>
        <p:spPr>
          <a:xfrm>
            <a:off x="860337" y="2684253"/>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12" name="矩形 11">
            <a:extLst>
              <a:ext uri="{FF2B5EF4-FFF2-40B4-BE49-F238E27FC236}">
                <a16:creationId xmlns:a16="http://schemas.microsoft.com/office/drawing/2014/main" id="{73F52965-C29E-D665-3B3D-D81555200312}"/>
              </a:ext>
            </a:extLst>
          </p:cNvPr>
          <p:cNvSpPr/>
          <p:nvPr/>
        </p:nvSpPr>
        <p:spPr>
          <a:xfrm>
            <a:off x="860337" y="3061443"/>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17" name="矩形 16">
            <a:extLst>
              <a:ext uri="{FF2B5EF4-FFF2-40B4-BE49-F238E27FC236}">
                <a16:creationId xmlns:a16="http://schemas.microsoft.com/office/drawing/2014/main" id="{2E51993F-F71D-E847-E182-1DD0E0426A7B}"/>
              </a:ext>
            </a:extLst>
          </p:cNvPr>
          <p:cNvSpPr/>
          <p:nvPr/>
        </p:nvSpPr>
        <p:spPr>
          <a:xfrm>
            <a:off x="860337" y="3438633"/>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endParaRPr kumimoji="1" lang="zh-CN" altLang="en-US" dirty="0"/>
          </a:p>
        </p:txBody>
      </p:sp>
      <p:sp>
        <p:nvSpPr>
          <p:cNvPr id="26" name="矩形 25">
            <a:extLst>
              <a:ext uri="{FF2B5EF4-FFF2-40B4-BE49-F238E27FC236}">
                <a16:creationId xmlns:a16="http://schemas.microsoft.com/office/drawing/2014/main" id="{F23AA9F8-02AA-86D8-71C3-33A7ACCBDD65}"/>
              </a:ext>
            </a:extLst>
          </p:cNvPr>
          <p:cNvSpPr/>
          <p:nvPr/>
        </p:nvSpPr>
        <p:spPr>
          <a:xfrm>
            <a:off x="860337" y="3815823"/>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5</a:t>
            </a:r>
            <a:endParaRPr kumimoji="1" lang="zh-CN" altLang="en-US" dirty="0"/>
          </a:p>
        </p:txBody>
      </p:sp>
      <p:sp>
        <p:nvSpPr>
          <p:cNvPr id="27" name="矩形 26">
            <a:extLst>
              <a:ext uri="{FF2B5EF4-FFF2-40B4-BE49-F238E27FC236}">
                <a16:creationId xmlns:a16="http://schemas.microsoft.com/office/drawing/2014/main" id="{6466FC0B-15D1-4764-D035-2FC8DCDC5129}"/>
              </a:ext>
            </a:extLst>
          </p:cNvPr>
          <p:cNvSpPr/>
          <p:nvPr/>
        </p:nvSpPr>
        <p:spPr>
          <a:xfrm>
            <a:off x="860337" y="4198728"/>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6</a:t>
            </a:r>
            <a:endParaRPr kumimoji="1" lang="zh-CN" altLang="en-US" dirty="0"/>
          </a:p>
        </p:txBody>
      </p:sp>
      <p:sp>
        <p:nvSpPr>
          <p:cNvPr id="28" name="矩形 27">
            <a:extLst>
              <a:ext uri="{FF2B5EF4-FFF2-40B4-BE49-F238E27FC236}">
                <a16:creationId xmlns:a16="http://schemas.microsoft.com/office/drawing/2014/main" id="{DDC7AD1A-0916-B205-F6A1-B07BFF94D500}"/>
              </a:ext>
            </a:extLst>
          </p:cNvPr>
          <p:cNvSpPr/>
          <p:nvPr/>
        </p:nvSpPr>
        <p:spPr>
          <a:xfrm>
            <a:off x="860337" y="4575918"/>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7</a:t>
            </a:r>
            <a:endParaRPr kumimoji="1" lang="zh-CN" altLang="en-US" dirty="0"/>
          </a:p>
        </p:txBody>
      </p:sp>
      <p:sp>
        <p:nvSpPr>
          <p:cNvPr id="66" name="文本框 65">
            <a:extLst>
              <a:ext uri="{FF2B5EF4-FFF2-40B4-BE49-F238E27FC236}">
                <a16:creationId xmlns:a16="http://schemas.microsoft.com/office/drawing/2014/main" id="{1B80F90D-2EB4-BB1D-471D-CE7A9E994023}"/>
              </a:ext>
            </a:extLst>
          </p:cNvPr>
          <p:cNvSpPr txBox="1"/>
          <p:nvPr/>
        </p:nvSpPr>
        <p:spPr>
          <a:xfrm>
            <a:off x="231687" y="3101448"/>
            <a:ext cx="582930" cy="369332"/>
          </a:xfrm>
          <a:prstGeom prst="rect">
            <a:avLst/>
          </a:prstGeom>
          <a:noFill/>
        </p:spPr>
        <p:txBody>
          <a:bodyPr wrap="square" rtlCol="0">
            <a:spAutoFit/>
          </a:bodyPr>
          <a:lstStyle/>
          <a:p>
            <a:r>
              <a:rPr kumimoji="1" lang="en-US" altLang="zh-CN" dirty="0"/>
              <a:t>M1</a:t>
            </a:r>
            <a:endParaRPr kumimoji="1" lang="zh-CN" altLang="en-US" dirty="0"/>
          </a:p>
        </p:txBody>
      </p:sp>
      <p:sp>
        <p:nvSpPr>
          <p:cNvPr id="67" name="文本框 66">
            <a:extLst>
              <a:ext uri="{FF2B5EF4-FFF2-40B4-BE49-F238E27FC236}">
                <a16:creationId xmlns:a16="http://schemas.microsoft.com/office/drawing/2014/main" id="{944F78D5-7562-A97E-3F42-4107D7CD67C3}"/>
              </a:ext>
            </a:extLst>
          </p:cNvPr>
          <p:cNvSpPr txBox="1"/>
          <p:nvPr/>
        </p:nvSpPr>
        <p:spPr>
          <a:xfrm>
            <a:off x="974637" y="1418500"/>
            <a:ext cx="582930" cy="369332"/>
          </a:xfrm>
          <a:prstGeom prst="rect">
            <a:avLst/>
          </a:prstGeom>
          <a:noFill/>
        </p:spPr>
        <p:txBody>
          <a:bodyPr wrap="square" rtlCol="0">
            <a:spAutoFit/>
          </a:bodyPr>
          <a:lstStyle/>
          <a:p>
            <a:r>
              <a:rPr kumimoji="1" lang="en-US" altLang="zh-CN" dirty="0"/>
              <a:t>K2</a:t>
            </a:r>
            <a:endParaRPr kumimoji="1" lang="zh-CN" altLang="en-US" dirty="0"/>
          </a:p>
        </p:txBody>
      </p:sp>
      <p:sp>
        <p:nvSpPr>
          <p:cNvPr id="102" name="矩形 101">
            <a:extLst>
              <a:ext uri="{FF2B5EF4-FFF2-40B4-BE49-F238E27FC236}">
                <a16:creationId xmlns:a16="http://schemas.microsoft.com/office/drawing/2014/main" id="{B9B563C3-813A-A2BE-351B-592E80A26AE1}"/>
              </a:ext>
            </a:extLst>
          </p:cNvPr>
          <p:cNvSpPr/>
          <p:nvPr/>
        </p:nvSpPr>
        <p:spPr>
          <a:xfrm>
            <a:off x="2407197" y="1023650"/>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0</a:t>
            </a:r>
            <a:endParaRPr kumimoji="1" lang="zh-CN" altLang="en-US" sz="1100" dirty="0"/>
          </a:p>
        </p:txBody>
      </p:sp>
      <p:sp>
        <p:nvSpPr>
          <p:cNvPr id="103" name="矩形 102">
            <a:extLst>
              <a:ext uri="{FF2B5EF4-FFF2-40B4-BE49-F238E27FC236}">
                <a16:creationId xmlns:a16="http://schemas.microsoft.com/office/drawing/2014/main" id="{AE74748B-2F40-DE5E-0E84-2C9EB029753C}"/>
              </a:ext>
            </a:extLst>
          </p:cNvPr>
          <p:cNvSpPr/>
          <p:nvPr/>
        </p:nvSpPr>
        <p:spPr>
          <a:xfrm>
            <a:off x="2757717" y="1023314"/>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a:t>
            </a:r>
            <a:endParaRPr kumimoji="1" lang="zh-CN" altLang="en-US" sz="1100" dirty="0"/>
          </a:p>
        </p:txBody>
      </p:sp>
      <p:sp>
        <p:nvSpPr>
          <p:cNvPr id="107" name="矩形 106">
            <a:extLst>
              <a:ext uri="{FF2B5EF4-FFF2-40B4-BE49-F238E27FC236}">
                <a16:creationId xmlns:a16="http://schemas.microsoft.com/office/drawing/2014/main" id="{077E6AE8-EEC9-FA77-6F82-741EAE1DF125}"/>
              </a:ext>
            </a:extLst>
          </p:cNvPr>
          <p:cNvSpPr/>
          <p:nvPr/>
        </p:nvSpPr>
        <p:spPr>
          <a:xfrm>
            <a:off x="3108237" y="1023146"/>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2</a:t>
            </a:r>
            <a:endParaRPr kumimoji="1" lang="zh-CN" altLang="en-US" sz="1100" dirty="0"/>
          </a:p>
        </p:txBody>
      </p:sp>
      <p:sp>
        <p:nvSpPr>
          <p:cNvPr id="108" name="矩形 107">
            <a:extLst>
              <a:ext uri="{FF2B5EF4-FFF2-40B4-BE49-F238E27FC236}">
                <a16:creationId xmlns:a16="http://schemas.microsoft.com/office/drawing/2014/main" id="{0804F25C-B610-5672-BBDF-CC04439CB80F}"/>
              </a:ext>
            </a:extLst>
          </p:cNvPr>
          <p:cNvSpPr/>
          <p:nvPr/>
        </p:nvSpPr>
        <p:spPr>
          <a:xfrm>
            <a:off x="3458757" y="1022810"/>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3</a:t>
            </a:r>
            <a:endParaRPr kumimoji="1" lang="zh-CN" altLang="en-US" sz="1100" dirty="0"/>
          </a:p>
        </p:txBody>
      </p:sp>
      <p:sp>
        <p:nvSpPr>
          <p:cNvPr id="109" name="矩形 108">
            <a:extLst>
              <a:ext uri="{FF2B5EF4-FFF2-40B4-BE49-F238E27FC236}">
                <a16:creationId xmlns:a16="http://schemas.microsoft.com/office/drawing/2014/main" id="{CFB9F46E-7BC2-9A50-DF6E-651DC6C11CD8}"/>
              </a:ext>
            </a:extLst>
          </p:cNvPr>
          <p:cNvSpPr/>
          <p:nvPr/>
        </p:nvSpPr>
        <p:spPr>
          <a:xfrm>
            <a:off x="3816897" y="1023146"/>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4</a:t>
            </a:r>
            <a:endParaRPr kumimoji="1" lang="zh-CN" altLang="en-US" sz="1100" dirty="0"/>
          </a:p>
        </p:txBody>
      </p:sp>
      <p:sp>
        <p:nvSpPr>
          <p:cNvPr id="110" name="矩形 109">
            <a:extLst>
              <a:ext uri="{FF2B5EF4-FFF2-40B4-BE49-F238E27FC236}">
                <a16:creationId xmlns:a16="http://schemas.microsoft.com/office/drawing/2014/main" id="{855CFAF3-B604-14D5-5C71-5E1A74F1853F}"/>
              </a:ext>
            </a:extLst>
          </p:cNvPr>
          <p:cNvSpPr/>
          <p:nvPr/>
        </p:nvSpPr>
        <p:spPr>
          <a:xfrm>
            <a:off x="4167417" y="1022810"/>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5</a:t>
            </a:r>
            <a:endParaRPr kumimoji="1" lang="zh-CN" altLang="en-US" sz="1100" dirty="0"/>
          </a:p>
        </p:txBody>
      </p:sp>
      <p:sp>
        <p:nvSpPr>
          <p:cNvPr id="111" name="矩形 110">
            <a:extLst>
              <a:ext uri="{FF2B5EF4-FFF2-40B4-BE49-F238E27FC236}">
                <a16:creationId xmlns:a16="http://schemas.microsoft.com/office/drawing/2014/main" id="{EAC2680D-DFAD-EE17-618D-417558970B2F}"/>
              </a:ext>
            </a:extLst>
          </p:cNvPr>
          <p:cNvSpPr/>
          <p:nvPr/>
        </p:nvSpPr>
        <p:spPr>
          <a:xfrm>
            <a:off x="4517937" y="1022642"/>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6</a:t>
            </a:r>
            <a:endParaRPr kumimoji="1" lang="zh-CN" altLang="en-US" sz="1100" dirty="0"/>
          </a:p>
        </p:txBody>
      </p:sp>
      <p:sp>
        <p:nvSpPr>
          <p:cNvPr id="112" name="矩形 111">
            <a:extLst>
              <a:ext uri="{FF2B5EF4-FFF2-40B4-BE49-F238E27FC236}">
                <a16:creationId xmlns:a16="http://schemas.microsoft.com/office/drawing/2014/main" id="{6D07DD4C-DA40-9EDE-DB43-48F0E05B6178}"/>
              </a:ext>
            </a:extLst>
          </p:cNvPr>
          <p:cNvSpPr/>
          <p:nvPr/>
        </p:nvSpPr>
        <p:spPr>
          <a:xfrm>
            <a:off x="4868457" y="1022306"/>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7</a:t>
            </a:r>
            <a:endParaRPr kumimoji="1" lang="zh-CN" altLang="en-US" sz="1100" dirty="0"/>
          </a:p>
        </p:txBody>
      </p:sp>
      <p:sp>
        <p:nvSpPr>
          <p:cNvPr id="147" name="文本框 146">
            <a:extLst>
              <a:ext uri="{FF2B5EF4-FFF2-40B4-BE49-F238E27FC236}">
                <a16:creationId xmlns:a16="http://schemas.microsoft.com/office/drawing/2014/main" id="{A95ABC6D-EBFC-601F-6E27-8B2853CB31E7}"/>
              </a:ext>
            </a:extLst>
          </p:cNvPr>
          <p:cNvSpPr txBox="1"/>
          <p:nvPr/>
        </p:nvSpPr>
        <p:spPr>
          <a:xfrm>
            <a:off x="1824267" y="1085462"/>
            <a:ext cx="582930" cy="369332"/>
          </a:xfrm>
          <a:prstGeom prst="rect">
            <a:avLst/>
          </a:prstGeom>
          <a:noFill/>
        </p:spPr>
        <p:txBody>
          <a:bodyPr wrap="square" rtlCol="0">
            <a:spAutoFit/>
          </a:bodyPr>
          <a:lstStyle/>
          <a:p>
            <a:r>
              <a:rPr kumimoji="1" lang="en-US" altLang="zh-CN" dirty="0"/>
              <a:t>K2</a:t>
            </a:r>
            <a:endParaRPr kumimoji="1" lang="zh-CN" altLang="en-US" dirty="0"/>
          </a:p>
        </p:txBody>
      </p:sp>
      <p:sp>
        <p:nvSpPr>
          <p:cNvPr id="148" name="文本框 147">
            <a:extLst>
              <a:ext uri="{FF2B5EF4-FFF2-40B4-BE49-F238E27FC236}">
                <a16:creationId xmlns:a16="http://schemas.microsoft.com/office/drawing/2014/main" id="{E13FE0AF-19F2-1A96-9E25-E4DFAE0549A8}"/>
              </a:ext>
            </a:extLst>
          </p:cNvPr>
          <p:cNvSpPr txBox="1"/>
          <p:nvPr/>
        </p:nvSpPr>
        <p:spPr>
          <a:xfrm>
            <a:off x="3207297" y="558665"/>
            <a:ext cx="582930" cy="369332"/>
          </a:xfrm>
          <a:prstGeom prst="rect">
            <a:avLst/>
          </a:prstGeom>
          <a:noFill/>
        </p:spPr>
        <p:txBody>
          <a:bodyPr wrap="square" rtlCol="0">
            <a:spAutoFit/>
          </a:bodyPr>
          <a:lstStyle/>
          <a:p>
            <a:r>
              <a:rPr kumimoji="1" lang="en-US" altLang="zh-CN" dirty="0"/>
              <a:t>N1</a:t>
            </a:r>
            <a:endParaRPr kumimoji="1" lang="zh-CN" altLang="en-US" dirty="0"/>
          </a:p>
        </p:txBody>
      </p:sp>
      <p:sp>
        <p:nvSpPr>
          <p:cNvPr id="71" name="矩形 70">
            <a:extLst>
              <a:ext uri="{FF2B5EF4-FFF2-40B4-BE49-F238E27FC236}">
                <a16:creationId xmlns:a16="http://schemas.microsoft.com/office/drawing/2014/main" id="{04915CE5-FD19-CBD8-A332-0CD216FE14DA}"/>
              </a:ext>
            </a:extLst>
          </p:cNvPr>
          <p:cNvSpPr/>
          <p:nvPr/>
        </p:nvSpPr>
        <p:spPr>
          <a:xfrm>
            <a:off x="2372907" y="1935588"/>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0</a:t>
            </a:r>
            <a:endParaRPr kumimoji="1" lang="zh-CN" altLang="en-US" dirty="0"/>
          </a:p>
        </p:txBody>
      </p:sp>
      <p:sp>
        <p:nvSpPr>
          <p:cNvPr id="72" name="矩形 71">
            <a:extLst>
              <a:ext uri="{FF2B5EF4-FFF2-40B4-BE49-F238E27FC236}">
                <a16:creationId xmlns:a16="http://schemas.microsoft.com/office/drawing/2014/main" id="{0D7F797F-0560-0A74-7268-092D438048DC}"/>
              </a:ext>
            </a:extLst>
          </p:cNvPr>
          <p:cNvSpPr/>
          <p:nvPr/>
        </p:nvSpPr>
        <p:spPr>
          <a:xfrm>
            <a:off x="2372907" y="2312778"/>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73" name="矩形 72">
            <a:extLst>
              <a:ext uri="{FF2B5EF4-FFF2-40B4-BE49-F238E27FC236}">
                <a16:creationId xmlns:a16="http://schemas.microsoft.com/office/drawing/2014/main" id="{6F4B809F-1D54-D8F4-33F4-7A4CE77900A6}"/>
              </a:ext>
            </a:extLst>
          </p:cNvPr>
          <p:cNvSpPr/>
          <p:nvPr/>
        </p:nvSpPr>
        <p:spPr>
          <a:xfrm>
            <a:off x="2372907" y="2695683"/>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74" name="矩形 73">
            <a:extLst>
              <a:ext uri="{FF2B5EF4-FFF2-40B4-BE49-F238E27FC236}">
                <a16:creationId xmlns:a16="http://schemas.microsoft.com/office/drawing/2014/main" id="{6C954204-DFB4-68A6-A2B5-AA405FDC258B}"/>
              </a:ext>
            </a:extLst>
          </p:cNvPr>
          <p:cNvSpPr/>
          <p:nvPr/>
        </p:nvSpPr>
        <p:spPr>
          <a:xfrm>
            <a:off x="2372907" y="3072873"/>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75" name="矩形 74">
            <a:extLst>
              <a:ext uri="{FF2B5EF4-FFF2-40B4-BE49-F238E27FC236}">
                <a16:creationId xmlns:a16="http://schemas.microsoft.com/office/drawing/2014/main" id="{973CE7A1-9221-C0FA-9362-4B1BCACC0E89}"/>
              </a:ext>
            </a:extLst>
          </p:cNvPr>
          <p:cNvSpPr/>
          <p:nvPr/>
        </p:nvSpPr>
        <p:spPr>
          <a:xfrm>
            <a:off x="2372907" y="3450063"/>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endParaRPr kumimoji="1" lang="zh-CN" altLang="en-US" dirty="0"/>
          </a:p>
        </p:txBody>
      </p:sp>
      <p:sp>
        <p:nvSpPr>
          <p:cNvPr id="76" name="矩形 75">
            <a:extLst>
              <a:ext uri="{FF2B5EF4-FFF2-40B4-BE49-F238E27FC236}">
                <a16:creationId xmlns:a16="http://schemas.microsoft.com/office/drawing/2014/main" id="{EAB78CB3-130A-2F7C-36AF-5D48F95239C2}"/>
              </a:ext>
            </a:extLst>
          </p:cNvPr>
          <p:cNvSpPr/>
          <p:nvPr/>
        </p:nvSpPr>
        <p:spPr>
          <a:xfrm>
            <a:off x="2372907" y="3827253"/>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5</a:t>
            </a:r>
            <a:endParaRPr kumimoji="1" lang="zh-CN" altLang="en-US" dirty="0"/>
          </a:p>
        </p:txBody>
      </p:sp>
      <p:sp>
        <p:nvSpPr>
          <p:cNvPr id="77" name="矩形 76">
            <a:extLst>
              <a:ext uri="{FF2B5EF4-FFF2-40B4-BE49-F238E27FC236}">
                <a16:creationId xmlns:a16="http://schemas.microsoft.com/office/drawing/2014/main" id="{FF3582A3-0118-020C-3680-9B6700EFB346}"/>
              </a:ext>
            </a:extLst>
          </p:cNvPr>
          <p:cNvSpPr/>
          <p:nvPr/>
        </p:nvSpPr>
        <p:spPr>
          <a:xfrm>
            <a:off x="2372907" y="4210158"/>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6</a:t>
            </a:r>
            <a:endParaRPr kumimoji="1" lang="zh-CN" altLang="en-US" dirty="0"/>
          </a:p>
        </p:txBody>
      </p:sp>
      <p:sp>
        <p:nvSpPr>
          <p:cNvPr id="78" name="矩形 77">
            <a:extLst>
              <a:ext uri="{FF2B5EF4-FFF2-40B4-BE49-F238E27FC236}">
                <a16:creationId xmlns:a16="http://schemas.microsoft.com/office/drawing/2014/main" id="{0787C977-1C92-B0B0-2692-6D99C246176E}"/>
              </a:ext>
            </a:extLst>
          </p:cNvPr>
          <p:cNvSpPr/>
          <p:nvPr/>
        </p:nvSpPr>
        <p:spPr>
          <a:xfrm>
            <a:off x="2372907" y="4587348"/>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7</a:t>
            </a:r>
            <a:endParaRPr kumimoji="1" lang="zh-CN" altLang="en-US" dirty="0"/>
          </a:p>
        </p:txBody>
      </p:sp>
      <p:sp>
        <p:nvSpPr>
          <p:cNvPr id="87" name="矩形 86">
            <a:extLst>
              <a:ext uri="{FF2B5EF4-FFF2-40B4-BE49-F238E27FC236}">
                <a16:creationId xmlns:a16="http://schemas.microsoft.com/office/drawing/2014/main" id="{DA075584-68F4-0553-503B-4C63A9C53FE2}"/>
              </a:ext>
            </a:extLst>
          </p:cNvPr>
          <p:cNvSpPr/>
          <p:nvPr/>
        </p:nvSpPr>
        <p:spPr>
          <a:xfrm>
            <a:off x="2723427" y="1935588"/>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0</a:t>
            </a:r>
            <a:endParaRPr kumimoji="1" lang="zh-CN" altLang="en-US" dirty="0"/>
          </a:p>
        </p:txBody>
      </p:sp>
      <p:sp>
        <p:nvSpPr>
          <p:cNvPr id="88" name="矩形 87">
            <a:extLst>
              <a:ext uri="{FF2B5EF4-FFF2-40B4-BE49-F238E27FC236}">
                <a16:creationId xmlns:a16="http://schemas.microsoft.com/office/drawing/2014/main" id="{F1DED91C-07E0-DEB1-30CA-0D5195AB601A}"/>
              </a:ext>
            </a:extLst>
          </p:cNvPr>
          <p:cNvSpPr/>
          <p:nvPr/>
        </p:nvSpPr>
        <p:spPr>
          <a:xfrm>
            <a:off x="2723427" y="2312778"/>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89" name="矩形 88">
            <a:extLst>
              <a:ext uri="{FF2B5EF4-FFF2-40B4-BE49-F238E27FC236}">
                <a16:creationId xmlns:a16="http://schemas.microsoft.com/office/drawing/2014/main" id="{A0E14F62-8352-85AC-F0AF-C5AD04DC3B5E}"/>
              </a:ext>
            </a:extLst>
          </p:cNvPr>
          <p:cNvSpPr/>
          <p:nvPr/>
        </p:nvSpPr>
        <p:spPr>
          <a:xfrm>
            <a:off x="2723427" y="2695683"/>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90" name="矩形 89">
            <a:extLst>
              <a:ext uri="{FF2B5EF4-FFF2-40B4-BE49-F238E27FC236}">
                <a16:creationId xmlns:a16="http://schemas.microsoft.com/office/drawing/2014/main" id="{54F7DDAC-8F2C-F11D-35E2-E5CCE8CF2502}"/>
              </a:ext>
            </a:extLst>
          </p:cNvPr>
          <p:cNvSpPr/>
          <p:nvPr/>
        </p:nvSpPr>
        <p:spPr>
          <a:xfrm>
            <a:off x="2723427" y="3072873"/>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91" name="矩形 90">
            <a:extLst>
              <a:ext uri="{FF2B5EF4-FFF2-40B4-BE49-F238E27FC236}">
                <a16:creationId xmlns:a16="http://schemas.microsoft.com/office/drawing/2014/main" id="{9A93AEE4-DDB2-E8F4-766F-C15B15FBEA89}"/>
              </a:ext>
            </a:extLst>
          </p:cNvPr>
          <p:cNvSpPr/>
          <p:nvPr/>
        </p:nvSpPr>
        <p:spPr>
          <a:xfrm>
            <a:off x="2723427" y="3450063"/>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endParaRPr kumimoji="1" lang="zh-CN" altLang="en-US" dirty="0"/>
          </a:p>
        </p:txBody>
      </p:sp>
      <p:sp>
        <p:nvSpPr>
          <p:cNvPr id="92" name="矩形 91">
            <a:extLst>
              <a:ext uri="{FF2B5EF4-FFF2-40B4-BE49-F238E27FC236}">
                <a16:creationId xmlns:a16="http://schemas.microsoft.com/office/drawing/2014/main" id="{32D79D4D-CC08-F0C6-FD92-A914B4900C53}"/>
              </a:ext>
            </a:extLst>
          </p:cNvPr>
          <p:cNvSpPr/>
          <p:nvPr/>
        </p:nvSpPr>
        <p:spPr>
          <a:xfrm>
            <a:off x="2723427" y="3827253"/>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5</a:t>
            </a:r>
            <a:endParaRPr kumimoji="1" lang="zh-CN" altLang="en-US" dirty="0"/>
          </a:p>
        </p:txBody>
      </p:sp>
      <p:sp>
        <p:nvSpPr>
          <p:cNvPr id="93" name="矩形 92">
            <a:extLst>
              <a:ext uri="{FF2B5EF4-FFF2-40B4-BE49-F238E27FC236}">
                <a16:creationId xmlns:a16="http://schemas.microsoft.com/office/drawing/2014/main" id="{BD5F3EED-3C58-324E-9305-B84C9FED62DD}"/>
              </a:ext>
            </a:extLst>
          </p:cNvPr>
          <p:cNvSpPr/>
          <p:nvPr/>
        </p:nvSpPr>
        <p:spPr>
          <a:xfrm>
            <a:off x="2723427" y="4210158"/>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6</a:t>
            </a:r>
            <a:endParaRPr kumimoji="1" lang="zh-CN" altLang="en-US" dirty="0"/>
          </a:p>
        </p:txBody>
      </p:sp>
      <p:sp>
        <p:nvSpPr>
          <p:cNvPr id="94" name="矩形 93">
            <a:extLst>
              <a:ext uri="{FF2B5EF4-FFF2-40B4-BE49-F238E27FC236}">
                <a16:creationId xmlns:a16="http://schemas.microsoft.com/office/drawing/2014/main" id="{C870FCAC-3211-5485-CFB5-39305E213684}"/>
              </a:ext>
            </a:extLst>
          </p:cNvPr>
          <p:cNvSpPr/>
          <p:nvPr/>
        </p:nvSpPr>
        <p:spPr>
          <a:xfrm>
            <a:off x="2723427" y="4587348"/>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7</a:t>
            </a:r>
            <a:endParaRPr kumimoji="1" lang="zh-CN" altLang="en-US" dirty="0"/>
          </a:p>
        </p:txBody>
      </p:sp>
      <p:sp>
        <p:nvSpPr>
          <p:cNvPr id="145" name="矩形 144">
            <a:extLst>
              <a:ext uri="{FF2B5EF4-FFF2-40B4-BE49-F238E27FC236}">
                <a16:creationId xmlns:a16="http://schemas.microsoft.com/office/drawing/2014/main" id="{1468C5A6-5F2E-6C41-DE5E-BF71A7CAA038}"/>
              </a:ext>
            </a:extLst>
          </p:cNvPr>
          <p:cNvSpPr/>
          <p:nvPr/>
        </p:nvSpPr>
        <p:spPr>
          <a:xfrm>
            <a:off x="3089187" y="1936322"/>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0</a:t>
            </a:r>
            <a:endParaRPr kumimoji="1" lang="zh-CN" altLang="en-US" dirty="0"/>
          </a:p>
        </p:txBody>
      </p:sp>
      <p:sp>
        <p:nvSpPr>
          <p:cNvPr id="146" name="矩形 145">
            <a:extLst>
              <a:ext uri="{FF2B5EF4-FFF2-40B4-BE49-F238E27FC236}">
                <a16:creationId xmlns:a16="http://schemas.microsoft.com/office/drawing/2014/main" id="{5FB05E92-FEDB-35F7-026D-DC22B9103628}"/>
              </a:ext>
            </a:extLst>
          </p:cNvPr>
          <p:cNvSpPr/>
          <p:nvPr/>
        </p:nvSpPr>
        <p:spPr>
          <a:xfrm>
            <a:off x="3089187" y="2313512"/>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149" name="矩形 148">
            <a:extLst>
              <a:ext uri="{FF2B5EF4-FFF2-40B4-BE49-F238E27FC236}">
                <a16:creationId xmlns:a16="http://schemas.microsoft.com/office/drawing/2014/main" id="{67F46A36-09E0-B35C-D210-E50A7407680C}"/>
              </a:ext>
            </a:extLst>
          </p:cNvPr>
          <p:cNvSpPr/>
          <p:nvPr/>
        </p:nvSpPr>
        <p:spPr>
          <a:xfrm>
            <a:off x="3089187" y="2696417"/>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150" name="矩形 149">
            <a:extLst>
              <a:ext uri="{FF2B5EF4-FFF2-40B4-BE49-F238E27FC236}">
                <a16:creationId xmlns:a16="http://schemas.microsoft.com/office/drawing/2014/main" id="{F645856D-D85A-AC4B-4C91-A6ECA158FD3A}"/>
              </a:ext>
            </a:extLst>
          </p:cNvPr>
          <p:cNvSpPr/>
          <p:nvPr/>
        </p:nvSpPr>
        <p:spPr>
          <a:xfrm>
            <a:off x="3089187" y="3073607"/>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152" name="矩形 151">
            <a:extLst>
              <a:ext uri="{FF2B5EF4-FFF2-40B4-BE49-F238E27FC236}">
                <a16:creationId xmlns:a16="http://schemas.microsoft.com/office/drawing/2014/main" id="{A4004266-F42B-1A51-B82C-EDD9DD99FA5F}"/>
              </a:ext>
            </a:extLst>
          </p:cNvPr>
          <p:cNvSpPr/>
          <p:nvPr/>
        </p:nvSpPr>
        <p:spPr>
          <a:xfrm>
            <a:off x="3089187" y="3450797"/>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endParaRPr kumimoji="1" lang="zh-CN" altLang="en-US" dirty="0"/>
          </a:p>
        </p:txBody>
      </p:sp>
      <p:sp>
        <p:nvSpPr>
          <p:cNvPr id="153" name="矩形 152">
            <a:extLst>
              <a:ext uri="{FF2B5EF4-FFF2-40B4-BE49-F238E27FC236}">
                <a16:creationId xmlns:a16="http://schemas.microsoft.com/office/drawing/2014/main" id="{B86EB460-688B-4250-079C-EAD05D38360E}"/>
              </a:ext>
            </a:extLst>
          </p:cNvPr>
          <p:cNvSpPr/>
          <p:nvPr/>
        </p:nvSpPr>
        <p:spPr>
          <a:xfrm>
            <a:off x="3089187" y="3827987"/>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5</a:t>
            </a:r>
            <a:endParaRPr kumimoji="1" lang="zh-CN" altLang="en-US" dirty="0"/>
          </a:p>
        </p:txBody>
      </p:sp>
      <p:sp>
        <p:nvSpPr>
          <p:cNvPr id="154" name="矩形 153">
            <a:extLst>
              <a:ext uri="{FF2B5EF4-FFF2-40B4-BE49-F238E27FC236}">
                <a16:creationId xmlns:a16="http://schemas.microsoft.com/office/drawing/2014/main" id="{6F061C96-6E20-BA6E-9F95-4BBBF503ACAA}"/>
              </a:ext>
            </a:extLst>
          </p:cNvPr>
          <p:cNvSpPr/>
          <p:nvPr/>
        </p:nvSpPr>
        <p:spPr>
          <a:xfrm>
            <a:off x="3089187" y="4210892"/>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6</a:t>
            </a:r>
            <a:endParaRPr kumimoji="1" lang="zh-CN" altLang="en-US" dirty="0"/>
          </a:p>
        </p:txBody>
      </p:sp>
      <p:sp>
        <p:nvSpPr>
          <p:cNvPr id="155" name="矩形 154">
            <a:extLst>
              <a:ext uri="{FF2B5EF4-FFF2-40B4-BE49-F238E27FC236}">
                <a16:creationId xmlns:a16="http://schemas.microsoft.com/office/drawing/2014/main" id="{2C2658F0-245E-287E-02CA-A7D5CBF9A152}"/>
              </a:ext>
            </a:extLst>
          </p:cNvPr>
          <p:cNvSpPr/>
          <p:nvPr/>
        </p:nvSpPr>
        <p:spPr>
          <a:xfrm>
            <a:off x="3089187" y="4588082"/>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7</a:t>
            </a:r>
            <a:endParaRPr kumimoji="1" lang="zh-CN" altLang="en-US" dirty="0"/>
          </a:p>
        </p:txBody>
      </p:sp>
      <p:sp>
        <p:nvSpPr>
          <p:cNvPr id="156" name="矩形 155">
            <a:extLst>
              <a:ext uri="{FF2B5EF4-FFF2-40B4-BE49-F238E27FC236}">
                <a16:creationId xmlns:a16="http://schemas.microsoft.com/office/drawing/2014/main" id="{947BC437-0DDD-7A95-25DC-FF1035965594}"/>
              </a:ext>
            </a:extLst>
          </p:cNvPr>
          <p:cNvSpPr/>
          <p:nvPr/>
        </p:nvSpPr>
        <p:spPr>
          <a:xfrm>
            <a:off x="3439707" y="1936322"/>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0</a:t>
            </a:r>
            <a:endParaRPr kumimoji="1" lang="zh-CN" altLang="en-US" dirty="0"/>
          </a:p>
        </p:txBody>
      </p:sp>
      <p:sp>
        <p:nvSpPr>
          <p:cNvPr id="157" name="矩形 156">
            <a:extLst>
              <a:ext uri="{FF2B5EF4-FFF2-40B4-BE49-F238E27FC236}">
                <a16:creationId xmlns:a16="http://schemas.microsoft.com/office/drawing/2014/main" id="{09DF6B72-EA7B-8F55-A99A-C3777D925813}"/>
              </a:ext>
            </a:extLst>
          </p:cNvPr>
          <p:cNvSpPr/>
          <p:nvPr/>
        </p:nvSpPr>
        <p:spPr>
          <a:xfrm>
            <a:off x="3439707" y="2313512"/>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158" name="矩形 157">
            <a:extLst>
              <a:ext uri="{FF2B5EF4-FFF2-40B4-BE49-F238E27FC236}">
                <a16:creationId xmlns:a16="http://schemas.microsoft.com/office/drawing/2014/main" id="{95D13704-B24B-AD2E-AE9E-9E505972271E}"/>
              </a:ext>
            </a:extLst>
          </p:cNvPr>
          <p:cNvSpPr/>
          <p:nvPr/>
        </p:nvSpPr>
        <p:spPr>
          <a:xfrm>
            <a:off x="3439707" y="2696417"/>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159" name="矩形 158">
            <a:extLst>
              <a:ext uri="{FF2B5EF4-FFF2-40B4-BE49-F238E27FC236}">
                <a16:creationId xmlns:a16="http://schemas.microsoft.com/office/drawing/2014/main" id="{3131F0DA-CB95-CAF1-A21A-4F1036FE76D6}"/>
              </a:ext>
            </a:extLst>
          </p:cNvPr>
          <p:cNvSpPr/>
          <p:nvPr/>
        </p:nvSpPr>
        <p:spPr>
          <a:xfrm>
            <a:off x="3439707" y="3073607"/>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160" name="矩形 159">
            <a:extLst>
              <a:ext uri="{FF2B5EF4-FFF2-40B4-BE49-F238E27FC236}">
                <a16:creationId xmlns:a16="http://schemas.microsoft.com/office/drawing/2014/main" id="{060B05F2-05E8-6FC7-D62E-B63D7428B0DF}"/>
              </a:ext>
            </a:extLst>
          </p:cNvPr>
          <p:cNvSpPr/>
          <p:nvPr/>
        </p:nvSpPr>
        <p:spPr>
          <a:xfrm>
            <a:off x="3439707" y="3450797"/>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endParaRPr kumimoji="1" lang="zh-CN" altLang="en-US" dirty="0"/>
          </a:p>
        </p:txBody>
      </p:sp>
      <p:sp>
        <p:nvSpPr>
          <p:cNvPr id="161" name="矩形 160">
            <a:extLst>
              <a:ext uri="{FF2B5EF4-FFF2-40B4-BE49-F238E27FC236}">
                <a16:creationId xmlns:a16="http://schemas.microsoft.com/office/drawing/2014/main" id="{FF9E4ACE-9F80-F924-F5BA-2A604C5479F3}"/>
              </a:ext>
            </a:extLst>
          </p:cNvPr>
          <p:cNvSpPr/>
          <p:nvPr/>
        </p:nvSpPr>
        <p:spPr>
          <a:xfrm>
            <a:off x="3439707" y="3827987"/>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5</a:t>
            </a:r>
            <a:endParaRPr kumimoji="1" lang="zh-CN" altLang="en-US" dirty="0"/>
          </a:p>
        </p:txBody>
      </p:sp>
      <p:sp>
        <p:nvSpPr>
          <p:cNvPr id="162" name="矩形 161">
            <a:extLst>
              <a:ext uri="{FF2B5EF4-FFF2-40B4-BE49-F238E27FC236}">
                <a16:creationId xmlns:a16="http://schemas.microsoft.com/office/drawing/2014/main" id="{8963ED61-8ED4-0B8C-C195-57B0C42FFE1A}"/>
              </a:ext>
            </a:extLst>
          </p:cNvPr>
          <p:cNvSpPr/>
          <p:nvPr/>
        </p:nvSpPr>
        <p:spPr>
          <a:xfrm>
            <a:off x="3439707" y="4210892"/>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6</a:t>
            </a:r>
            <a:endParaRPr kumimoji="1" lang="zh-CN" altLang="en-US" dirty="0"/>
          </a:p>
        </p:txBody>
      </p:sp>
      <p:sp>
        <p:nvSpPr>
          <p:cNvPr id="163" name="矩形 162">
            <a:extLst>
              <a:ext uri="{FF2B5EF4-FFF2-40B4-BE49-F238E27FC236}">
                <a16:creationId xmlns:a16="http://schemas.microsoft.com/office/drawing/2014/main" id="{F6178A3A-FEDA-8019-C7D6-84F4253A7961}"/>
              </a:ext>
            </a:extLst>
          </p:cNvPr>
          <p:cNvSpPr/>
          <p:nvPr/>
        </p:nvSpPr>
        <p:spPr>
          <a:xfrm>
            <a:off x="3439707" y="4588082"/>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7</a:t>
            </a:r>
            <a:endParaRPr kumimoji="1" lang="zh-CN" altLang="en-US" dirty="0"/>
          </a:p>
        </p:txBody>
      </p:sp>
      <p:sp>
        <p:nvSpPr>
          <p:cNvPr id="164" name="矩形 163">
            <a:extLst>
              <a:ext uri="{FF2B5EF4-FFF2-40B4-BE49-F238E27FC236}">
                <a16:creationId xmlns:a16="http://schemas.microsoft.com/office/drawing/2014/main" id="{E28901EC-0215-35E1-42BB-9AEF585A9839}"/>
              </a:ext>
            </a:extLst>
          </p:cNvPr>
          <p:cNvSpPr/>
          <p:nvPr/>
        </p:nvSpPr>
        <p:spPr>
          <a:xfrm>
            <a:off x="3801657" y="1934854"/>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0</a:t>
            </a:r>
            <a:endParaRPr kumimoji="1" lang="zh-CN" altLang="en-US" dirty="0"/>
          </a:p>
        </p:txBody>
      </p:sp>
      <p:sp>
        <p:nvSpPr>
          <p:cNvPr id="165" name="矩形 164">
            <a:extLst>
              <a:ext uri="{FF2B5EF4-FFF2-40B4-BE49-F238E27FC236}">
                <a16:creationId xmlns:a16="http://schemas.microsoft.com/office/drawing/2014/main" id="{BD887C1B-F813-547F-A2E8-6A3981C80DDC}"/>
              </a:ext>
            </a:extLst>
          </p:cNvPr>
          <p:cNvSpPr/>
          <p:nvPr/>
        </p:nvSpPr>
        <p:spPr>
          <a:xfrm>
            <a:off x="3801657" y="2312044"/>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166" name="矩形 165">
            <a:extLst>
              <a:ext uri="{FF2B5EF4-FFF2-40B4-BE49-F238E27FC236}">
                <a16:creationId xmlns:a16="http://schemas.microsoft.com/office/drawing/2014/main" id="{4613396F-B732-080B-4274-C96E7D2804DB}"/>
              </a:ext>
            </a:extLst>
          </p:cNvPr>
          <p:cNvSpPr/>
          <p:nvPr/>
        </p:nvSpPr>
        <p:spPr>
          <a:xfrm>
            <a:off x="3801657" y="2694949"/>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167" name="矩形 166">
            <a:extLst>
              <a:ext uri="{FF2B5EF4-FFF2-40B4-BE49-F238E27FC236}">
                <a16:creationId xmlns:a16="http://schemas.microsoft.com/office/drawing/2014/main" id="{79DD5936-09AF-0AA1-AACD-1E7C029D0C53}"/>
              </a:ext>
            </a:extLst>
          </p:cNvPr>
          <p:cNvSpPr/>
          <p:nvPr/>
        </p:nvSpPr>
        <p:spPr>
          <a:xfrm>
            <a:off x="3801657" y="3072139"/>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168" name="矩形 167">
            <a:extLst>
              <a:ext uri="{FF2B5EF4-FFF2-40B4-BE49-F238E27FC236}">
                <a16:creationId xmlns:a16="http://schemas.microsoft.com/office/drawing/2014/main" id="{C6FBBABA-C65B-6B46-309B-3FE1401852E0}"/>
              </a:ext>
            </a:extLst>
          </p:cNvPr>
          <p:cNvSpPr/>
          <p:nvPr/>
        </p:nvSpPr>
        <p:spPr>
          <a:xfrm>
            <a:off x="3801657" y="3449329"/>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endParaRPr kumimoji="1" lang="zh-CN" altLang="en-US" dirty="0"/>
          </a:p>
        </p:txBody>
      </p:sp>
      <p:sp>
        <p:nvSpPr>
          <p:cNvPr id="169" name="矩形 168">
            <a:extLst>
              <a:ext uri="{FF2B5EF4-FFF2-40B4-BE49-F238E27FC236}">
                <a16:creationId xmlns:a16="http://schemas.microsoft.com/office/drawing/2014/main" id="{E703362B-CDBB-BD60-6710-F724408BA867}"/>
              </a:ext>
            </a:extLst>
          </p:cNvPr>
          <p:cNvSpPr/>
          <p:nvPr/>
        </p:nvSpPr>
        <p:spPr>
          <a:xfrm>
            <a:off x="3801657" y="3826519"/>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5</a:t>
            </a:r>
            <a:endParaRPr kumimoji="1" lang="zh-CN" altLang="en-US" dirty="0"/>
          </a:p>
        </p:txBody>
      </p:sp>
      <p:sp>
        <p:nvSpPr>
          <p:cNvPr id="170" name="矩形 169">
            <a:extLst>
              <a:ext uri="{FF2B5EF4-FFF2-40B4-BE49-F238E27FC236}">
                <a16:creationId xmlns:a16="http://schemas.microsoft.com/office/drawing/2014/main" id="{51FA1121-EC6F-F441-54F0-AA2DFE4D20D9}"/>
              </a:ext>
            </a:extLst>
          </p:cNvPr>
          <p:cNvSpPr/>
          <p:nvPr/>
        </p:nvSpPr>
        <p:spPr>
          <a:xfrm>
            <a:off x="3801657" y="4209424"/>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6</a:t>
            </a:r>
            <a:endParaRPr kumimoji="1" lang="zh-CN" altLang="en-US" dirty="0"/>
          </a:p>
        </p:txBody>
      </p:sp>
      <p:sp>
        <p:nvSpPr>
          <p:cNvPr id="171" name="矩形 170">
            <a:extLst>
              <a:ext uri="{FF2B5EF4-FFF2-40B4-BE49-F238E27FC236}">
                <a16:creationId xmlns:a16="http://schemas.microsoft.com/office/drawing/2014/main" id="{62E75B86-45BC-8763-9C73-759D04C021C7}"/>
              </a:ext>
            </a:extLst>
          </p:cNvPr>
          <p:cNvSpPr/>
          <p:nvPr/>
        </p:nvSpPr>
        <p:spPr>
          <a:xfrm>
            <a:off x="3801657" y="4586614"/>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7</a:t>
            </a:r>
            <a:endParaRPr kumimoji="1" lang="zh-CN" altLang="en-US" dirty="0"/>
          </a:p>
        </p:txBody>
      </p:sp>
      <p:sp>
        <p:nvSpPr>
          <p:cNvPr id="172" name="矩形 171">
            <a:extLst>
              <a:ext uri="{FF2B5EF4-FFF2-40B4-BE49-F238E27FC236}">
                <a16:creationId xmlns:a16="http://schemas.microsoft.com/office/drawing/2014/main" id="{04A17162-68AF-5F5E-5DFE-CB950AD36828}"/>
              </a:ext>
            </a:extLst>
          </p:cNvPr>
          <p:cNvSpPr/>
          <p:nvPr/>
        </p:nvSpPr>
        <p:spPr>
          <a:xfrm>
            <a:off x="4152177" y="1934854"/>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0</a:t>
            </a:r>
            <a:endParaRPr kumimoji="1" lang="zh-CN" altLang="en-US" dirty="0"/>
          </a:p>
        </p:txBody>
      </p:sp>
      <p:sp>
        <p:nvSpPr>
          <p:cNvPr id="173" name="矩形 172">
            <a:extLst>
              <a:ext uri="{FF2B5EF4-FFF2-40B4-BE49-F238E27FC236}">
                <a16:creationId xmlns:a16="http://schemas.microsoft.com/office/drawing/2014/main" id="{FB19802D-7345-80A7-405D-5689A84A2877}"/>
              </a:ext>
            </a:extLst>
          </p:cNvPr>
          <p:cNvSpPr/>
          <p:nvPr/>
        </p:nvSpPr>
        <p:spPr>
          <a:xfrm>
            <a:off x="4152177" y="2312044"/>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174" name="矩形 173">
            <a:extLst>
              <a:ext uri="{FF2B5EF4-FFF2-40B4-BE49-F238E27FC236}">
                <a16:creationId xmlns:a16="http://schemas.microsoft.com/office/drawing/2014/main" id="{F512A7E6-FD1B-6159-6A89-65411C9A8CB6}"/>
              </a:ext>
            </a:extLst>
          </p:cNvPr>
          <p:cNvSpPr/>
          <p:nvPr/>
        </p:nvSpPr>
        <p:spPr>
          <a:xfrm>
            <a:off x="4152177" y="2694949"/>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175" name="矩形 174">
            <a:extLst>
              <a:ext uri="{FF2B5EF4-FFF2-40B4-BE49-F238E27FC236}">
                <a16:creationId xmlns:a16="http://schemas.microsoft.com/office/drawing/2014/main" id="{1292A3D0-BE62-9829-7785-1DCE1596A3AE}"/>
              </a:ext>
            </a:extLst>
          </p:cNvPr>
          <p:cNvSpPr/>
          <p:nvPr/>
        </p:nvSpPr>
        <p:spPr>
          <a:xfrm>
            <a:off x="4152177" y="3072139"/>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176" name="矩形 175">
            <a:extLst>
              <a:ext uri="{FF2B5EF4-FFF2-40B4-BE49-F238E27FC236}">
                <a16:creationId xmlns:a16="http://schemas.microsoft.com/office/drawing/2014/main" id="{90C1EC02-5150-6F4D-68B2-E02069FBD951}"/>
              </a:ext>
            </a:extLst>
          </p:cNvPr>
          <p:cNvSpPr/>
          <p:nvPr/>
        </p:nvSpPr>
        <p:spPr>
          <a:xfrm>
            <a:off x="4152177" y="3449329"/>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endParaRPr kumimoji="1" lang="zh-CN" altLang="en-US" dirty="0"/>
          </a:p>
        </p:txBody>
      </p:sp>
      <p:sp>
        <p:nvSpPr>
          <p:cNvPr id="177" name="矩形 176">
            <a:extLst>
              <a:ext uri="{FF2B5EF4-FFF2-40B4-BE49-F238E27FC236}">
                <a16:creationId xmlns:a16="http://schemas.microsoft.com/office/drawing/2014/main" id="{8673F293-CDEC-B75B-27BE-0C56AC337214}"/>
              </a:ext>
            </a:extLst>
          </p:cNvPr>
          <p:cNvSpPr/>
          <p:nvPr/>
        </p:nvSpPr>
        <p:spPr>
          <a:xfrm>
            <a:off x="4152177" y="3826519"/>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5</a:t>
            </a:r>
            <a:endParaRPr kumimoji="1" lang="zh-CN" altLang="en-US" dirty="0"/>
          </a:p>
        </p:txBody>
      </p:sp>
      <p:sp>
        <p:nvSpPr>
          <p:cNvPr id="178" name="矩形 177">
            <a:extLst>
              <a:ext uri="{FF2B5EF4-FFF2-40B4-BE49-F238E27FC236}">
                <a16:creationId xmlns:a16="http://schemas.microsoft.com/office/drawing/2014/main" id="{C2CBAFA5-73B6-7E79-EDE1-147545C36380}"/>
              </a:ext>
            </a:extLst>
          </p:cNvPr>
          <p:cNvSpPr/>
          <p:nvPr/>
        </p:nvSpPr>
        <p:spPr>
          <a:xfrm>
            <a:off x="4152177" y="4209424"/>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6</a:t>
            </a:r>
            <a:endParaRPr kumimoji="1" lang="zh-CN" altLang="en-US" dirty="0"/>
          </a:p>
        </p:txBody>
      </p:sp>
      <p:sp>
        <p:nvSpPr>
          <p:cNvPr id="179" name="矩形 178">
            <a:extLst>
              <a:ext uri="{FF2B5EF4-FFF2-40B4-BE49-F238E27FC236}">
                <a16:creationId xmlns:a16="http://schemas.microsoft.com/office/drawing/2014/main" id="{C7EC24C7-D9D7-D414-EE85-0B3DC9B267E9}"/>
              </a:ext>
            </a:extLst>
          </p:cNvPr>
          <p:cNvSpPr/>
          <p:nvPr/>
        </p:nvSpPr>
        <p:spPr>
          <a:xfrm>
            <a:off x="4152177" y="4586614"/>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7</a:t>
            </a:r>
            <a:endParaRPr kumimoji="1" lang="zh-CN" altLang="en-US" dirty="0"/>
          </a:p>
        </p:txBody>
      </p:sp>
      <p:sp>
        <p:nvSpPr>
          <p:cNvPr id="180" name="矩形 179">
            <a:extLst>
              <a:ext uri="{FF2B5EF4-FFF2-40B4-BE49-F238E27FC236}">
                <a16:creationId xmlns:a16="http://schemas.microsoft.com/office/drawing/2014/main" id="{A9899FDB-5FC4-93B2-AFBF-74B653D43408}"/>
              </a:ext>
            </a:extLst>
          </p:cNvPr>
          <p:cNvSpPr/>
          <p:nvPr/>
        </p:nvSpPr>
        <p:spPr>
          <a:xfrm>
            <a:off x="4517937" y="1935588"/>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0</a:t>
            </a:r>
            <a:endParaRPr kumimoji="1" lang="zh-CN" altLang="en-US" dirty="0"/>
          </a:p>
        </p:txBody>
      </p:sp>
      <p:sp>
        <p:nvSpPr>
          <p:cNvPr id="181" name="矩形 180">
            <a:extLst>
              <a:ext uri="{FF2B5EF4-FFF2-40B4-BE49-F238E27FC236}">
                <a16:creationId xmlns:a16="http://schemas.microsoft.com/office/drawing/2014/main" id="{AD942E8E-F099-EECA-28AC-0F8027C75E3C}"/>
              </a:ext>
            </a:extLst>
          </p:cNvPr>
          <p:cNvSpPr/>
          <p:nvPr/>
        </p:nvSpPr>
        <p:spPr>
          <a:xfrm>
            <a:off x="4517937" y="2312778"/>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182" name="矩形 181">
            <a:extLst>
              <a:ext uri="{FF2B5EF4-FFF2-40B4-BE49-F238E27FC236}">
                <a16:creationId xmlns:a16="http://schemas.microsoft.com/office/drawing/2014/main" id="{5D3CC1C9-EB1F-91A6-5800-8E9F5E21B0F7}"/>
              </a:ext>
            </a:extLst>
          </p:cNvPr>
          <p:cNvSpPr/>
          <p:nvPr/>
        </p:nvSpPr>
        <p:spPr>
          <a:xfrm>
            <a:off x="4517937" y="2695683"/>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183" name="矩形 182">
            <a:extLst>
              <a:ext uri="{FF2B5EF4-FFF2-40B4-BE49-F238E27FC236}">
                <a16:creationId xmlns:a16="http://schemas.microsoft.com/office/drawing/2014/main" id="{3DD36383-187C-49B7-76A4-4366B46EFCC8}"/>
              </a:ext>
            </a:extLst>
          </p:cNvPr>
          <p:cNvSpPr/>
          <p:nvPr/>
        </p:nvSpPr>
        <p:spPr>
          <a:xfrm>
            <a:off x="4517937" y="3072873"/>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184" name="矩形 183">
            <a:extLst>
              <a:ext uri="{FF2B5EF4-FFF2-40B4-BE49-F238E27FC236}">
                <a16:creationId xmlns:a16="http://schemas.microsoft.com/office/drawing/2014/main" id="{C1ADE286-C053-DCD7-7EBC-D4648C790FFB}"/>
              </a:ext>
            </a:extLst>
          </p:cNvPr>
          <p:cNvSpPr/>
          <p:nvPr/>
        </p:nvSpPr>
        <p:spPr>
          <a:xfrm>
            <a:off x="4517937" y="3450063"/>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endParaRPr kumimoji="1" lang="zh-CN" altLang="en-US" dirty="0"/>
          </a:p>
        </p:txBody>
      </p:sp>
      <p:sp>
        <p:nvSpPr>
          <p:cNvPr id="185" name="矩形 184">
            <a:extLst>
              <a:ext uri="{FF2B5EF4-FFF2-40B4-BE49-F238E27FC236}">
                <a16:creationId xmlns:a16="http://schemas.microsoft.com/office/drawing/2014/main" id="{613E9B35-F41B-315C-5589-0145D3BCFF2F}"/>
              </a:ext>
            </a:extLst>
          </p:cNvPr>
          <p:cNvSpPr/>
          <p:nvPr/>
        </p:nvSpPr>
        <p:spPr>
          <a:xfrm>
            <a:off x="4517937" y="3827253"/>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5</a:t>
            </a:r>
            <a:endParaRPr kumimoji="1" lang="zh-CN" altLang="en-US" dirty="0"/>
          </a:p>
        </p:txBody>
      </p:sp>
      <p:sp>
        <p:nvSpPr>
          <p:cNvPr id="186" name="矩形 185">
            <a:extLst>
              <a:ext uri="{FF2B5EF4-FFF2-40B4-BE49-F238E27FC236}">
                <a16:creationId xmlns:a16="http://schemas.microsoft.com/office/drawing/2014/main" id="{56D87FA6-ECA7-F12B-62B9-5A8ED6EB8F6D}"/>
              </a:ext>
            </a:extLst>
          </p:cNvPr>
          <p:cNvSpPr/>
          <p:nvPr/>
        </p:nvSpPr>
        <p:spPr>
          <a:xfrm>
            <a:off x="4517937" y="4210158"/>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6</a:t>
            </a:r>
            <a:endParaRPr kumimoji="1" lang="zh-CN" altLang="en-US" dirty="0"/>
          </a:p>
        </p:txBody>
      </p:sp>
      <p:sp>
        <p:nvSpPr>
          <p:cNvPr id="187" name="矩形 186">
            <a:extLst>
              <a:ext uri="{FF2B5EF4-FFF2-40B4-BE49-F238E27FC236}">
                <a16:creationId xmlns:a16="http://schemas.microsoft.com/office/drawing/2014/main" id="{B1ECFFA0-9395-F2D8-119B-A045BA2F12D2}"/>
              </a:ext>
            </a:extLst>
          </p:cNvPr>
          <p:cNvSpPr/>
          <p:nvPr/>
        </p:nvSpPr>
        <p:spPr>
          <a:xfrm>
            <a:off x="4517937" y="4587348"/>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7</a:t>
            </a:r>
            <a:endParaRPr kumimoji="1" lang="zh-CN" altLang="en-US" dirty="0"/>
          </a:p>
        </p:txBody>
      </p:sp>
      <p:sp>
        <p:nvSpPr>
          <p:cNvPr id="188" name="矩形 187">
            <a:extLst>
              <a:ext uri="{FF2B5EF4-FFF2-40B4-BE49-F238E27FC236}">
                <a16:creationId xmlns:a16="http://schemas.microsoft.com/office/drawing/2014/main" id="{30D89C17-6910-8079-FE4E-6E2E4B4AF452}"/>
              </a:ext>
            </a:extLst>
          </p:cNvPr>
          <p:cNvSpPr/>
          <p:nvPr/>
        </p:nvSpPr>
        <p:spPr>
          <a:xfrm>
            <a:off x="4868457" y="1935588"/>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0</a:t>
            </a:r>
            <a:endParaRPr kumimoji="1" lang="zh-CN" altLang="en-US" dirty="0"/>
          </a:p>
        </p:txBody>
      </p:sp>
      <p:sp>
        <p:nvSpPr>
          <p:cNvPr id="189" name="矩形 188">
            <a:extLst>
              <a:ext uri="{FF2B5EF4-FFF2-40B4-BE49-F238E27FC236}">
                <a16:creationId xmlns:a16="http://schemas.microsoft.com/office/drawing/2014/main" id="{5C6D663F-65EF-BA3C-524E-D350586E748C}"/>
              </a:ext>
            </a:extLst>
          </p:cNvPr>
          <p:cNvSpPr/>
          <p:nvPr/>
        </p:nvSpPr>
        <p:spPr>
          <a:xfrm>
            <a:off x="4868457" y="2312778"/>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190" name="矩形 189">
            <a:extLst>
              <a:ext uri="{FF2B5EF4-FFF2-40B4-BE49-F238E27FC236}">
                <a16:creationId xmlns:a16="http://schemas.microsoft.com/office/drawing/2014/main" id="{9B5273BB-6325-9889-4C41-7E1E0B8289BF}"/>
              </a:ext>
            </a:extLst>
          </p:cNvPr>
          <p:cNvSpPr/>
          <p:nvPr/>
        </p:nvSpPr>
        <p:spPr>
          <a:xfrm>
            <a:off x="4868457" y="2695683"/>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191" name="矩形 190">
            <a:extLst>
              <a:ext uri="{FF2B5EF4-FFF2-40B4-BE49-F238E27FC236}">
                <a16:creationId xmlns:a16="http://schemas.microsoft.com/office/drawing/2014/main" id="{0797F8B5-4951-6C8F-DA26-E8ED3A8C77BC}"/>
              </a:ext>
            </a:extLst>
          </p:cNvPr>
          <p:cNvSpPr/>
          <p:nvPr/>
        </p:nvSpPr>
        <p:spPr>
          <a:xfrm>
            <a:off x="4868457" y="3072873"/>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192" name="矩形 191">
            <a:extLst>
              <a:ext uri="{FF2B5EF4-FFF2-40B4-BE49-F238E27FC236}">
                <a16:creationId xmlns:a16="http://schemas.microsoft.com/office/drawing/2014/main" id="{EC8F9342-574A-D074-4D04-B945A57ECD53}"/>
              </a:ext>
            </a:extLst>
          </p:cNvPr>
          <p:cNvSpPr/>
          <p:nvPr/>
        </p:nvSpPr>
        <p:spPr>
          <a:xfrm>
            <a:off x="4868457" y="3450063"/>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endParaRPr kumimoji="1" lang="zh-CN" altLang="en-US" dirty="0"/>
          </a:p>
        </p:txBody>
      </p:sp>
      <p:sp>
        <p:nvSpPr>
          <p:cNvPr id="193" name="矩形 192">
            <a:extLst>
              <a:ext uri="{FF2B5EF4-FFF2-40B4-BE49-F238E27FC236}">
                <a16:creationId xmlns:a16="http://schemas.microsoft.com/office/drawing/2014/main" id="{4F52F1C7-7BF0-9C1E-2934-C7EDAC540A7A}"/>
              </a:ext>
            </a:extLst>
          </p:cNvPr>
          <p:cNvSpPr/>
          <p:nvPr/>
        </p:nvSpPr>
        <p:spPr>
          <a:xfrm>
            <a:off x="4868457" y="3827253"/>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5</a:t>
            </a:r>
            <a:endParaRPr kumimoji="1" lang="zh-CN" altLang="en-US" dirty="0"/>
          </a:p>
        </p:txBody>
      </p:sp>
      <p:sp>
        <p:nvSpPr>
          <p:cNvPr id="194" name="矩形 193">
            <a:extLst>
              <a:ext uri="{FF2B5EF4-FFF2-40B4-BE49-F238E27FC236}">
                <a16:creationId xmlns:a16="http://schemas.microsoft.com/office/drawing/2014/main" id="{C5B3E90F-069A-1859-E4C3-A955B5E95F77}"/>
              </a:ext>
            </a:extLst>
          </p:cNvPr>
          <p:cNvSpPr/>
          <p:nvPr/>
        </p:nvSpPr>
        <p:spPr>
          <a:xfrm>
            <a:off x="4868457" y="4210158"/>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6</a:t>
            </a:r>
            <a:endParaRPr kumimoji="1" lang="zh-CN" altLang="en-US" dirty="0"/>
          </a:p>
        </p:txBody>
      </p:sp>
      <p:sp>
        <p:nvSpPr>
          <p:cNvPr id="195" name="矩形 194">
            <a:extLst>
              <a:ext uri="{FF2B5EF4-FFF2-40B4-BE49-F238E27FC236}">
                <a16:creationId xmlns:a16="http://schemas.microsoft.com/office/drawing/2014/main" id="{8DE58D0B-48C5-2CDE-8B66-12393B801A23}"/>
              </a:ext>
            </a:extLst>
          </p:cNvPr>
          <p:cNvSpPr/>
          <p:nvPr/>
        </p:nvSpPr>
        <p:spPr>
          <a:xfrm>
            <a:off x="4868457" y="4587348"/>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7</a:t>
            </a:r>
            <a:endParaRPr kumimoji="1" lang="zh-CN" altLang="en-US" dirty="0"/>
          </a:p>
        </p:txBody>
      </p:sp>
      <p:sp>
        <p:nvSpPr>
          <p:cNvPr id="2" name="矩形 1">
            <a:extLst>
              <a:ext uri="{FF2B5EF4-FFF2-40B4-BE49-F238E27FC236}">
                <a16:creationId xmlns:a16="http://schemas.microsoft.com/office/drawing/2014/main" id="{2D1FAA3E-1132-4B36-6464-2BFD93635872}"/>
              </a:ext>
            </a:extLst>
          </p:cNvPr>
          <p:cNvSpPr/>
          <p:nvPr/>
        </p:nvSpPr>
        <p:spPr>
          <a:xfrm>
            <a:off x="6027420" y="1923318"/>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8</a:t>
            </a:r>
            <a:endParaRPr kumimoji="1" lang="zh-CN" altLang="en-US" dirty="0"/>
          </a:p>
        </p:txBody>
      </p:sp>
      <p:sp>
        <p:nvSpPr>
          <p:cNvPr id="3" name="矩形 2">
            <a:extLst>
              <a:ext uri="{FF2B5EF4-FFF2-40B4-BE49-F238E27FC236}">
                <a16:creationId xmlns:a16="http://schemas.microsoft.com/office/drawing/2014/main" id="{942C38C8-7564-58EA-5630-B4FF056F3CBA}"/>
              </a:ext>
            </a:extLst>
          </p:cNvPr>
          <p:cNvSpPr/>
          <p:nvPr/>
        </p:nvSpPr>
        <p:spPr>
          <a:xfrm>
            <a:off x="6027420" y="2300508"/>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9</a:t>
            </a:r>
            <a:endParaRPr kumimoji="1" lang="zh-CN" altLang="en-US" dirty="0"/>
          </a:p>
        </p:txBody>
      </p:sp>
      <p:sp>
        <p:nvSpPr>
          <p:cNvPr id="6" name="矩形 5">
            <a:extLst>
              <a:ext uri="{FF2B5EF4-FFF2-40B4-BE49-F238E27FC236}">
                <a16:creationId xmlns:a16="http://schemas.microsoft.com/office/drawing/2014/main" id="{B4A570B8-FEB9-9186-B510-D77C12FA6C14}"/>
              </a:ext>
            </a:extLst>
          </p:cNvPr>
          <p:cNvSpPr/>
          <p:nvPr/>
        </p:nvSpPr>
        <p:spPr>
          <a:xfrm>
            <a:off x="6027420" y="2683413"/>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10</a:t>
            </a:r>
            <a:endParaRPr kumimoji="1" lang="zh-CN" altLang="en-US" dirty="0"/>
          </a:p>
        </p:txBody>
      </p:sp>
      <p:sp>
        <p:nvSpPr>
          <p:cNvPr id="7" name="矩形 6">
            <a:extLst>
              <a:ext uri="{FF2B5EF4-FFF2-40B4-BE49-F238E27FC236}">
                <a16:creationId xmlns:a16="http://schemas.microsoft.com/office/drawing/2014/main" id="{178D664E-17C3-3FA5-E15A-12E176C75C2E}"/>
              </a:ext>
            </a:extLst>
          </p:cNvPr>
          <p:cNvSpPr/>
          <p:nvPr/>
        </p:nvSpPr>
        <p:spPr>
          <a:xfrm>
            <a:off x="6027420" y="3060603"/>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11</a:t>
            </a:r>
            <a:endParaRPr kumimoji="1" lang="zh-CN" altLang="en-US" dirty="0"/>
          </a:p>
        </p:txBody>
      </p:sp>
      <p:sp>
        <p:nvSpPr>
          <p:cNvPr id="8" name="矩形 7">
            <a:extLst>
              <a:ext uri="{FF2B5EF4-FFF2-40B4-BE49-F238E27FC236}">
                <a16:creationId xmlns:a16="http://schemas.microsoft.com/office/drawing/2014/main" id="{B6419172-F277-3E86-FF59-171D41BDC952}"/>
              </a:ext>
            </a:extLst>
          </p:cNvPr>
          <p:cNvSpPr/>
          <p:nvPr/>
        </p:nvSpPr>
        <p:spPr>
          <a:xfrm>
            <a:off x="6027420" y="3437793"/>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12</a:t>
            </a:r>
            <a:endParaRPr kumimoji="1" lang="zh-CN" altLang="en-US" dirty="0"/>
          </a:p>
        </p:txBody>
      </p:sp>
      <p:sp>
        <p:nvSpPr>
          <p:cNvPr id="9" name="矩形 8">
            <a:extLst>
              <a:ext uri="{FF2B5EF4-FFF2-40B4-BE49-F238E27FC236}">
                <a16:creationId xmlns:a16="http://schemas.microsoft.com/office/drawing/2014/main" id="{2E1A3D0A-715F-0772-4906-0E4DB5BB1C40}"/>
              </a:ext>
            </a:extLst>
          </p:cNvPr>
          <p:cNvSpPr/>
          <p:nvPr/>
        </p:nvSpPr>
        <p:spPr>
          <a:xfrm>
            <a:off x="6027420" y="3814983"/>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13</a:t>
            </a:r>
            <a:endParaRPr kumimoji="1" lang="zh-CN" altLang="en-US" dirty="0"/>
          </a:p>
        </p:txBody>
      </p:sp>
      <p:sp>
        <p:nvSpPr>
          <p:cNvPr id="13" name="矩形 12">
            <a:extLst>
              <a:ext uri="{FF2B5EF4-FFF2-40B4-BE49-F238E27FC236}">
                <a16:creationId xmlns:a16="http://schemas.microsoft.com/office/drawing/2014/main" id="{F45FCD41-7095-EA74-B0C9-0868A7C0E9C1}"/>
              </a:ext>
            </a:extLst>
          </p:cNvPr>
          <p:cNvSpPr/>
          <p:nvPr/>
        </p:nvSpPr>
        <p:spPr>
          <a:xfrm>
            <a:off x="6027420" y="4197888"/>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14</a:t>
            </a:r>
            <a:endParaRPr kumimoji="1" lang="zh-CN" altLang="en-US" dirty="0"/>
          </a:p>
        </p:txBody>
      </p:sp>
      <p:sp>
        <p:nvSpPr>
          <p:cNvPr id="14" name="矩形 13">
            <a:extLst>
              <a:ext uri="{FF2B5EF4-FFF2-40B4-BE49-F238E27FC236}">
                <a16:creationId xmlns:a16="http://schemas.microsoft.com/office/drawing/2014/main" id="{AFBA9D29-E488-81AF-32FF-7EBABD5AEA6A}"/>
              </a:ext>
            </a:extLst>
          </p:cNvPr>
          <p:cNvSpPr/>
          <p:nvPr/>
        </p:nvSpPr>
        <p:spPr>
          <a:xfrm>
            <a:off x="6027420" y="4575078"/>
            <a:ext cx="697230" cy="3771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15</a:t>
            </a:r>
            <a:endParaRPr kumimoji="1" lang="zh-CN" altLang="en-US" dirty="0"/>
          </a:p>
        </p:txBody>
      </p:sp>
      <p:sp>
        <p:nvSpPr>
          <p:cNvPr id="15" name="文本框 14">
            <a:extLst>
              <a:ext uri="{FF2B5EF4-FFF2-40B4-BE49-F238E27FC236}">
                <a16:creationId xmlns:a16="http://schemas.microsoft.com/office/drawing/2014/main" id="{BE9CB1A5-7A2D-BB87-DC82-B59177648867}"/>
              </a:ext>
            </a:extLst>
          </p:cNvPr>
          <p:cNvSpPr txBox="1"/>
          <p:nvPr/>
        </p:nvSpPr>
        <p:spPr>
          <a:xfrm>
            <a:off x="5398770" y="3100608"/>
            <a:ext cx="582930" cy="369332"/>
          </a:xfrm>
          <a:prstGeom prst="rect">
            <a:avLst/>
          </a:prstGeom>
          <a:noFill/>
        </p:spPr>
        <p:txBody>
          <a:bodyPr wrap="square" rtlCol="0">
            <a:spAutoFit/>
          </a:bodyPr>
          <a:lstStyle/>
          <a:p>
            <a:r>
              <a:rPr kumimoji="1" lang="en-US" altLang="zh-CN" dirty="0"/>
              <a:t>M1</a:t>
            </a:r>
            <a:endParaRPr kumimoji="1" lang="zh-CN" altLang="en-US" dirty="0"/>
          </a:p>
        </p:txBody>
      </p:sp>
      <p:sp>
        <p:nvSpPr>
          <p:cNvPr id="16" name="文本框 15">
            <a:extLst>
              <a:ext uri="{FF2B5EF4-FFF2-40B4-BE49-F238E27FC236}">
                <a16:creationId xmlns:a16="http://schemas.microsoft.com/office/drawing/2014/main" id="{F6344912-FFD8-0284-0489-FA9D065B2029}"/>
              </a:ext>
            </a:extLst>
          </p:cNvPr>
          <p:cNvSpPr txBox="1"/>
          <p:nvPr/>
        </p:nvSpPr>
        <p:spPr>
          <a:xfrm>
            <a:off x="6141720" y="1417660"/>
            <a:ext cx="582930" cy="369332"/>
          </a:xfrm>
          <a:prstGeom prst="rect">
            <a:avLst/>
          </a:prstGeom>
          <a:noFill/>
        </p:spPr>
        <p:txBody>
          <a:bodyPr wrap="square" rtlCol="0">
            <a:spAutoFit/>
          </a:bodyPr>
          <a:lstStyle/>
          <a:p>
            <a:r>
              <a:rPr kumimoji="1" lang="en-US" altLang="zh-CN" dirty="0"/>
              <a:t>K2</a:t>
            </a:r>
            <a:endParaRPr kumimoji="1" lang="zh-CN" altLang="en-US" dirty="0"/>
          </a:p>
        </p:txBody>
      </p:sp>
      <p:sp>
        <p:nvSpPr>
          <p:cNvPr id="18" name="矩形 17">
            <a:extLst>
              <a:ext uri="{FF2B5EF4-FFF2-40B4-BE49-F238E27FC236}">
                <a16:creationId xmlns:a16="http://schemas.microsoft.com/office/drawing/2014/main" id="{0F4A4FF9-7A90-5929-DBCA-54F81C2F651C}"/>
              </a:ext>
            </a:extLst>
          </p:cNvPr>
          <p:cNvSpPr/>
          <p:nvPr/>
        </p:nvSpPr>
        <p:spPr>
          <a:xfrm>
            <a:off x="7574280" y="1022810"/>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8</a:t>
            </a:r>
            <a:endParaRPr kumimoji="1" lang="zh-CN" altLang="en-US" sz="1100" dirty="0"/>
          </a:p>
        </p:txBody>
      </p:sp>
      <p:sp>
        <p:nvSpPr>
          <p:cNvPr id="19" name="矩形 18">
            <a:extLst>
              <a:ext uri="{FF2B5EF4-FFF2-40B4-BE49-F238E27FC236}">
                <a16:creationId xmlns:a16="http://schemas.microsoft.com/office/drawing/2014/main" id="{A6D4895F-F608-5772-F542-40DCE803013B}"/>
              </a:ext>
            </a:extLst>
          </p:cNvPr>
          <p:cNvSpPr/>
          <p:nvPr/>
        </p:nvSpPr>
        <p:spPr>
          <a:xfrm>
            <a:off x="7924800" y="1022474"/>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9</a:t>
            </a:r>
            <a:endParaRPr kumimoji="1" lang="zh-CN" altLang="en-US" sz="1100" dirty="0"/>
          </a:p>
        </p:txBody>
      </p:sp>
      <p:sp>
        <p:nvSpPr>
          <p:cNvPr id="20" name="矩形 19">
            <a:extLst>
              <a:ext uri="{FF2B5EF4-FFF2-40B4-BE49-F238E27FC236}">
                <a16:creationId xmlns:a16="http://schemas.microsoft.com/office/drawing/2014/main" id="{0EA912CF-B2A2-471E-564B-6C2D6A0720F2}"/>
              </a:ext>
            </a:extLst>
          </p:cNvPr>
          <p:cNvSpPr/>
          <p:nvPr/>
        </p:nvSpPr>
        <p:spPr>
          <a:xfrm>
            <a:off x="8275320" y="1022306"/>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10</a:t>
            </a:r>
            <a:endParaRPr kumimoji="1" lang="zh-CN" altLang="en-US" sz="1100" dirty="0"/>
          </a:p>
        </p:txBody>
      </p:sp>
      <p:sp>
        <p:nvSpPr>
          <p:cNvPr id="21" name="矩形 20">
            <a:extLst>
              <a:ext uri="{FF2B5EF4-FFF2-40B4-BE49-F238E27FC236}">
                <a16:creationId xmlns:a16="http://schemas.microsoft.com/office/drawing/2014/main" id="{4730FBBD-35AD-1CF4-3E11-E354188AE6AC}"/>
              </a:ext>
            </a:extLst>
          </p:cNvPr>
          <p:cNvSpPr/>
          <p:nvPr/>
        </p:nvSpPr>
        <p:spPr>
          <a:xfrm>
            <a:off x="8625840" y="1021970"/>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11</a:t>
            </a:r>
            <a:endParaRPr kumimoji="1" lang="zh-CN" altLang="en-US" sz="1100" dirty="0"/>
          </a:p>
        </p:txBody>
      </p:sp>
      <p:sp>
        <p:nvSpPr>
          <p:cNvPr id="22" name="矩形 21">
            <a:extLst>
              <a:ext uri="{FF2B5EF4-FFF2-40B4-BE49-F238E27FC236}">
                <a16:creationId xmlns:a16="http://schemas.microsoft.com/office/drawing/2014/main" id="{6B83482C-7370-5ED7-F20D-D8B41499AD4E}"/>
              </a:ext>
            </a:extLst>
          </p:cNvPr>
          <p:cNvSpPr/>
          <p:nvPr/>
        </p:nvSpPr>
        <p:spPr>
          <a:xfrm>
            <a:off x="8983980" y="1022306"/>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12</a:t>
            </a:r>
            <a:endParaRPr kumimoji="1" lang="zh-CN" altLang="en-US" sz="1100" dirty="0"/>
          </a:p>
        </p:txBody>
      </p:sp>
      <p:sp>
        <p:nvSpPr>
          <p:cNvPr id="23" name="矩形 22">
            <a:extLst>
              <a:ext uri="{FF2B5EF4-FFF2-40B4-BE49-F238E27FC236}">
                <a16:creationId xmlns:a16="http://schemas.microsoft.com/office/drawing/2014/main" id="{DE5FE749-26B4-2EF4-D364-E12A46DB7269}"/>
              </a:ext>
            </a:extLst>
          </p:cNvPr>
          <p:cNvSpPr/>
          <p:nvPr/>
        </p:nvSpPr>
        <p:spPr>
          <a:xfrm>
            <a:off x="9334500" y="1021970"/>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13</a:t>
            </a:r>
            <a:endParaRPr kumimoji="1" lang="zh-CN" altLang="en-US" sz="1100" dirty="0"/>
          </a:p>
        </p:txBody>
      </p:sp>
      <p:sp>
        <p:nvSpPr>
          <p:cNvPr id="24" name="矩形 23">
            <a:extLst>
              <a:ext uri="{FF2B5EF4-FFF2-40B4-BE49-F238E27FC236}">
                <a16:creationId xmlns:a16="http://schemas.microsoft.com/office/drawing/2014/main" id="{914E2283-C7B9-4641-5DA3-FFD5AFDBE1AA}"/>
              </a:ext>
            </a:extLst>
          </p:cNvPr>
          <p:cNvSpPr/>
          <p:nvPr/>
        </p:nvSpPr>
        <p:spPr>
          <a:xfrm>
            <a:off x="9685020" y="1021802"/>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14</a:t>
            </a:r>
            <a:endParaRPr kumimoji="1" lang="zh-CN" altLang="en-US" sz="1100" dirty="0"/>
          </a:p>
        </p:txBody>
      </p:sp>
      <p:sp>
        <p:nvSpPr>
          <p:cNvPr id="25" name="矩形 24">
            <a:extLst>
              <a:ext uri="{FF2B5EF4-FFF2-40B4-BE49-F238E27FC236}">
                <a16:creationId xmlns:a16="http://schemas.microsoft.com/office/drawing/2014/main" id="{93F606C5-7D6D-A68C-372A-E91198B54F7C}"/>
              </a:ext>
            </a:extLst>
          </p:cNvPr>
          <p:cNvSpPr/>
          <p:nvPr/>
        </p:nvSpPr>
        <p:spPr>
          <a:xfrm>
            <a:off x="10035540" y="1021466"/>
            <a:ext cx="350520" cy="637618"/>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15</a:t>
            </a:r>
            <a:endParaRPr kumimoji="1" lang="zh-CN" altLang="en-US" sz="1100" dirty="0"/>
          </a:p>
        </p:txBody>
      </p:sp>
      <p:sp>
        <p:nvSpPr>
          <p:cNvPr id="29" name="文本框 28">
            <a:extLst>
              <a:ext uri="{FF2B5EF4-FFF2-40B4-BE49-F238E27FC236}">
                <a16:creationId xmlns:a16="http://schemas.microsoft.com/office/drawing/2014/main" id="{06B39B1F-2B8D-1FEF-7DAA-50794286C759}"/>
              </a:ext>
            </a:extLst>
          </p:cNvPr>
          <p:cNvSpPr txBox="1"/>
          <p:nvPr/>
        </p:nvSpPr>
        <p:spPr>
          <a:xfrm>
            <a:off x="6991350" y="1084622"/>
            <a:ext cx="582930" cy="369332"/>
          </a:xfrm>
          <a:prstGeom prst="rect">
            <a:avLst/>
          </a:prstGeom>
          <a:noFill/>
        </p:spPr>
        <p:txBody>
          <a:bodyPr wrap="square" rtlCol="0">
            <a:spAutoFit/>
          </a:bodyPr>
          <a:lstStyle/>
          <a:p>
            <a:r>
              <a:rPr kumimoji="1" lang="en-US" altLang="zh-CN" dirty="0"/>
              <a:t>K2</a:t>
            </a:r>
            <a:endParaRPr kumimoji="1" lang="zh-CN" altLang="en-US" dirty="0"/>
          </a:p>
        </p:txBody>
      </p:sp>
      <p:sp>
        <p:nvSpPr>
          <p:cNvPr id="30" name="文本框 29">
            <a:extLst>
              <a:ext uri="{FF2B5EF4-FFF2-40B4-BE49-F238E27FC236}">
                <a16:creationId xmlns:a16="http://schemas.microsoft.com/office/drawing/2014/main" id="{F2A05E01-FF0B-CA88-3C88-AD9AE8126416}"/>
              </a:ext>
            </a:extLst>
          </p:cNvPr>
          <p:cNvSpPr txBox="1"/>
          <p:nvPr/>
        </p:nvSpPr>
        <p:spPr>
          <a:xfrm>
            <a:off x="8342267" y="465095"/>
            <a:ext cx="582930" cy="369332"/>
          </a:xfrm>
          <a:prstGeom prst="rect">
            <a:avLst/>
          </a:prstGeom>
          <a:noFill/>
        </p:spPr>
        <p:txBody>
          <a:bodyPr wrap="square" rtlCol="0">
            <a:spAutoFit/>
          </a:bodyPr>
          <a:lstStyle/>
          <a:p>
            <a:r>
              <a:rPr kumimoji="1" lang="en-US" altLang="zh-CN" dirty="0"/>
              <a:t>N1</a:t>
            </a:r>
            <a:endParaRPr kumimoji="1" lang="zh-CN" altLang="en-US" dirty="0"/>
          </a:p>
        </p:txBody>
      </p:sp>
      <p:sp>
        <p:nvSpPr>
          <p:cNvPr id="31" name="矩形 30">
            <a:extLst>
              <a:ext uri="{FF2B5EF4-FFF2-40B4-BE49-F238E27FC236}">
                <a16:creationId xmlns:a16="http://schemas.microsoft.com/office/drawing/2014/main" id="{E41F1CC1-A464-A1ED-83A0-E621799A2B96}"/>
              </a:ext>
            </a:extLst>
          </p:cNvPr>
          <p:cNvSpPr/>
          <p:nvPr/>
        </p:nvSpPr>
        <p:spPr>
          <a:xfrm>
            <a:off x="7539990" y="1934748"/>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8</a:t>
            </a:r>
            <a:endParaRPr kumimoji="1" lang="zh-CN" altLang="en-US" sz="1100" dirty="0"/>
          </a:p>
        </p:txBody>
      </p:sp>
      <p:sp>
        <p:nvSpPr>
          <p:cNvPr id="39" name="矩形 38">
            <a:extLst>
              <a:ext uri="{FF2B5EF4-FFF2-40B4-BE49-F238E27FC236}">
                <a16:creationId xmlns:a16="http://schemas.microsoft.com/office/drawing/2014/main" id="{2AAF99C1-8B60-599D-DE29-98CEC9502002}"/>
              </a:ext>
            </a:extLst>
          </p:cNvPr>
          <p:cNvSpPr/>
          <p:nvPr/>
        </p:nvSpPr>
        <p:spPr>
          <a:xfrm>
            <a:off x="7890510" y="1934748"/>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8</a:t>
            </a:r>
            <a:endParaRPr kumimoji="1" lang="zh-CN" altLang="en-US" sz="1100" dirty="0"/>
          </a:p>
        </p:txBody>
      </p:sp>
      <p:sp>
        <p:nvSpPr>
          <p:cNvPr id="47" name="矩形 46">
            <a:extLst>
              <a:ext uri="{FF2B5EF4-FFF2-40B4-BE49-F238E27FC236}">
                <a16:creationId xmlns:a16="http://schemas.microsoft.com/office/drawing/2014/main" id="{0262F264-1483-9FE8-6BA4-88A6BA39149F}"/>
              </a:ext>
            </a:extLst>
          </p:cNvPr>
          <p:cNvSpPr/>
          <p:nvPr/>
        </p:nvSpPr>
        <p:spPr>
          <a:xfrm>
            <a:off x="8256270" y="1935482"/>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8</a:t>
            </a:r>
            <a:endParaRPr kumimoji="1" lang="zh-CN" altLang="en-US" sz="1100" dirty="0"/>
          </a:p>
        </p:txBody>
      </p:sp>
      <p:sp>
        <p:nvSpPr>
          <p:cNvPr id="55" name="矩形 54">
            <a:extLst>
              <a:ext uri="{FF2B5EF4-FFF2-40B4-BE49-F238E27FC236}">
                <a16:creationId xmlns:a16="http://schemas.microsoft.com/office/drawing/2014/main" id="{D18DFDDD-A248-CBAC-0F58-A339BE01BF45}"/>
              </a:ext>
            </a:extLst>
          </p:cNvPr>
          <p:cNvSpPr/>
          <p:nvPr/>
        </p:nvSpPr>
        <p:spPr>
          <a:xfrm>
            <a:off x="8606790" y="1935482"/>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8</a:t>
            </a:r>
            <a:endParaRPr kumimoji="1" lang="zh-CN" altLang="en-US" sz="1100" dirty="0"/>
          </a:p>
        </p:txBody>
      </p:sp>
      <p:sp>
        <p:nvSpPr>
          <p:cNvPr id="63" name="矩形 62">
            <a:extLst>
              <a:ext uri="{FF2B5EF4-FFF2-40B4-BE49-F238E27FC236}">
                <a16:creationId xmlns:a16="http://schemas.microsoft.com/office/drawing/2014/main" id="{26708A44-7F7D-B41B-F647-2EC83921E20D}"/>
              </a:ext>
            </a:extLst>
          </p:cNvPr>
          <p:cNvSpPr/>
          <p:nvPr/>
        </p:nvSpPr>
        <p:spPr>
          <a:xfrm>
            <a:off x="8968740" y="1934014"/>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8</a:t>
            </a:r>
            <a:endParaRPr kumimoji="1" lang="zh-CN" altLang="en-US" sz="1100" dirty="0"/>
          </a:p>
        </p:txBody>
      </p:sp>
      <p:sp>
        <p:nvSpPr>
          <p:cNvPr id="81" name="矩形 80">
            <a:extLst>
              <a:ext uri="{FF2B5EF4-FFF2-40B4-BE49-F238E27FC236}">
                <a16:creationId xmlns:a16="http://schemas.microsoft.com/office/drawing/2014/main" id="{3D7B0A0A-5AC3-BC08-5CE0-2666910245A7}"/>
              </a:ext>
            </a:extLst>
          </p:cNvPr>
          <p:cNvSpPr/>
          <p:nvPr/>
        </p:nvSpPr>
        <p:spPr>
          <a:xfrm>
            <a:off x="9319260" y="1934014"/>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8</a:t>
            </a:r>
            <a:endParaRPr kumimoji="1" lang="zh-CN" altLang="en-US" sz="1100" dirty="0"/>
          </a:p>
        </p:txBody>
      </p:sp>
      <p:sp>
        <p:nvSpPr>
          <p:cNvPr id="97" name="矩形 96">
            <a:extLst>
              <a:ext uri="{FF2B5EF4-FFF2-40B4-BE49-F238E27FC236}">
                <a16:creationId xmlns:a16="http://schemas.microsoft.com/office/drawing/2014/main" id="{57EC5E21-F182-ED82-A58E-000010A6444A}"/>
              </a:ext>
            </a:extLst>
          </p:cNvPr>
          <p:cNvSpPr/>
          <p:nvPr/>
        </p:nvSpPr>
        <p:spPr>
          <a:xfrm>
            <a:off x="9685020" y="1934748"/>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8</a:t>
            </a:r>
            <a:endParaRPr kumimoji="1" lang="zh-CN" altLang="en-US" sz="1100" dirty="0"/>
          </a:p>
        </p:txBody>
      </p:sp>
      <p:sp>
        <p:nvSpPr>
          <p:cNvPr id="113" name="矩形 112">
            <a:extLst>
              <a:ext uri="{FF2B5EF4-FFF2-40B4-BE49-F238E27FC236}">
                <a16:creationId xmlns:a16="http://schemas.microsoft.com/office/drawing/2014/main" id="{A411A0C6-5D18-2A1B-9572-F0B578688693}"/>
              </a:ext>
            </a:extLst>
          </p:cNvPr>
          <p:cNvSpPr/>
          <p:nvPr/>
        </p:nvSpPr>
        <p:spPr>
          <a:xfrm>
            <a:off x="10035540" y="1934748"/>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8</a:t>
            </a:r>
            <a:endParaRPr kumimoji="1" lang="zh-CN" altLang="en-US" sz="1100" dirty="0"/>
          </a:p>
        </p:txBody>
      </p:sp>
      <p:sp>
        <p:nvSpPr>
          <p:cNvPr id="121" name="矩形 120">
            <a:extLst>
              <a:ext uri="{FF2B5EF4-FFF2-40B4-BE49-F238E27FC236}">
                <a16:creationId xmlns:a16="http://schemas.microsoft.com/office/drawing/2014/main" id="{D83ABABF-1D5F-8C5F-1704-F9756CFFBC57}"/>
              </a:ext>
            </a:extLst>
          </p:cNvPr>
          <p:cNvSpPr/>
          <p:nvPr/>
        </p:nvSpPr>
        <p:spPr>
          <a:xfrm>
            <a:off x="7540534" y="2297062"/>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9</a:t>
            </a:r>
            <a:endParaRPr kumimoji="1" lang="zh-CN" altLang="en-US" sz="1100" dirty="0"/>
          </a:p>
        </p:txBody>
      </p:sp>
      <p:sp>
        <p:nvSpPr>
          <p:cNvPr id="122" name="矩形 121">
            <a:extLst>
              <a:ext uri="{FF2B5EF4-FFF2-40B4-BE49-F238E27FC236}">
                <a16:creationId xmlns:a16="http://schemas.microsoft.com/office/drawing/2014/main" id="{72582F40-BD05-0BEC-BEA3-1DE26E1A6A06}"/>
              </a:ext>
            </a:extLst>
          </p:cNvPr>
          <p:cNvSpPr/>
          <p:nvPr/>
        </p:nvSpPr>
        <p:spPr>
          <a:xfrm>
            <a:off x="7891054" y="2297062"/>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9</a:t>
            </a:r>
            <a:endParaRPr kumimoji="1" lang="zh-CN" altLang="en-US" sz="1100" dirty="0"/>
          </a:p>
        </p:txBody>
      </p:sp>
      <p:sp>
        <p:nvSpPr>
          <p:cNvPr id="123" name="矩形 122">
            <a:extLst>
              <a:ext uri="{FF2B5EF4-FFF2-40B4-BE49-F238E27FC236}">
                <a16:creationId xmlns:a16="http://schemas.microsoft.com/office/drawing/2014/main" id="{AB6C5FA8-D8BB-8AE9-D1CF-55CFA04783D6}"/>
              </a:ext>
            </a:extLst>
          </p:cNvPr>
          <p:cNvSpPr/>
          <p:nvPr/>
        </p:nvSpPr>
        <p:spPr>
          <a:xfrm>
            <a:off x="8256814" y="2297796"/>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9</a:t>
            </a:r>
            <a:endParaRPr kumimoji="1" lang="zh-CN" altLang="en-US" sz="1100" dirty="0"/>
          </a:p>
        </p:txBody>
      </p:sp>
      <p:sp>
        <p:nvSpPr>
          <p:cNvPr id="124" name="矩形 123">
            <a:extLst>
              <a:ext uri="{FF2B5EF4-FFF2-40B4-BE49-F238E27FC236}">
                <a16:creationId xmlns:a16="http://schemas.microsoft.com/office/drawing/2014/main" id="{71ABFFA9-9EB7-8EA4-3F6E-37788990FA8E}"/>
              </a:ext>
            </a:extLst>
          </p:cNvPr>
          <p:cNvSpPr/>
          <p:nvPr/>
        </p:nvSpPr>
        <p:spPr>
          <a:xfrm>
            <a:off x="8607334" y="2297796"/>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9</a:t>
            </a:r>
            <a:endParaRPr kumimoji="1" lang="zh-CN" altLang="en-US" sz="1100" dirty="0"/>
          </a:p>
        </p:txBody>
      </p:sp>
      <p:sp>
        <p:nvSpPr>
          <p:cNvPr id="125" name="矩形 124">
            <a:extLst>
              <a:ext uri="{FF2B5EF4-FFF2-40B4-BE49-F238E27FC236}">
                <a16:creationId xmlns:a16="http://schemas.microsoft.com/office/drawing/2014/main" id="{1BF71735-8C1C-7F66-8165-4FC103B52D15}"/>
              </a:ext>
            </a:extLst>
          </p:cNvPr>
          <p:cNvSpPr/>
          <p:nvPr/>
        </p:nvSpPr>
        <p:spPr>
          <a:xfrm>
            <a:off x="8969284" y="2296328"/>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9</a:t>
            </a:r>
            <a:endParaRPr kumimoji="1" lang="zh-CN" altLang="en-US" sz="1100" dirty="0"/>
          </a:p>
        </p:txBody>
      </p:sp>
      <p:sp>
        <p:nvSpPr>
          <p:cNvPr id="126" name="矩形 125">
            <a:extLst>
              <a:ext uri="{FF2B5EF4-FFF2-40B4-BE49-F238E27FC236}">
                <a16:creationId xmlns:a16="http://schemas.microsoft.com/office/drawing/2014/main" id="{E1DA717E-C536-D4A1-1F49-CFF2F44E93D4}"/>
              </a:ext>
            </a:extLst>
          </p:cNvPr>
          <p:cNvSpPr/>
          <p:nvPr/>
        </p:nvSpPr>
        <p:spPr>
          <a:xfrm>
            <a:off x="9319804" y="2296328"/>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9</a:t>
            </a:r>
            <a:endParaRPr kumimoji="1" lang="zh-CN" altLang="en-US" sz="1100" dirty="0"/>
          </a:p>
        </p:txBody>
      </p:sp>
      <p:sp>
        <p:nvSpPr>
          <p:cNvPr id="127" name="矩形 126">
            <a:extLst>
              <a:ext uri="{FF2B5EF4-FFF2-40B4-BE49-F238E27FC236}">
                <a16:creationId xmlns:a16="http://schemas.microsoft.com/office/drawing/2014/main" id="{B6C92BAA-8BBB-56B1-33F5-DECC37E127A1}"/>
              </a:ext>
            </a:extLst>
          </p:cNvPr>
          <p:cNvSpPr/>
          <p:nvPr/>
        </p:nvSpPr>
        <p:spPr>
          <a:xfrm>
            <a:off x="9685564" y="2297062"/>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9</a:t>
            </a:r>
            <a:endParaRPr kumimoji="1" lang="zh-CN" altLang="en-US" sz="1100" dirty="0"/>
          </a:p>
        </p:txBody>
      </p:sp>
      <p:sp>
        <p:nvSpPr>
          <p:cNvPr id="128" name="矩形 127">
            <a:extLst>
              <a:ext uri="{FF2B5EF4-FFF2-40B4-BE49-F238E27FC236}">
                <a16:creationId xmlns:a16="http://schemas.microsoft.com/office/drawing/2014/main" id="{8A386E5E-CA6B-7569-1D84-1D834C209E51}"/>
              </a:ext>
            </a:extLst>
          </p:cNvPr>
          <p:cNvSpPr/>
          <p:nvPr/>
        </p:nvSpPr>
        <p:spPr>
          <a:xfrm>
            <a:off x="10036084" y="2297062"/>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9</a:t>
            </a:r>
            <a:endParaRPr kumimoji="1" lang="zh-CN" altLang="en-US" sz="1100" dirty="0"/>
          </a:p>
        </p:txBody>
      </p:sp>
      <p:sp>
        <p:nvSpPr>
          <p:cNvPr id="129" name="矩形 128">
            <a:extLst>
              <a:ext uri="{FF2B5EF4-FFF2-40B4-BE49-F238E27FC236}">
                <a16:creationId xmlns:a16="http://schemas.microsoft.com/office/drawing/2014/main" id="{1585122E-A77E-6906-342E-3E02AF1A26A6}"/>
              </a:ext>
            </a:extLst>
          </p:cNvPr>
          <p:cNvSpPr/>
          <p:nvPr/>
        </p:nvSpPr>
        <p:spPr>
          <a:xfrm>
            <a:off x="7539990" y="2684147"/>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10</a:t>
            </a:r>
            <a:endParaRPr kumimoji="1" lang="zh-CN" altLang="en-US" sz="1100" dirty="0"/>
          </a:p>
        </p:txBody>
      </p:sp>
      <p:sp>
        <p:nvSpPr>
          <p:cNvPr id="130" name="矩形 129">
            <a:extLst>
              <a:ext uri="{FF2B5EF4-FFF2-40B4-BE49-F238E27FC236}">
                <a16:creationId xmlns:a16="http://schemas.microsoft.com/office/drawing/2014/main" id="{3CC71316-EA11-0AFA-037F-A8A2C56BED00}"/>
              </a:ext>
            </a:extLst>
          </p:cNvPr>
          <p:cNvSpPr/>
          <p:nvPr/>
        </p:nvSpPr>
        <p:spPr>
          <a:xfrm>
            <a:off x="7890510" y="2684147"/>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10</a:t>
            </a:r>
            <a:endParaRPr kumimoji="1" lang="zh-CN" altLang="en-US" sz="1100" dirty="0"/>
          </a:p>
        </p:txBody>
      </p:sp>
      <p:sp>
        <p:nvSpPr>
          <p:cNvPr id="131" name="矩形 130">
            <a:extLst>
              <a:ext uri="{FF2B5EF4-FFF2-40B4-BE49-F238E27FC236}">
                <a16:creationId xmlns:a16="http://schemas.microsoft.com/office/drawing/2014/main" id="{8F3B388C-FB3D-B90E-3322-DA4FD7F8EFF0}"/>
              </a:ext>
            </a:extLst>
          </p:cNvPr>
          <p:cNvSpPr/>
          <p:nvPr/>
        </p:nvSpPr>
        <p:spPr>
          <a:xfrm>
            <a:off x="8256270" y="2684881"/>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10</a:t>
            </a:r>
            <a:endParaRPr kumimoji="1" lang="zh-CN" altLang="en-US" sz="1100" dirty="0"/>
          </a:p>
        </p:txBody>
      </p:sp>
      <p:sp>
        <p:nvSpPr>
          <p:cNvPr id="132" name="矩形 131">
            <a:extLst>
              <a:ext uri="{FF2B5EF4-FFF2-40B4-BE49-F238E27FC236}">
                <a16:creationId xmlns:a16="http://schemas.microsoft.com/office/drawing/2014/main" id="{3BF11EC4-D36C-4360-BE25-7EB15EAC5E50}"/>
              </a:ext>
            </a:extLst>
          </p:cNvPr>
          <p:cNvSpPr/>
          <p:nvPr/>
        </p:nvSpPr>
        <p:spPr>
          <a:xfrm>
            <a:off x="8606790" y="2684881"/>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10</a:t>
            </a:r>
            <a:endParaRPr kumimoji="1" lang="zh-CN" altLang="en-US" sz="1100" dirty="0"/>
          </a:p>
        </p:txBody>
      </p:sp>
      <p:sp>
        <p:nvSpPr>
          <p:cNvPr id="133" name="矩形 132">
            <a:extLst>
              <a:ext uri="{FF2B5EF4-FFF2-40B4-BE49-F238E27FC236}">
                <a16:creationId xmlns:a16="http://schemas.microsoft.com/office/drawing/2014/main" id="{055E6964-E31D-8D36-947A-2E3A8B91DBF6}"/>
              </a:ext>
            </a:extLst>
          </p:cNvPr>
          <p:cNvSpPr/>
          <p:nvPr/>
        </p:nvSpPr>
        <p:spPr>
          <a:xfrm>
            <a:off x="8968740" y="2683413"/>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10</a:t>
            </a:r>
            <a:endParaRPr kumimoji="1" lang="zh-CN" altLang="en-US" sz="1100" dirty="0"/>
          </a:p>
        </p:txBody>
      </p:sp>
      <p:sp>
        <p:nvSpPr>
          <p:cNvPr id="134" name="矩形 133">
            <a:extLst>
              <a:ext uri="{FF2B5EF4-FFF2-40B4-BE49-F238E27FC236}">
                <a16:creationId xmlns:a16="http://schemas.microsoft.com/office/drawing/2014/main" id="{E0DFCD2B-BFE4-10B0-675A-888337F82660}"/>
              </a:ext>
            </a:extLst>
          </p:cNvPr>
          <p:cNvSpPr/>
          <p:nvPr/>
        </p:nvSpPr>
        <p:spPr>
          <a:xfrm>
            <a:off x="9319260" y="2683413"/>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10</a:t>
            </a:r>
            <a:endParaRPr kumimoji="1" lang="zh-CN" altLang="en-US" sz="1100" dirty="0"/>
          </a:p>
        </p:txBody>
      </p:sp>
      <p:sp>
        <p:nvSpPr>
          <p:cNvPr id="135" name="矩形 134">
            <a:extLst>
              <a:ext uri="{FF2B5EF4-FFF2-40B4-BE49-F238E27FC236}">
                <a16:creationId xmlns:a16="http://schemas.microsoft.com/office/drawing/2014/main" id="{D400A223-02B2-C76B-40E2-B9C404CF2DB7}"/>
              </a:ext>
            </a:extLst>
          </p:cNvPr>
          <p:cNvSpPr/>
          <p:nvPr/>
        </p:nvSpPr>
        <p:spPr>
          <a:xfrm>
            <a:off x="9685020" y="2684147"/>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10</a:t>
            </a:r>
            <a:endParaRPr kumimoji="1" lang="zh-CN" altLang="en-US" sz="1100" dirty="0"/>
          </a:p>
        </p:txBody>
      </p:sp>
      <p:sp>
        <p:nvSpPr>
          <p:cNvPr id="136" name="矩形 135">
            <a:extLst>
              <a:ext uri="{FF2B5EF4-FFF2-40B4-BE49-F238E27FC236}">
                <a16:creationId xmlns:a16="http://schemas.microsoft.com/office/drawing/2014/main" id="{222E13E0-F2C5-E1E6-0D56-70D7848CE846}"/>
              </a:ext>
            </a:extLst>
          </p:cNvPr>
          <p:cNvSpPr/>
          <p:nvPr/>
        </p:nvSpPr>
        <p:spPr>
          <a:xfrm>
            <a:off x="10035540" y="2684147"/>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10</a:t>
            </a:r>
            <a:endParaRPr kumimoji="1" lang="zh-CN" altLang="en-US" sz="1100" dirty="0"/>
          </a:p>
        </p:txBody>
      </p:sp>
      <p:sp>
        <p:nvSpPr>
          <p:cNvPr id="137" name="矩形 136">
            <a:extLst>
              <a:ext uri="{FF2B5EF4-FFF2-40B4-BE49-F238E27FC236}">
                <a16:creationId xmlns:a16="http://schemas.microsoft.com/office/drawing/2014/main" id="{3E361BBC-7496-E53E-BD19-C80695D50617}"/>
              </a:ext>
            </a:extLst>
          </p:cNvPr>
          <p:cNvSpPr/>
          <p:nvPr/>
        </p:nvSpPr>
        <p:spPr>
          <a:xfrm>
            <a:off x="7540534" y="3046461"/>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11</a:t>
            </a:r>
            <a:endParaRPr kumimoji="1" lang="zh-CN" altLang="en-US" sz="1100" dirty="0"/>
          </a:p>
        </p:txBody>
      </p:sp>
      <p:sp>
        <p:nvSpPr>
          <p:cNvPr id="138" name="矩形 137">
            <a:extLst>
              <a:ext uri="{FF2B5EF4-FFF2-40B4-BE49-F238E27FC236}">
                <a16:creationId xmlns:a16="http://schemas.microsoft.com/office/drawing/2014/main" id="{C1E93BDA-2524-9988-DBDE-C1421076AEE2}"/>
              </a:ext>
            </a:extLst>
          </p:cNvPr>
          <p:cNvSpPr/>
          <p:nvPr/>
        </p:nvSpPr>
        <p:spPr>
          <a:xfrm>
            <a:off x="7891054" y="3046461"/>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11</a:t>
            </a:r>
            <a:endParaRPr kumimoji="1" lang="zh-CN" altLang="en-US" sz="1100" dirty="0"/>
          </a:p>
        </p:txBody>
      </p:sp>
      <p:sp>
        <p:nvSpPr>
          <p:cNvPr id="139" name="矩形 138">
            <a:extLst>
              <a:ext uri="{FF2B5EF4-FFF2-40B4-BE49-F238E27FC236}">
                <a16:creationId xmlns:a16="http://schemas.microsoft.com/office/drawing/2014/main" id="{E74B37C2-AA77-7001-2E62-86B4F62FC4FF}"/>
              </a:ext>
            </a:extLst>
          </p:cNvPr>
          <p:cNvSpPr/>
          <p:nvPr/>
        </p:nvSpPr>
        <p:spPr>
          <a:xfrm>
            <a:off x="8256814" y="3047195"/>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11</a:t>
            </a:r>
            <a:endParaRPr kumimoji="1" lang="zh-CN" altLang="en-US" sz="1100" dirty="0"/>
          </a:p>
        </p:txBody>
      </p:sp>
      <p:sp>
        <p:nvSpPr>
          <p:cNvPr id="140" name="矩形 139">
            <a:extLst>
              <a:ext uri="{FF2B5EF4-FFF2-40B4-BE49-F238E27FC236}">
                <a16:creationId xmlns:a16="http://schemas.microsoft.com/office/drawing/2014/main" id="{A13D0B3B-815F-F058-9B92-4133A3CC1B06}"/>
              </a:ext>
            </a:extLst>
          </p:cNvPr>
          <p:cNvSpPr/>
          <p:nvPr/>
        </p:nvSpPr>
        <p:spPr>
          <a:xfrm>
            <a:off x="8607334" y="3047195"/>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11</a:t>
            </a:r>
            <a:endParaRPr kumimoji="1" lang="zh-CN" altLang="en-US" sz="1100" dirty="0"/>
          </a:p>
        </p:txBody>
      </p:sp>
      <p:sp>
        <p:nvSpPr>
          <p:cNvPr id="141" name="矩形 140">
            <a:extLst>
              <a:ext uri="{FF2B5EF4-FFF2-40B4-BE49-F238E27FC236}">
                <a16:creationId xmlns:a16="http://schemas.microsoft.com/office/drawing/2014/main" id="{90A47B3D-0B07-57B6-0A7F-3B50FCE439C1}"/>
              </a:ext>
            </a:extLst>
          </p:cNvPr>
          <p:cNvSpPr/>
          <p:nvPr/>
        </p:nvSpPr>
        <p:spPr>
          <a:xfrm>
            <a:off x="8969284" y="3045727"/>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11</a:t>
            </a:r>
            <a:endParaRPr kumimoji="1" lang="zh-CN" altLang="en-US" sz="1100" dirty="0"/>
          </a:p>
        </p:txBody>
      </p:sp>
      <p:sp>
        <p:nvSpPr>
          <p:cNvPr id="142" name="矩形 141">
            <a:extLst>
              <a:ext uri="{FF2B5EF4-FFF2-40B4-BE49-F238E27FC236}">
                <a16:creationId xmlns:a16="http://schemas.microsoft.com/office/drawing/2014/main" id="{8FFB9CA2-E017-0B72-35BF-DC940B272E68}"/>
              </a:ext>
            </a:extLst>
          </p:cNvPr>
          <p:cNvSpPr/>
          <p:nvPr/>
        </p:nvSpPr>
        <p:spPr>
          <a:xfrm>
            <a:off x="9319804" y="3045727"/>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11</a:t>
            </a:r>
            <a:endParaRPr kumimoji="1" lang="zh-CN" altLang="en-US" sz="1100" dirty="0"/>
          </a:p>
        </p:txBody>
      </p:sp>
      <p:sp>
        <p:nvSpPr>
          <p:cNvPr id="143" name="矩形 142">
            <a:extLst>
              <a:ext uri="{FF2B5EF4-FFF2-40B4-BE49-F238E27FC236}">
                <a16:creationId xmlns:a16="http://schemas.microsoft.com/office/drawing/2014/main" id="{7A5878FB-9673-4A05-5BF0-F1C18B5BB83C}"/>
              </a:ext>
            </a:extLst>
          </p:cNvPr>
          <p:cNvSpPr/>
          <p:nvPr/>
        </p:nvSpPr>
        <p:spPr>
          <a:xfrm>
            <a:off x="9685564" y="3046461"/>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11</a:t>
            </a:r>
            <a:endParaRPr kumimoji="1" lang="zh-CN" altLang="en-US" sz="1100" dirty="0"/>
          </a:p>
        </p:txBody>
      </p:sp>
      <p:sp>
        <p:nvSpPr>
          <p:cNvPr id="144" name="矩形 143">
            <a:extLst>
              <a:ext uri="{FF2B5EF4-FFF2-40B4-BE49-F238E27FC236}">
                <a16:creationId xmlns:a16="http://schemas.microsoft.com/office/drawing/2014/main" id="{4365F68E-3623-2A76-DF0B-983F89BE443D}"/>
              </a:ext>
            </a:extLst>
          </p:cNvPr>
          <p:cNvSpPr/>
          <p:nvPr/>
        </p:nvSpPr>
        <p:spPr>
          <a:xfrm>
            <a:off x="10036084" y="3046461"/>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11</a:t>
            </a:r>
            <a:endParaRPr kumimoji="1" lang="zh-CN" altLang="en-US" sz="1100" dirty="0"/>
          </a:p>
        </p:txBody>
      </p:sp>
      <p:sp>
        <p:nvSpPr>
          <p:cNvPr id="213" name="矩形 212">
            <a:extLst>
              <a:ext uri="{FF2B5EF4-FFF2-40B4-BE49-F238E27FC236}">
                <a16:creationId xmlns:a16="http://schemas.microsoft.com/office/drawing/2014/main" id="{291AD744-2684-F957-6C3B-AF8451B61714}"/>
              </a:ext>
            </a:extLst>
          </p:cNvPr>
          <p:cNvSpPr/>
          <p:nvPr/>
        </p:nvSpPr>
        <p:spPr>
          <a:xfrm>
            <a:off x="7532549" y="3427042"/>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12</a:t>
            </a:r>
            <a:endParaRPr kumimoji="1" lang="zh-CN" altLang="en-US" sz="1100" dirty="0"/>
          </a:p>
        </p:txBody>
      </p:sp>
      <p:sp>
        <p:nvSpPr>
          <p:cNvPr id="214" name="矩形 213">
            <a:extLst>
              <a:ext uri="{FF2B5EF4-FFF2-40B4-BE49-F238E27FC236}">
                <a16:creationId xmlns:a16="http://schemas.microsoft.com/office/drawing/2014/main" id="{F362BE32-1315-3BCE-1E4D-7FBD3EFFF5A9}"/>
              </a:ext>
            </a:extLst>
          </p:cNvPr>
          <p:cNvSpPr/>
          <p:nvPr/>
        </p:nvSpPr>
        <p:spPr>
          <a:xfrm>
            <a:off x="7883069" y="3427042"/>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12</a:t>
            </a:r>
            <a:endParaRPr kumimoji="1" lang="zh-CN" altLang="en-US" sz="1100" dirty="0"/>
          </a:p>
        </p:txBody>
      </p:sp>
      <p:sp>
        <p:nvSpPr>
          <p:cNvPr id="215" name="矩形 214">
            <a:extLst>
              <a:ext uri="{FF2B5EF4-FFF2-40B4-BE49-F238E27FC236}">
                <a16:creationId xmlns:a16="http://schemas.microsoft.com/office/drawing/2014/main" id="{F264C16F-FE2B-3756-9B91-584BBF1F3AF6}"/>
              </a:ext>
            </a:extLst>
          </p:cNvPr>
          <p:cNvSpPr/>
          <p:nvPr/>
        </p:nvSpPr>
        <p:spPr>
          <a:xfrm>
            <a:off x="8248829" y="3427776"/>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12</a:t>
            </a:r>
            <a:endParaRPr kumimoji="1" lang="zh-CN" altLang="en-US" sz="1100" dirty="0"/>
          </a:p>
        </p:txBody>
      </p:sp>
      <p:sp>
        <p:nvSpPr>
          <p:cNvPr id="216" name="矩形 215">
            <a:extLst>
              <a:ext uri="{FF2B5EF4-FFF2-40B4-BE49-F238E27FC236}">
                <a16:creationId xmlns:a16="http://schemas.microsoft.com/office/drawing/2014/main" id="{382CE90D-8711-5A46-DEA8-C9A3ED1C1F03}"/>
              </a:ext>
            </a:extLst>
          </p:cNvPr>
          <p:cNvSpPr/>
          <p:nvPr/>
        </p:nvSpPr>
        <p:spPr>
          <a:xfrm>
            <a:off x="8599349" y="3427776"/>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12</a:t>
            </a:r>
            <a:endParaRPr kumimoji="1" lang="zh-CN" altLang="en-US" sz="1100" dirty="0"/>
          </a:p>
        </p:txBody>
      </p:sp>
      <p:sp>
        <p:nvSpPr>
          <p:cNvPr id="217" name="矩形 216">
            <a:extLst>
              <a:ext uri="{FF2B5EF4-FFF2-40B4-BE49-F238E27FC236}">
                <a16:creationId xmlns:a16="http://schemas.microsoft.com/office/drawing/2014/main" id="{71280AD7-11A6-7194-B939-683D2C6A95F3}"/>
              </a:ext>
            </a:extLst>
          </p:cNvPr>
          <p:cNvSpPr/>
          <p:nvPr/>
        </p:nvSpPr>
        <p:spPr>
          <a:xfrm>
            <a:off x="8961299" y="3426308"/>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12</a:t>
            </a:r>
            <a:endParaRPr kumimoji="1" lang="zh-CN" altLang="en-US" sz="1100" dirty="0"/>
          </a:p>
        </p:txBody>
      </p:sp>
      <p:sp>
        <p:nvSpPr>
          <p:cNvPr id="218" name="矩形 217">
            <a:extLst>
              <a:ext uri="{FF2B5EF4-FFF2-40B4-BE49-F238E27FC236}">
                <a16:creationId xmlns:a16="http://schemas.microsoft.com/office/drawing/2014/main" id="{DB62270E-4234-7DAF-9D06-9EFBCBBFD55E}"/>
              </a:ext>
            </a:extLst>
          </p:cNvPr>
          <p:cNvSpPr/>
          <p:nvPr/>
        </p:nvSpPr>
        <p:spPr>
          <a:xfrm>
            <a:off x="9311819" y="3426308"/>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12</a:t>
            </a:r>
            <a:endParaRPr kumimoji="1" lang="zh-CN" altLang="en-US" sz="1100" dirty="0"/>
          </a:p>
        </p:txBody>
      </p:sp>
      <p:sp>
        <p:nvSpPr>
          <p:cNvPr id="219" name="矩形 218">
            <a:extLst>
              <a:ext uri="{FF2B5EF4-FFF2-40B4-BE49-F238E27FC236}">
                <a16:creationId xmlns:a16="http://schemas.microsoft.com/office/drawing/2014/main" id="{DD990151-EC9A-C697-4759-6F80E5538AF0}"/>
              </a:ext>
            </a:extLst>
          </p:cNvPr>
          <p:cNvSpPr/>
          <p:nvPr/>
        </p:nvSpPr>
        <p:spPr>
          <a:xfrm>
            <a:off x="9677579" y="3427042"/>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12</a:t>
            </a:r>
            <a:endParaRPr kumimoji="1" lang="zh-CN" altLang="en-US" sz="1100" dirty="0"/>
          </a:p>
        </p:txBody>
      </p:sp>
      <p:sp>
        <p:nvSpPr>
          <p:cNvPr id="220" name="矩形 219">
            <a:extLst>
              <a:ext uri="{FF2B5EF4-FFF2-40B4-BE49-F238E27FC236}">
                <a16:creationId xmlns:a16="http://schemas.microsoft.com/office/drawing/2014/main" id="{927CCBD2-1AEB-2D9D-DAB1-4B05C1B33F5F}"/>
              </a:ext>
            </a:extLst>
          </p:cNvPr>
          <p:cNvSpPr/>
          <p:nvPr/>
        </p:nvSpPr>
        <p:spPr>
          <a:xfrm>
            <a:off x="10028099" y="3427042"/>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12</a:t>
            </a:r>
            <a:endParaRPr kumimoji="1" lang="zh-CN" altLang="en-US" sz="1100" dirty="0"/>
          </a:p>
        </p:txBody>
      </p:sp>
      <p:sp>
        <p:nvSpPr>
          <p:cNvPr id="221" name="矩形 220">
            <a:extLst>
              <a:ext uri="{FF2B5EF4-FFF2-40B4-BE49-F238E27FC236}">
                <a16:creationId xmlns:a16="http://schemas.microsoft.com/office/drawing/2014/main" id="{C3E7C6D6-BB4B-DFBC-6E55-48E7522E472B}"/>
              </a:ext>
            </a:extLst>
          </p:cNvPr>
          <p:cNvSpPr/>
          <p:nvPr/>
        </p:nvSpPr>
        <p:spPr>
          <a:xfrm>
            <a:off x="7533093" y="3789356"/>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13</a:t>
            </a:r>
            <a:endParaRPr kumimoji="1" lang="zh-CN" altLang="en-US" sz="1100" dirty="0"/>
          </a:p>
        </p:txBody>
      </p:sp>
      <p:sp>
        <p:nvSpPr>
          <p:cNvPr id="222" name="矩形 221">
            <a:extLst>
              <a:ext uri="{FF2B5EF4-FFF2-40B4-BE49-F238E27FC236}">
                <a16:creationId xmlns:a16="http://schemas.microsoft.com/office/drawing/2014/main" id="{80F275E6-9D6A-FD76-2655-A43DFAF24AD6}"/>
              </a:ext>
            </a:extLst>
          </p:cNvPr>
          <p:cNvSpPr/>
          <p:nvPr/>
        </p:nvSpPr>
        <p:spPr>
          <a:xfrm>
            <a:off x="7883613" y="3789356"/>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13</a:t>
            </a:r>
            <a:endParaRPr kumimoji="1" lang="zh-CN" altLang="en-US" sz="1100" dirty="0"/>
          </a:p>
        </p:txBody>
      </p:sp>
      <p:sp>
        <p:nvSpPr>
          <p:cNvPr id="223" name="矩形 222">
            <a:extLst>
              <a:ext uri="{FF2B5EF4-FFF2-40B4-BE49-F238E27FC236}">
                <a16:creationId xmlns:a16="http://schemas.microsoft.com/office/drawing/2014/main" id="{7D00975A-0E5B-09AD-A7EF-7B41DA9B4848}"/>
              </a:ext>
            </a:extLst>
          </p:cNvPr>
          <p:cNvSpPr/>
          <p:nvPr/>
        </p:nvSpPr>
        <p:spPr>
          <a:xfrm>
            <a:off x="8249373" y="3790090"/>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13</a:t>
            </a:r>
            <a:endParaRPr kumimoji="1" lang="zh-CN" altLang="en-US" sz="1100" dirty="0"/>
          </a:p>
        </p:txBody>
      </p:sp>
      <p:sp>
        <p:nvSpPr>
          <p:cNvPr id="224" name="矩形 223">
            <a:extLst>
              <a:ext uri="{FF2B5EF4-FFF2-40B4-BE49-F238E27FC236}">
                <a16:creationId xmlns:a16="http://schemas.microsoft.com/office/drawing/2014/main" id="{3556BBD6-D828-4590-D1B5-0059F8CEF921}"/>
              </a:ext>
            </a:extLst>
          </p:cNvPr>
          <p:cNvSpPr/>
          <p:nvPr/>
        </p:nvSpPr>
        <p:spPr>
          <a:xfrm>
            <a:off x="8599893" y="3790090"/>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13</a:t>
            </a:r>
            <a:endParaRPr kumimoji="1" lang="zh-CN" altLang="en-US" sz="1100" dirty="0"/>
          </a:p>
        </p:txBody>
      </p:sp>
      <p:sp>
        <p:nvSpPr>
          <p:cNvPr id="225" name="矩形 224">
            <a:extLst>
              <a:ext uri="{FF2B5EF4-FFF2-40B4-BE49-F238E27FC236}">
                <a16:creationId xmlns:a16="http://schemas.microsoft.com/office/drawing/2014/main" id="{7A994A98-B654-6492-FF44-8086324ED2E5}"/>
              </a:ext>
            </a:extLst>
          </p:cNvPr>
          <p:cNvSpPr/>
          <p:nvPr/>
        </p:nvSpPr>
        <p:spPr>
          <a:xfrm>
            <a:off x="8961843" y="3788622"/>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13</a:t>
            </a:r>
            <a:endParaRPr kumimoji="1" lang="zh-CN" altLang="en-US" sz="1100" dirty="0"/>
          </a:p>
        </p:txBody>
      </p:sp>
      <p:sp>
        <p:nvSpPr>
          <p:cNvPr id="226" name="矩形 225">
            <a:extLst>
              <a:ext uri="{FF2B5EF4-FFF2-40B4-BE49-F238E27FC236}">
                <a16:creationId xmlns:a16="http://schemas.microsoft.com/office/drawing/2014/main" id="{793889DB-232F-A126-8228-D0109DFA995E}"/>
              </a:ext>
            </a:extLst>
          </p:cNvPr>
          <p:cNvSpPr/>
          <p:nvPr/>
        </p:nvSpPr>
        <p:spPr>
          <a:xfrm>
            <a:off x="9312363" y="3788622"/>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13</a:t>
            </a:r>
            <a:endParaRPr kumimoji="1" lang="zh-CN" altLang="en-US" sz="1100" dirty="0"/>
          </a:p>
        </p:txBody>
      </p:sp>
      <p:sp>
        <p:nvSpPr>
          <p:cNvPr id="227" name="矩形 226">
            <a:extLst>
              <a:ext uri="{FF2B5EF4-FFF2-40B4-BE49-F238E27FC236}">
                <a16:creationId xmlns:a16="http://schemas.microsoft.com/office/drawing/2014/main" id="{7C164AB3-570D-35BC-8536-3E37A8D6FE0B}"/>
              </a:ext>
            </a:extLst>
          </p:cNvPr>
          <p:cNvSpPr/>
          <p:nvPr/>
        </p:nvSpPr>
        <p:spPr>
          <a:xfrm>
            <a:off x="9678123" y="3789356"/>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13</a:t>
            </a:r>
            <a:endParaRPr kumimoji="1" lang="zh-CN" altLang="en-US" sz="1100" dirty="0"/>
          </a:p>
        </p:txBody>
      </p:sp>
      <p:sp>
        <p:nvSpPr>
          <p:cNvPr id="228" name="矩形 227">
            <a:extLst>
              <a:ext uri="{FF2B5EF4-FFF2-40B4-BE49-F238E27FC236}">
                <a16:creationId xmlns:a16="http://schemas.microsoft.com/office/drawing/2014/main" id="{F3E2FEFA-465D-B1FA-B044-C932D0C1951F}"/>
              </a:ext>
            </a:extLst>
          </p:cNvPr>
          <p:cNvSpPr/>
          <p:nvPr/>
        </p:nvSpPr>
        <p:spPr>
          <a:xfrm>
            <a:off x="10028643" y="3789356"/>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13</a:t>
            </a:r>
            <a:endParaRPr kumimoji="1" lang="zh-CN" altLang="en-US" sz="1100" dirty="0"/>
          </a:p>
        </p:txBody>
      </p:sp>
      <p:sp>
        <p:nvSpPr>
          <p:cNvPr id="229" name="矩形 228">
            <a:extLst>
              <a:ext uri="{FF2B5EF4-FFF2-40B4-BE49-F238E27FC236}">
                <a16:creationId xmlns:a16="http://schemas.microsoft.com/office/drawing/2014/main" id="{053D263D-20B8-9C7A-CAF2-D302F663072A}"/>
              </a:ext>
            </a:extLst>
          </p:cNvPr>
          <p:cNvSpPr/>
          <p:nvPr/>
        </p:nvSpPr>
        <p:spPr>
          <a:xfrm>
            <a:off x="7532549" y="4176441"/>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14</a:t>
            </a:r>
            <a:endParaRPr kumimoji="1" lang="zh-CN" altLang="en-US" sz="1100" dirty="0"/>
          </a:p>
        </p:txBody>
      </p:sp>
      <p:sp>
        <p:nvSpPr>
          <p:cNvPr id="230" name="矩形 229">
            <a:extLst>
              <a:ext uri="{FF2B5EF4-FFF2-40B4-BE49-F238E27FC236}">
                <a16:creationId xmlns:a16="http://schemas.microsoft.com/office/drawing/2014/main" id="{2D014E14-1441-E46B-BF3D-641801631425}"/>
              </a:ext>
            </a:extLst>
          </p:cNvPr>
          <p:cNvSpPr/>
          <p:nvPr/>
        </p:nvSpPr>
        <p:spPr>
          <a:xfrm>
            <a:off x="7883069" y="4176441"/>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14</a:t>
            </a:r>
            <a:endParaRPr kumimoji="1" lang="zh-CN" altLang="en-US" sz="1100" dirty="0"/>
          </a:p>
        </p:txBody>
      </p:sp>
      <p:sp>
        <p:nvSpPr>
          <p:cNvPr id="231" name="矩形 230">
            <a:extLst>
              <a:ext uri="{FF2B5EF4-FFF2-40B4-BE49-F238E27FC236}">
                <a16:creationId xmlns:a16="http://schemas.microsoft.com/office/drawing/2014/main" id="{8CC3CAE9-B7A8-DBAB-88ED-BC167F92BAB4}"/>
              </a:ext>
            </a:extLst>
          </p:cNvPr>
          <p:cNvSpPr/>
          <p:nvPr/>
        </p:nvSpPr>
        <p:spPr>
          <a:xfrm>
            <a:off x="8248829" y="4177175"/>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14</a:t>
            </a:r>
            <a:endParaRPr kumimoji="1" lang="zh-CN" altLang="en-US" sz="1100" dirty="0"/>
          </a:p>
        </p:txBody>
      </p:sp>
      <p:sp>
        <p:nvSpPr>
          <p:cNvPr id="232" name="矩形 231">
            <a:extLst>
              <a:ext uri="{FF2B5EF4-FFF2-40B4-BE49-F238E27FC236}">
                <a16:creationId xmlns:a16="http://schemas.microsoft.com/office/drawing/2014/main" id="{B923BFBC-997C-94B3-3998-57D6949796C2}"/>
              </a:ext>
            </a:extLst>
          </p:cNvPr>
          <p:cNvSpPr/>
          <p:nvPr/>
        </p:nvSpPr>
        <p:spPr>
          <a:xfrm>
            <a:off x="8599349" y="4177175"/>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14</a:t>
            </a:r>
            <a:endParaRPr kumimoji="1" lang="zh-CN" altLang="en-US" sz="1100" dirty="0"/>
          </a:p>
        </p:txBody>
      </p:sp>
      <p:sp>
        <p:nvSpPr>
          <p:cNvPr id="233" name="矩形 232">
            <a:extLst>
              <a:ext uri="{FF2B5EF4-FFF2-40B4-BE49-F238E27FC236}">
                <a16:creationId xmlns:a16="http://schemas.microsoft.com/office/drawing/2014/main" id="{B93AB6AC-E87E-A64A-C5F1-88EAC5EE0871}"/>
              </a:ext>
            </a:extLst>
          </p:cNvPr>
          <p:cNvSpPr/>
          <p:nvPr/>
        </p:nvSpPr>
        <p:spPr>
          <a:xfrm>
            <a:off x="8961299" y="4175707"/>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14</a:t>
            </a:r>
            <a:endParaRPr kumimoji="1" lang="zh-CN" altLang="en-US" sz="1100" dirty="0"/>
          </a:p>
        </p:txBody>
      </p:sp>
      <p:sp>
        <p:nvSpPr>
          <p:cNvPr id="234" name="矩形 233">
            <a:extLst>
              <a:ext uri="{FF2B5EF4-FFF2-40B4-BE49-F238E27FC236}">
                <a16:creationId xmlns:a16="http://schemas.microsoft.com/office/drawing/2014/main" id="{EAF7D1C2-2021-7B5A-D4B5-E047A898DD14}"/>
              </a:ext>
            </a:extLst>
          </p:cNvPr>
          <p:cNvSpPr/>
          <p:nvPr/>
        </p:nvSpPr>
        <p:spPr>
          <a:xfrm>
            <a:off x="9311819" y="4175707"/>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14</a:t>
            </a:r>
            <a:endParaRPr kumimoji="1" lang="zh-CN" altLang="en-US" sz="1100" dirty="0"/>
          </a:p>
        </p:txBody>
      </p:sp>
      <p:sp>
        <p:nvSpPr>
          <p:cNvPr id="235" name="矩形 234">
            <a:extLst>
              <a:ext uri="{FF2B5EF4-FFF2-40B4-BE49-F238E27FC236}">
                <a16:creationId xmlns:a16="http://schemas.microsoft.com/office/drawing/2014/main" id="{B9B16155-9F75-757B-226B-AB76A90AC853}"/>
              </a:ext>
            </a:extLst>
          </p:cNvPr>
          <p:cNvSpPr/>
          <p:nvPr/>
        </p:nvSpPr>
        <p:spPr>
          <a:xfrm>
            <a:off x="9677579" y="4176441"/>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14</a:t>
            </a:r>
            <a:endParaRPr kumimoji="1" lang="zh-CN" altLang="en-US" sz="1100" dirty="0"/>
          </a:p>
        </p:txBody>
      </p:sp>
      <p:sp>
        <p:nvSpPr>
          <p:cNvPr id="236" name="矩形 235">
            <a:extLst>
              <a:ext uri="{FF2B5EF4-FFF2-40B4-BE49-F238E27FC236}">
                <a16:creationId xmlns:a16="http://schemas.microsoft.com/office/drawing/2014/main" id="{26718E59-7484-B8D9-3815-6FFB7B85FF1D}"/>
              </a:ext>
            </a:extLst>
          </p:cNvPr>
          <p:cNvSpPr/>
          <p:nvPr/>
        </p:nvSpPr>
        <p:spPr>
          <a:xfrm>
            <a:off x="10028099" y="4176441"/>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14</a:t>
            </a:r>
            <a:endParaRPr kumimoji="1" lang="zh-CN" altLang="en-US" sz="1100" dirty="0"/>
          </a:p>
        </p:txBody>
      </p:sp>
      <p:sp>
        <p:nvSpPr>
          <p:cNvPr id="237" name="矩形 236">
            <a:extLst>
              <a:ext uri="{FF2B5EF4-FFF2-40B4-BE49-F238E27FC236}">
                <a16:creationId xmlns:a16="http://schemas.microsoft.com/office/drawing/2014/main" id="{673DFBE8-043C-DAFF-529C-1B29DEE2C8CC}"/>
              </a:ext>
            </a:extLst>
          </p:cNvPr>
          <p:cNvSpPr/>
          <p:nvPr/>
        </p:nvSpPr>
        <p:spPr>
          <a:xfrm>
            <a:off x="7533093" y="4538755"/>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15</a:t>
            </a:r>
            <a:endParaRPr kumimoji="1" lang="zh-CN" altLang="en-US" sz="1100" dirty="0"/>
          </a:p>
        </p:txBody>
      </p:sp>
      <p:sp>
        <p:nvSpPr>
          <p:cNvPr id="238" name="矩形 237">
            <a:extLst>
              <a:ext uri="{FF2B5EF4-FFF2-40B4-BE49-F238E27FC236}">
                <a16:creationId xmlns:a16="http://schemas.microsoft.com/office/drawing/2014/main" id="{295B7A4B-1401-2DE6-CCCD-E9BFC0C26A5E}"/>
              </a:ext>
            </a:extLst>
          </p:cNvPr>
          <p:cNvSpPr/>
          <p:nvPr/>
        </p:nvSpPr>
        <p:spPr>
          <a:xfrm>
            <a:off x="7883613" y="4538755"/>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15</a:t>
            </a:r>
            <a:endParaRPr kumimoji="1" lang="zh-CN" altLang="en-US" sz="1100" dirty="0"/>
          </a:p>
        </p:txBody>
      </p:sp>
      <p:sp>
        <p:nvSpPr>
          <p:cNvPr id="239" name="矩形 238">
            <a:extLst>
              <a:ext uri="{FF2B5EF4-FFF2-40B4-BE49-F238E27FC236}">
                <a16:creationId xmlns:a16="http://schemas.microsoft.com/office/drawing/2014/main" id="{F3C27626-C033-474E-B32E-55DB462C293E}"/>
              </a:ext>
            </a:extLst>
          </p:cNvPr>
          <p:cNvSpPr/>
          <p:nvPr/>
        </p:nvSpPr>
        <p:spPr>
          <a:xfrm>
            <a:off x="8249373" y="4539489"/>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15</a:t>
            </a:r>
            <a:endParaRPr kumimoji="1" lang="zh-CN" altLang="en-US" sz="1100" dirty="0"/>
          </a:p>
        </p:txBody>
      </p:sp>
      <p:sp>
        <p:nvSpPr>
          <p:cNvPr id="240" name="矩形 239">
            <a:extLst>
              <a:ext uri="{FF2B5EF4-FFF2-40B4-BE49-F238E27FC236}">
                <a16:creationId xmlns:a16="http://schemas.microsoft.com/office/drawing/2014/main" id="{87375CEA-6A98-7637-0A46-A2650A8EA87A}"/>
              </a:ext>
            </a:extLst>
          </p:cNvPr>
          <p:cNvSpPr/>
          <p:nvPr/>
        </p:nvSpPr>
        <p:spPr>
          <a:xfrm>
            <a:off x="8599893" y="4539489"/>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15</a:t>
            </a:r>
            <a:endParaRPr kumimoji="1" lang="zh-CN" altLang="en-US" sz="1100" dirty="0"/>
          </a:p>
        </p:txBody>
      </p:sp>
      <p:sp>
        <p:nvSpPr>
          <p:cNvPr id="241" name="矩形 240">
            <a:extLst>
              <a:ext uri="{FF2B5EF4-FFF2-40B4-BE49-F238E27FC236}">
                <a16:creationId xmlns:a16="http://schemas.microsoft.com/office/drawing/2014/main" id="{07E2B73F-EABD-4E42-A275-724978B230ED}"/>
              </a:ext>
            </a:extLst>
          </p:cNvPr>
          <p:cNvSpPr/>
          <p:nvPr/>
        </p:nvSpPr>
        <p:spPr>
          <a:xfrm>
            <a:off x="8961843" y="4538021"/>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15</a:t>
            </a:r>
            <a:endParaRPr kumimoji="1" lang="zh-CN" altLang="en-US" sz="1100" dirty="0"/>
          </a:p>
        </p:txBody>
      </p:sp>
      <p:sp>
        <p:nvSpPr>
          <p:cNvPr id="242" name="矩形 241">
            <a:extLst>
              <a:ext uri="{FF2B5EF4-FFF2-40B4-BE49-F238E27FC236}">
                <a16:creationId xmlns:a16="http://schemas.microsoft.com/office/drawing/2014/main" id="{E9D4888E-D5E7-EC74-B716-B28913282AD7}"/>
              </a:ext>
            </a:extLst>
          </p:cNvPr>
          <p:cNvSpPr/>
          <p:nvPr/>
        </p:nvSpPr>
        <p:spPr>
          <a:xfrm>
            <a:off x="9312363" y="4538021"/>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15</a:t>
            </a:r>
            <a:endParaRPr kumimoji="1" lang="zh-CN" altLang="en-US" sz="1100" dirty="0"/>
          </a:p>
        </p:txBody>
      </p:sp>
      <p:sp>
        <p:nvSpPr>
          <p:cNvPr id="243" name="矩形 242">
            <a:extLst>
              <a:ext uri="{FF2B5EF4-FFF2-40B4-BE49-F238E27FC236}">
                <a16:creationId xmlns:a16="http://schemas.microsoft.com/office/drawing/2014/main" id="{573DFFF8-2F8D-134D-F6E7-7A561020C28F}"/>
              </a:ext>
            </a:extLst>
          </p:cNvPr>
          <p:cNvSpPr/>
          <p:nvPr/>
        </p:nvSpPr>
        <p:spPr>
          <a:xfrm>
            <a:off x="9678123" y="4538755"/>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15</a:t>
            </a:r>
            <a:endParaRPr kumimoji="1" lang="zh-CN" altLang="en-US" sz="1100" dirty="0"/>
          </a:p>
        </p:txBody>
      </p:sp>
      <p:sp>
        <p:nvSpPr>
          <p:cNvPr id="244" name="矩形 243">
            <a:extLst>
              <a:ext uri="{FF2B5EF4-FFF2-40B4-BE49-F238E27FC236}">
                <a16:creationId xmlns:a16="http://schemas.microsoft.com/office/drawing/2014/main" id="{1A07A517-B2CC-343F-2D66-7EB51704BA40}"/>
              </a:ext>
            </a:extLst>
          </p:cNvPr>
          <p:cNvSpPr/>
          <p:nvPr/>
        </p:nvSpPr>
        <p:spPr>
          <a:xfrm>
            <a:off x="10028643" y="4538755"/>
            <a:ext cx="350520" cy="3771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t>15</a:t>
            </a:r>
            <a:endParaRPr kumimoji="1" lang="zh-CN" altLang="en-US" sz="1100" dirty="0"/>
          </a:p>
        </p:txBody>
      </p:sp>
      <p:sp>
        <p:nvSpPr>
          <p:cNvPr id="245" name="右大括号 244">
            <a:extLst>
              <a:ext uri="{FF2B5EF4-FFF2-40B4-BE49-F238E27FC236}">
                <a16:creationId xmlns:a16="http://schemas.microsoft.com/office/drawing/2014/main" id="{9D85A47A-1E47-1F47-050E-7F71CF769970}"/>
              </a:ext>
            </a:extLst>
          </p:cNvPr>
          <p:cNvSpPr/>
          <p:nvPr/>
        </p:nvSpPr>
        <p:spPr>
          <a:xfrm rot="5400000">
            <a:off x="6262007" y="3554330"/>
            <a:ext cx="518160" cy="385898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246" name="文本框 245">
            <a:extLst>
              <a:ext uri="{FF2B5EF4-FFF2-40B4-BE49-F238E27FC236}">
                <a16:creationId xmlns:a16="http://schemas.microsoft.com/office/drawing/2014/main" id="{3453A5D0-9E88-8EC0-4676-20608FAF585A}"/>
              </a:ext>
            </a:extLst>
          </p:cNvPr>
          <p:cNvSpPr txBox="1"/>
          <p:nvPr/>
        </p:nvSpPr>
        <p:spPr>
          <a:xfrm>
            <a:off x="5553075" y="5773378"/>
            <a:ext cx="1686920" cy="369332"/>
          </a:xfrm>
          <a:prstGeom prst="rect">
            <a:avLst/>
          </a:prstGeom>
          <a:noFill/>
        </p:spPr>
        <p:txBody>
          <a:bodyPr wrap="square" rtlCol="0">
            <a:spAutoFit/>
          </a:bodyPr>
          <a:lstStyle/>
          <a:p>
            <a:r>
              <a:rPr kumimoji="1" lang="en-US" altLang="zh-CN" dirty="0" err="1"/>
              <a:t>ReduceSum</a:t>
            </a:r>
            <a:endParaRPr kumimoji="1" lang="zh-CN" altLang="en-US" dirty="0"/>
          </a:p>
        </p:txBody>
      </p:sp>
      <p:sp>
        <p:nvSpPr>
          <p:cNvPr id="247" name="文本框 246">
            <a:extLst>
              <a:ext uri="{FF2B5EF4-FFF2-40B4-BE49-F238E27FC236}">
                <a16:creationId xmlns:a16="http://schemas.microsoft.com/office/drawing/2014/main" id="{B88FB6B1-5AA6-D3B2-7112-1E65FA359292}"/>
              </a:ext>
            </a:extLst>
          </p:cNvPr>
          <p:cNvSpPr txBox="1"/>
          <p:nvPr/>
        </p:nvSpPr>
        <p:spPr>
          <a:xfrm>
            <a:off x="806453" y="5439354"/>
            <a:ext cx="3459891" cy="1200329"/>
          </a:xfrm>
          <a:prstGeom prst="rect">
            <a:avLst/>
          </a:prstGeom>
          <a:noFill/>
        </p:spPr>
        <p:txBody>
          <a:bodyPr wrap="square" rtlCol="0">
            <a:spAutoFit/>
          </a:bodyPr>
          <a:lstStyle/>
          <a:p>
            <a:r>
              <a:rPr kumimoji="1" lang="zh-CN" altLang="en-US" dirty="0"/>
              <a:t>每个从核使用</a:t>
            </a:r>
            <a:r>
              <a:rPr kumimoji="1" lang="en-US" altLang="zh-CN" dirty="0"/>
              <a:t>ACE</a:t>
            </a:r>
            <a:r>
              <a:rPr kumimoji="1" lang="zh-CN" altLang="en-US" dirty="0"/>
              <a:t>完成自身的</a:t>
            </a:r>
            <a:r>
              <a:rPr kumimoji="1" lang="en-US" altLang="zh-CN" dirty="0"/>
              <a:t>[M2,K2][K2,N2]</a:t>
            </a:r>
            <a:r>
              <a:rPr kumimoji="1" lang="zh-CN" altLang="en-US" dirty="0"/>
              <a:t>的矩阵计算后，需要在列维度上进行</a:t>
            </a:r>
            <a:r>
              <a:rPr kumimoji="1" lang="en-US" altLang="zh-CN" dirty="0"/>
              <a:t>reduce</a:t>
            </a:r>
            <a:r>
              <a:rPr kumimoji="1" lang="zh-CN" altLang="en-US" dirty="0"/>
              <a:t>，再写出。</a:t>
            </a:r>
          </a:p>
        </p:txBody>
      </p:sp>
    </p:spTree>
    <p:extLst>
      <p:ext uri="{BB962C8B-B14F-4D97-AF65-F5344CB8AC3E}">
        <p14:creationId xmlns:p14="http://schemas.microsoft.com/office/powerpoint/2010/main" val="21034987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295275" y="422752"/>
            <a:ext cx="10515600" cy="515184"/>
          </a:xfrm>
        </p:spPr>
        <p:txBody>
          <a:bodyPr/>
          <a:lstStyle/>
          <a:p>
            <a:r>
              <a:rPr lang="zh-CN" altLang="en-US" dirty="0"/>
              <a:t>方案介绍</a:t>
            </a:r>
          </a:p>
        </p:txBody>
      </p:sp>
      <p:sp>
        <p:nvSpPr>
          <p:cNvPr id="185" name="矩形 184">
            <a:extLst>
              <a:ext uri="{FF2B5EF4-FFF2-40B4-BE49-F238E27FC236}">
                <a16:creationId xmlns:a16="http://schemas.microsoft.com/office/drawing/2014/main" id="{332737AB-09DE-8E27-9B73-293665DCC044}"/>
              </a:ext>
            </a:extLst>
          </p:cNvPr>
          <p:cNvSpPr/>
          <p:nvPr/>
        </p:nvSpPr>
        <p:spPr>
          <a:xfrm>
            <a:off x="653143" y="2024743"/>
            <a:ext cx="1676400" cy="22315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6" name="矩形 185">
            <a:extLst>
              <a:ext uri="{FF2B5EF4-FFF2-40B4-BE49-F238E27FC236}">
                <a16:creationId xmlns:a16="http://schemas.microsoft.com/office/drawing/2014/main" id="{1175BAFD-3BAA-3CD9-9F46-6960AC0F94EB}"/>
              </a:ext>
            </a:extLst>
          </p:cNvPr>
          <p:cNvSpPr/>
          <p:nvPr/>
        </p:nvSpPr>
        <p:spPr>
          <a:xfrm>
            <a:off x="3167742" y="2068286"/>
            <a:ext cx="2514601" cy="1485901"/>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7" name="文本框 186">
            <a:extLst>
              <a:ext uri="{FF2B5EF4-FFF2-40B4-BE49-F238E27FC236}">
                <a16:creationId xmlns:a16="http://schemas.microsoft.com/office/drawing/2014/main" id="{AEBD68B4-5D3B-7140-C5A8-82C4780E5CB0}"/>
              </a:ext>
            </a:extLst>
          </p:cNvPr>
          <p:cNvSpPr txBox="1"/>
          <p:nvPr/>
        </p:nvSpPr>
        <p:spPr>
          <a:xfrm>
            <a:off x="1199878" y="1448582"/>
            <a:ext cx="582930" cy="369332"/>
          </a:xfrm>
          <a:prstGeom prst="rect">
            <a:avLst/>
          </a:prstGeom>
          <a:noFill/>
        </p:spPr>
        <p:txBody>
          <a:bodyPr wrap="square" rtlCol="0">
            <a:spAutoFit/>
          </a:bodyPr>
          <a:lstStyle/>
          <a:p>
            <a:r>
              <a:rPr kumimoji="1" lang="en-US" altLang="zh-CN" dirty="0"/>
              <a:t>K1</a:t>
            </a:r>
            <a:endParaRPr kumimoji="1" lang="zh-CN" altLang="en-US" dirty="0"/>
          </a:p>
        </p:txBody>
      </p:sp>
      <p:sp>
        <p:nvSpPr>
          <p:cNvPr id="188" name="文本框 187">
            <a:extLst>
              <a:ext uri="{FF2B5EF4-FFF2-40B4-BE49-F238E27FC236}">
                <a16:creationId xmlns:a16="http://schemas.microsoft.com/office/drawing/2014/main" id="{F21CC610-1280-1DCD-5387-529DC5CA94A6}"/>
              </a:ext>
            </a:extLst>
          </p:cNvPr>
          <p:cNvSpPr txBox="1"/>
          <p:nvPr/>
        </p:nvSpPr>
        <p:spPr>
          <a:xfrm>
            <a:off x="70213" y="2924380"/>
            <a:ext cx="582930" cy="369332"/>
          </a:xfrm>
          <a:prstGeom prst="rect">
            <a:avLst/>
          </a:prstGeom>
          <a:noFill/>
        </p:spPr>
        <p:txBody>
          <a:bodyPr wrap="square" rtlCol="0">
            <a:spAutoFit/>
          </a:bodyPr>
          <a:lstStyle/>
          <a:p>
            <a:r>
              <a:rPr kumimoji="1" lang="en-US" altLang="zh-CN" dirty="0"/>
              <a:t>M1</a:t>
            </a:r>
            <a:endParaRPr kumimoji="1" lang="zh-CN" altLang="en-US" dirty="0"/>
          </a:p>
        </p:txBody>
      </p:sp>
      <p:sp>
        <p:nvSpPr>
          <p:cNvPr id="189" name="文本框 188">
            <a:extLst>
              <a:ext uri="{FF2B5EF4-FFF2-40B4-BE49-F238E27FC236}">
                <a16:creationId xmlns:a16="http://schemas.microsoft.com/office/drawing/2014/main" id="{9602A198-D81A-FF0C-2705-6734A828C769}"/>
              </a:ext>
            </a:extLst>
          </p:cNvPr>
          <p:cNvSpPr txBox="1"/>
          <p:nvPr/>
        </p:nvSpPr>
        <p:spPr>
          <a:xfrm>
            <a:off x="2549706" y="2485838"/>
            <a:ext cx="582930" cy="369332"/>
          </a:xfrm>
          <a:prstGeom prst="rect">
            <a:avLst/>
          </a:prstGeom>
          <a:noFill/>
        </p:spPr>
        <p:txBody>
          <a:bodyPr wrap="square" rtlCol="0">
            <a:spAutoFit/>
          </a:bodyPr>
          <a:lstStyle/>
          <a:p>
            <a:r>
              <a:rPr kumimoji="1" lang="en-US" altLang="zh-CN" dirty="0"/>
              <a:t>K1</a:t>
            </a:r>
            <a:endParaRPr kumimoji="1" lang="zh-CN" altLang="en-US" dirty="0"/>
          </a:p>
        </p:txBody>
      </p:sp>
      <p:sp>
        <p:nvSpPr>
          <p:cNvPr id="190" name="文本框 189">
            <a:extLst>
              <a:ext uri="{FF2B5EF4-FFF2-40B4-BE49-F238E27FC236}">
                <a16:creationId xmlns:a16="http://schemas.microsoft.com/office/drawing/2014/main" id="{03033B25-9A91-1AA4-87D7-82CF42A3193D}"/>
              </a:ext>
            </a:extLst>
          </p:cNvPr>
          <p:cNvSpPr txBox="1"/>
          <p:nvPr/>
        </p:nvSpPr>
        <p:spPr>
          <a:xfrm>
            <a:off x="4133577" y="1694002"/>
            <a:ext cx="582930" cy="369332"/>
          </a:xfrm>
          <a:prstGeom prst="rect">
            <a:avLst/>
          </a:prstGeom>
          <a:noFill/>
        </p:spPr>
        <p:txBody>
          <a:bodyPr wrap="square" rtlCol="0">
            <a:spAutoFit/>
          </a:bodyPr>
          <a:lstStyle/>
          <a:p>
            <a:r>
              <a:rPr kumimoji="1" lang="en-US" altLang="zh-CN" dirty="0"/>
              <a:t>N1</a:t>
            </a:r>
            <a:endParaRPr kumimoji="1" lang="zh-CN" altLang="en-US" dirty="0"/>
          </a:p>
        </p:txBody>
      </p:sp>
      <p:sp>
        <p:nvSpPr>
          <p:cNvPr id="191" name="矩形 190">
            <a:extLst>
              <a:ext uri="{FF2B5EF4-FFF2-40B4-BE49-F238E27FC236}">
                <a16:creationId xmlns:a16="http://schemas.microsoft.com/office/drawing/2014/main" id="{C5BE9A98-4B53-C380-23F0-9A6A44D606AC}"/>
              </a:ext>
            </a:extLst>
          </p:cNvPr>
          <p:cNvSpPr/>
          <p:nvPr/>
        </p:nvSpPr>
        <p:spPr>
          <a:xfrm>
            <a:off x="6776357" y="2008415"/>
            <a:ext cx="2514601" cy="1485901"/>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2" name="文本框 191">
            <a:extLst>
              <a:ext uri="{FF2B5EF4-FFF2-40B4-BE49-F238E27FC236}">
                <a16:creationId xmlns:a16="http://schemas.microsoft.com/office/drawing/2014/main" id="{B84BEE52-019D-3898-C910-12F16ACE9D31}"/>
              </a:ext>
            </a:extLst>
          </p:cNvPr>
          <p:cNvSpPr txBox="1"/>
          <p:nvPr/>
        </p:nvSpPr>
        <p:spPr>
          <a:xfrm>
            <a:off x="6158321" y="2425967"/>
            <a:ext cx="582930" cy="369332"/>
          </a:xfrm>
          <a:prstGeom prst="rect">
            <a:avLst/>
          </a:prstGeom>
          <a:noFill/>
        </p:spPr>
        <p:txBody>
          <a:bodyPr wrap="square" rtlCol="0">
            <a:spAutoFit/>
          </a:bodyPr>
          <a:lstStyle/>
          <a:p>
            <a:r>
              <a:rPr kumimoji="1" lang="en-US" altLang="zh-CN" dirty="0"/>
              <a:t>K1</a:t>
            </a:r>
            <a:endParaRPr kumimoji="1" lang="zh-CN" altLang="en-US" dirty="0"/>
          </a:p>
        </p:txBody>
      </p:sp>
      <p:sp>
        <p:nvSpPr>
          <p:cNvPr id="193" name="文本框 192">
            <a:extLst>
              <a:ext uri="{FF2B5EF4-FFF2-40B4-BE49-F238E27FC236}">
                <a16:creationId xmlns:a16="http://schemas.microsoft.com/office/drawing/2014/main" id="{1BD4FA44-4F94-9843-B948-4F03BB23251B}"/>
              </a:ext>
            </a:extLst>
          </p:cNvPr>
          <p:cNvSpPr txBox="1"/>
          <p:nvPr/>
        </p:nvSpPr>
        <p:spPr>
          <a:xfrm>
            <a:off x="7742192" y="1634131"/>
            <a:ext cx="582930" cy="369332"/>
          </a:xfrm>
          <a:prstGeom prst="rect">
            <a:avLst/>
          </a:prstGeom>
          <a:noFill/>
        </p:spPr>
        <p:txBody>
          <a:bodyPr wrap="square" rtlCol="0">
            <a:spAutoFit/>
          </a:bodyPr>
          <a:lstStyle/>
          <a:p>
            <a:r>
              <a:rPr kumimoji="1" lang="en-US" altLang="zh-CN" dirty="0"/>
              <a:t>N1</a:t>
            </a:r>
            <a:endParaRPr kumimoji="1" lang="zh-CN" altLang="en-US" dirty="0"/>
          </a:p>
        </p:txBody>
      </p:sp>
      <p:sp>
        <p:nvSpPr>
          <p:cNvPr id="194" name="矩形 193">
            <a:extLst>
              <a:ext uri="{FF2B5EF4-FFF2-40B4-BE49-F238E27FC236}">
                <a16:creationId xmlns:a16="http://schemas.microsoft.com/office/drawing/2014/main" id="{1619DCCE-B4BF-AB1D-9BF7-27A96CB83136}"/>
              </a:ext>
            </a:extLst>
          </p:cNvPr>
          <p:cNvSpPr/>
          <p:nvPr/>
        </p:nvSpPr>
        <p:spPr>
          <a:xfrm>
            <a:off x="3167742" y="4354085"/>
            <a:ext cx="2514601" cy="2016969"/>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5" name="矩形 194">
            <a:extLst>
              <a:ext uri="{FF2B5EF4-FFF2-40B4-BE49-F238E27FC236}">
                <a16:creationId xmlns:a16="http://schemas.microsoft.com/office/drawing/2014/main" id="{53D70B8B-9769-DD29-FC1A-A4B3A6D96C81}"/>
              </a:ext>
            </a:extLst>
          </p:cNvPr>
          <p:cNvSpPr/>
          <p:nvPr/>
        </p:nvSpPr>
        <p:spPr>
          <a:xfrm>
            <a:off x="6776357" y="4354085"/>
            <a:ext cx="2514601" cy="2016969"/>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6" name="下箭头 195">
            <a:extLst>
              <a:ext uri="{FF2B5EF4-FFF2-40B4-BE49-F238E27FC236}">
                <a16:creationId xmlns:a16="http://schemas.microsoft.com/office/drawing/2014/main" id="{B1F976CF-3127-743F-983C-07FB2374077F}"/>
              </a:ext>
            </a:extLst>
          </p:cNvPr>
          <p:cNvSpPr/>
          <p:nvPr/>
        </p:nvSpPr>
        <p:spPr>
          <a:xfrm>
            <a:off x="4299857" y="3554187"/>
            <a:ext cx="125185" cy="79989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8" name="下箭头 197">
            <a:extLst>
              <a:ext uri="{FF2B5EF4-FFF2-40B4-BE49-F238E27FC236}">
                <a16:creationId xmlns:a16="http://schemas.microsoft.com/office/drawing/2014/main" id="{283A2635-2237-EF18-38ED-D21FC32D7C9C}"/>
              </a:ext>
            </a:extLst>
          </p:cNvPr>
          <p:cNvSpPr/>
          <p:nvPr/>
        </p:nvSpPr>
        <p:spPr>
          <a:xfrm>
            <a:off x="7805059" y="3499758"/>
            <a:ext cx="125185" cy="79989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9" name="文本框 198">
            <a:extLst>
              <a:ext uri="{FF2B5EF4-FFF2-40B4-BE49-F238E27FC236}">
                <a16:creationId xmlns:a16="http://schemas.microsoft.com/office/drawing/2014/main" id="{E1F2E9B5-2E5E-B8C3-A22A-E8155F10060B}"/>
              </a:ext>
            </a:extLst>
          </p:cNvPr>
          <p:cNvSpPr txBox="1"/>
          <p:nvPr/>
        </p:nvSpPr>
        <p:spPr>
          <a:xfrm>
            <a:off x="4506686" y="3799114"/>
            <a:ext cx="1589314" cy="369332"/>
          </a:xfrm>
          <a:prstGeom prst="rect">
            <a:avLst/>
          </a:prstGeom>
          <a:noFill/>
        </p:spPr>
        <p:txBody>
          <a:bodyPr wrap="square" rtlCol="0">
            <a:spAutoFit/>
          </a:bodyPr>
          <a:lstStyle/>
          <a:p>
            <a:r>
              <a:rPr kumimoji="1" lang="en-US" altLang="zh-CN" dirty="0"/>
              <a:t>DMA</a:t>
            </a:r>
            <a:r>
              <a:rPr kumimoji="1" lang="zh-CN" altLang="en-US" dirty="0"/>
              <a:t> </a:t>
            </a:r>
            <a:r>
              <a:rPr kumimoji="1" lang="en-US" altLang="zh-CN" dirty="0"/>
              <a:t>PUT</a:t>
            </a:r>
            <a:endParaRPr kumimoji="1" lang="zh-CN" altLang="en-US" dirty="0"/>
          </a:p>
        </p:txBody>
      </p:sp>
      <p:sp>
        <p:nvSpPr>
          <p:cNvPr id="200" name="文本框 199">
            <a:extLst>
              <a:ext uri="{FF2B5EF4-FFF2-40B4-BE49-F238E27FC236}">
                <a16:creationId xmlns:a16="http://schemas.microsoft.com/office/drawing/2014/main" id="{293BE046-1C11-183D-953E-86FE96D803BB}"/>
              </a:ext>
            </a:extLst>
          </p:cNvPr>
          <p:cNvSpPr txBox="1"/>
          <p:nvPr/>
        </p:nvSpPr>
        <p:spPr>
          <a:xfrm>
            <a:off x="8033657" y="3739534"/>
            <a:ext cx="1589314" cy="369332"/>
          </a:xfrm>
          <a:prstGeom prst="rect">
            <a:avLst/>
          </a:prstGeom>
          <a:noFill/>
        </p:spPr>
        <p:txBody>
          <a:bodyPr wrap="square" rtlCol="0">
            <a:spAutoFit/>
          </a:bodyPr>
          <a:lstStyle/>
          <a:p>
            <a:r>
              <a:rPr kumimoji="1" lang="en-US" altLang="zh-CN" dirty="0"/>
              <a:t>DMA</a:t>
            </a:r>
            <a:r>
              <a:rPr kumimoji="1" lang="zh-CN" altLang="en-US" dirty="0"/>
              <a:t> </a:t>
            </a:r>
            <a:r>
              <a:rPr kumimoji="1" lang="en-US" altLang="zh-CN" dirty="0"/>
              <a:t>PUT</a:t>
            </a:r>
            <a:endParaRPr kumimoji="1" lang="zh-CN" altLang="en-US" dirty="0"/>
          </a:p>
        </p:txBody>
      </p:sp>
      <p:sp>
        <p:nvSpPr>
          <p:cNvPr id="201" name="右箭头 200">
            <a:extLst>
              <a:ext uri="{FF2B5EF4-FFF2-40B4-BE49-F238E27FC236}">
                <a16:creationId xmlns:a16="http://schemas.microsoft.com/office/drawing/2014/main" id="{48452CD7-AB47-8F24-8A59-69C8C90FBF34}"/>
              </a:ext>
            </a:extLst>
          </p:cNvPr>
          <p:cNvSpPr/>
          <p:nvPr/>
        </p:nvSpPr>
        <p:spPr>
          <a:xfrm>
            <a:off x="3709304" y="1173943"/>
            <a:ext cx="5119010" cy="34084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2" name="文本框 201">
            <a:extLst>
              <a:ext uri="{FF2B5EF4-FFF2-40B4-BE49-F238E27FC236}">
                <a16:creationId xmlns:a16="http://schemas.microsoft.com/office/drawing/2014/main" id="{C47512B5-3B26-86F2-DAA5-BA8469A846FD}"/>
              </a:ext>
            </a:extLst>
          </p:cNvPr>
          <p:cNvSpPr txBox="1"/>
          <p:nvPr/>
        </p:nvSpPr>
        <p:spPr>
          <a:xfrm>
            <a:off x="4942114" y="859971"/>
            <a:ext cx="1834243" cy="369332"/>
          </a:xfrm>
          <a:prstGeom prst="rect">
            <a:avLst/>
          </a:prstGeom>
          <a:noFill/>
        </p:spPr>
        <p:txBody>
          <a:bodyPr wrap="square" rtlCol="0">
            <a:spAutoFit/>
          </a:bodyPr>
          <a:lstStyle/>
          <a:p>
            <a:r>
              <a:rPr kumimoji="1" lang="en-US" altLang="zh-CN" dirty="0"/>
              <a:t>LOOP</a:t>
            </a:r>
            <a:r>
              <a:rPr kumimoji="1" lang="zh-CN" altLang="en-US" dirty="0"/>
              <a:t> </a:t>
            </a:r>
            <a:r>
              <a:rPr kumimoji="1" lang="en-US" altLang="zh-CN" dirty="0"/>
              <a:t>for</a:t>
            </a:r>
            <a:r>
              <a:rPr kumimoji="1" lang="zh-CN" altLang="en-US" dirty="0"/>
              <a:t> </a:t>
            </a:r>
            <a:r>
              <a:rPr kumimoji="1" lang="en-US" altLang="zh-CN" dirty="0"/>
              <a:t>N</a:t>
            </a:r>
            <a:endParaRPr kumimoji="1" lang="zh-CN" altLang="en-US" dirty="0"/>
          </a:p>
        </p:txBody>
      </p:sp>
      <p:sp>
        <p:nvSpPr>
          <p:cNvPr id="2" name="文本框 1">
            <a:extLst>
              <a:ext uri="{FF2B5EF4-FFF2-40B4-BE49-F238E27FC236}">
                <a16:creationId xmlns:a16="http://schemas.microsoft.com/office/drawing/2014/main" id="{F6A3CDAA-8F60-CB2F-6004-8405EA00729D}"/>
              </a:ext>
            </a:extLst>
          </p:cNvPr>
          <p:cNvSpPr txBox="1"/>
          <p:nvPr/>
        </p:nvSpPr>
        <p:spPr>
          <a:xfrm>
            <a:off x="9548134" y="2220269"/>
            <a:ext cx="2643866" cy="2308324"/>
          </a:xfrm>
          <a:prstGeom prst="rect">
            <a:avLst/>
          </a:prstGeom>
          <a:noFill/>
        </p:spPr>
        <p:txBody>
          <a:bodyPr wrap="square" rtlCol="0">
            <a:spAutoFit/>
          </a:bodyPr>
          <a:lstStyle/>
          <a:p>
            <a:r>
              <a:rPr kumimoji="1" lang="zh-CN" altLang="en-US" dirty="0"/>
              <a:t>当待计算的矩阵维度</a:t>
            </a:r>
            <a:r>
              <a:rPr kumimoji="1" lang="en-US" altLang="zh-CN" dirty="0"/>
              <a:t>N&gt;N1</a:t>
            </a:r>
            <a:r>
              <a:rPr kumimoji="1" lang="zh-CN" altLang="en-US" dirty="0"/>
              <a:t>时，需要沿着</a:t>
            </a:r>
            <a:r>
              <a:rPr kumimoji="1" lang="en-US" altLang="zh-CN" dirty="0"/>
              <a:t>N</a:t>
            </a:r>
            <a:r>
              <a:rPr kumimoji="1" lang="zh-CN" altLang="en-US" dirty="0"/>
              <a:t>维度进行循环</a:t>
            </a:r>
            <a:r>
              <a:rPr kumimoji="1" lang="en-US" altLang="zh-CN" dirty="0"/>
              <a:t>(</a:t>
            </a:r>
            <a:r>
              <a:rPr kumimoji="1" lang="zh-CN" altLang="en-US" dirty="0"/>
              <a:t>此时</a:t>
            </a:r>
            <a:r>
              <a:rPr kumimoji="1" lang="en-US" altLang="zh-CN" dirty="0" err="1"/>
              <a:t>MatA</a:t>
            </a:r>
            <a:r>
              <a:rPr kumimoji="1" lang="zh-CN" altLang="en-US" dirty="0"/>
              <a:t>已经被读取到</a:t>
            </a:r>
            <a:r>
              <a:rPr kumimoji="1" lang="en-US" altLang="zh-CN" dirty="0"/>
              <a:t>LDM</a:t>
            </a:r>
            <a:r>
              <a:rPr kumimoji="1" lang="zh-CN" altLang="en-US" dirty="0"/>
              <a:t>上了，不需要重复读取</a:t>
            </a:r>
            <a:r>
              <a:rPr kumimoji="1" lang="en-US" altLang="zh-CN" dirty="0"/>
              <a:t>)</a:t>
            </a:r>
            <a:r>
              <a:rPr kumimoji="1" lang="zh-CN" altLang="en-US" dirty="0"/>
              <a:t>。只需要沿着 </a:t>
            </a:r>
            <a:r>
              <a:rPr kumimoji="1" lang="en-US" altLang="zh-CN" dirty="0"/>
              <a:t>N</a:t>
            </a:r>
            <a:r>
              <a:rPr kumimoji="1" lang="zh-CN" altLang="en-US" dirty="0"/>
              <a:t>维度读取</a:t>
            </a:r>
            <a:r>
              <a:rPr kumimoji="1" lang="en-US" altLang="zh-CN" dirty="0" err="1"/>
              <a:t>MatB</a:t>
            </a:r>
            <a:r>
              <a:rPr kumimoji="1" lang="zh-CN" altLang="en-US" dirty="0"/>
              <a:t>，并将计算出的</a:t>
            </a:r>
            <a:r>
              <a:rPr kumimoji="1" lang="en-US" altLang="zh-CN" dirty="0"/>
              <a:t>[M1,N1]</a:t>
            </a:r>
            <a:r>
              <a:rPr kumimoji="1" lang="zh-CN" altLang="en-US" dirty="0"/>
              <a:t>子块写出到</a:t>
            </a:r>
            <a:r>
              <a:rPr kumimoji="1" lang="en-US" altLang="zh-CN" dirty="0"/>
              <a:t>HBM</a:t>
            </a:r>
            <a:r>
              <a:rPr kumimoji="1" lang="zh-CN" altLang="en-US" dirty="0"/>
              <a:t>上。</a:t>
            </a:r>
          </a:p>
        </p:txBody>
      </p:sp>
    </p:spTree>
    <p:extLst>
      <p:ext uri="{BB962C8B-B14F-4D97-AF65-F5344CB8AC3E}">
        <p14:creationId xmlns:p14="http://schemas.microsoft.com/office/powerpoint/2010/main" val="17124811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295275" y="422752"/>
            <a:ext cx="10515600" cy="515184"/>
          </a:xfrm>
        </p:spPr>
        <p:txBody>
          <a:bodyPr/>
          <a:lstStyle/>
          <a:p>
            <a:r>
              <a:rPr lang="zh-CN" altLang="en-US" dirty="0"/>
              <a:t>方案介绍</a:t>
            </a:r>
          </a:p>
        </p:txBody>
      </p:sp>
      <p:sp>
        <p:nvSpPr>
          <p:cNvPr id="185" name="矩形 184">
            <a:extLst>
              <a:ext uri="{FF2B5EF4-FFF2-40B4-BE49-F238E27FC236}">
                <a16:creationId xmlns:a16="http://schemas.microsoft.com/office/drawing/2014/main" id="{332737AB-09DE-8E27-9B73-293665DCC044}"/>
              </a:ext>
            </a:extLst>
          </p:cNvPr>
          <p:cNvSpPr/>
          <p:nvPr/>
        </p:nvSpPr>
        <p:spPr>
          <a:xfrm>
            <a:off x="2070409" y="2652341"/>
            <a:ext cx="1676400" cy="22315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6" name="矩形 185">
            <a:extLst>
              <a:ext uri="{FF2B5EF4-FFF2-40B4-BE49-F238E27FC236}">
                <a16:creationId xmlns:a16="http://schemas.microsoft.com/office/drawing/2014/main" id="{1175BAFD-3BAA-3CD9-9F46-6960AC0F94EB}"/>
              </a:ext>
            </a:extLst>
          </p:cNvPr>
          <p:cNvSpPr/>
          <p:nvPr/>
        </p:nvSpPr>
        <p:spPr>
          <a:xfrm>
            <a:off x="3978899" y="2068286"/>
            <a:ext cx="2514601" cy="1485901"/>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9" name="文本框 188">
            <a:extLst>
              <a:ext uri="{FF2B5EF4-FFF2-40B4-BE49-F238E27FC236}">
                <a16:creationId xmlns:a16="http://schemas.microsoft.com/office/drawing/2014/main" id="{9602A198-D81A-FF0C-2705-6734A828C769}"/>
              </a:ext>
            </a:extLst>
          </p:cNvPr>
          <p:cNvSpPr txBox="1"/>
          <p:nvPr/>
        </p:nvSpPr>
        <p:spPr>
          <a:xfrm>
            <a:off x="4005551" y="2517713"/>
            <a:ext cx="582930" cy="369332"/>
          </a:xfrm>
          <a:prstGeom prst="rect">
            <a:avLst/>
          </a:prstGeom>
          <a:noFill/>
        </p:spPr>
        <p:txBody>
          <a:bodyPr wrap="square" rtlCol="0">
            <a:spAutoFit/>
          </a:bodyPr>
          <a:lstStyle/>
          <a:p>
            <a:r>
              <a:rPr kumimoji="1" lang="en-US" altLang="zh-CN" dirty="0"/>
              <a:t>K1</a:t>
            </a:r>
            <a:endParaRPr kumimoji="1" lang="zh-CN" altLang="en-US" dirty="0"/>
          </a:p>
        </p:txBody>
      </p:sp>
      <p:sp>
        <p:nvSpPr>
          <p:cNvPr id="190" name="文本框 189">
            <a:extLst>
              <a:ext uri="{FF2B5EF4-FFF2-40B4-BE49-F238E27FC236}">
                <a16:creationId xmlns:a16="http://schemas.microsoft.com/office/drawing/2014/main" id="{03033B25-9A91-1AA4-87D7-82CF42A3193D}"/>
              </a:ext>
            </a:extLst>
          </p:cNvPr>
          <p:cNvSpPr txBox="1"/>
          <p:nvPr/>
        </p:nvSpPr>
        <p:spPr>
          <a:xfrm>
            <a:off x="4944734" y="1694002"/>
            <a:ext cx="582930" cy="369332"/>
          </a:xfrm>
          <a:prstGeom prst="rect">
            <a:avLst/>
          </a:prstGeom>
          <a:noFill/>
        </p:spPr>
        <p:txBody>
          <a:bodyPr wrap="square" rtlCol="0">
            <a:spAutoFit/>
          </a:bodyPr>
          <a:lstStyle/>
          <a:p>
            <a:r>
              <a:rPr kumimoji="1" lang="en-US" altLang="zh-CN" dirty="0"/>
              <a:t>N1</a:t>
            </a:r>
            <a:endParaRPr kumimoji="1" lang="zh-CN" altLang="en-US" dirty="0"/>
          </a:p>
        </p:txBody>
      </p:sp>
      <p:sp>
        <p:nvSpPr>
          <p:cNvPr id="194" name="矩形 193">
            <a:extLst>
              <a:ext uri="{FF2B5EF4-FFF2-40B4-BE49-F238E27FC236}">
                <a16:creationId xmlns:a16="http://schemas.microsoft.com/office/drawing/2014/main" id="{1619DCCE-B4BF-AB1D-9BF7-27A96CB83136}"/>
              </a:ext>
            </a:extLst>
          </p:cNvPr>
          <p:cNvSpPr/>
          <p:nvPr/>
        </p:nvSpPr>
        <p:spPr>
          <a:xfrm>
            <a:off x="8180785" y="1846685"/>
            <a:ext cx="2514601" cy="2016969"/>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右箭头 2">
            <a:extLst>
              <a:ext uri="{FF2B5EF4-FFF2-40B4-BE49-F238E27FC236}">
                <a16:creationId xmlns:a16="http://schemas.microsoft.com/office/drawing/2014/main" id="{B4348000-7412-917B-F8D6-47FB4439C8F3}"/>
              </a:ext>
            </a:extLst>
          </p:cNvPr>
          <p:cNvSpPr/>
          <p:nvPr/>
        </p:nvSpPr>
        <p:spPr>
          <a:xfrm>
            <a:off x="6569700" y="2709760"/>
            <a:ext cx="1611085" cy="20295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a:extLst>
              <a:ext uri="{FF2B5EF4-FFF2-40B4-BE49-F238E27FC236}">
                <a16:creationId xmlns:a16="http://schemas.microsoft.com/office/drawing/2014/main" id="{5DF6CC20-722E-FA61-99AE-8B3FC0FCFEDC}"/>
              </a:ext>
            </a:extLst>
          </p:cNvPr>
          <p:cNvSpPr txBox="1"/>
          <p:nvPr/>
        </p:nvSpPr>
        <p:spPr>
          <a:xfrm>
            <a:off x="6613242" y="2301172"/>
            <a:ext cx="1447800" cy="369332"/>
          </a:xfrm>
          <a:prstGeom prst="rect">
            <a:avLst/>
          </a:prstGeom>
          <a:noFill/>
        </p:spPr>
        <p:txBody>
          <a:bodyPr wrap="square" rtlCol="0">
            <a:spAutoFit/>
          </a:bodyPr>
          <a:lstStyle/>
          <a:p>
            <a:r>
              <a:rPr kumimoji="1" lang="en-US" altLang="zh-CN" dirty="0"/>
              <a:t>DMA</a:t>
            </a:r>
            <a:r>
              <a:rPr kumimoji="1" lang="zh-CN" altLang="en-US" dirty="0"/>
              <a:t> </a:t>
            </a:r>
            <a:r>
              <a:rPr kumimoji="1" lang="en-US" altLang="zh-CN" dirty="0"/>
              <a:t>PUT</a:t>
            </a:r>
            <a:endParaRPr kumimoji="1" lang="zh-CN" altLang="en-US" dirty="0"/>
          </a:p>
        </p:txBody>
      </p:sp>
      <p:sp>
        <p:nvSpPr>
          <p:cNvPr id="6" name="矩形 5">
            <a:extLst>
              <a:ext uri="{FF2B5EF4-FFF2-40B4-BE49-F238E27FC236}">
                <a16:creationId xmlns:a16="http://schemas.microsoft.com/office/drawing/2014/main" id="{75CAA112-5826-5506-5A2B-4DFEE44DEFCD}"/>
              </a:ext>
            </a:extLst>
          </p:cNvPr>
          <p:cNvSpPr/>
          <p:nvPr/>
        </p:nvSpPr>
        <p:spPr>
          <a:xfrm>
            <a:off x="4030605" y="4082143"/>
            <a:ext cx="2514601" cy="1485901"/>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框 6">
            <a:extLst>
              <a:ext uri="{FF2B5EF4-FFF2-40B4-BE49-F238E27FC236}">
                <a16:creationId xmlns:a16="http://schemas.microsoft.com/office/drawing/2014/main" id="{B16C7C8B-4683-693E-4DD7-F2B485B288AE}"/>
              </a:ext>
            </a:extLst>
          </p:cNvPr>
          <p:cNvSpPr txBox="1"/>
          <p:nvPr/>
        </p:nvSpPr>
        <p:spPr>
          <a:xfrm>
            <a:off x="3970833" y="4661272"/>
            <a:ext cx="582930" cy="369332"/>
          </a:xfrm>
          <a:prstGeom prst="rect">
            <a:avLst/>
          </a:prstGeom>
          <a:noFill/>
        </p:spPr>
        <p:txBody>
          <a:bodyPr wrap="square" rtlCol="0">
            <a:spAutoFit/>
          </a:bodyPr>
          <a:lstStyle/>
          <a:p>
            <a:r>
              <a:rPr kumimoji="1" lang="en-US" altLang="zh-CN" dirty="0"/>
              <a:t>K1</a:t>
            </a:r>
            <a:endParaRPr kumimoji="1" lang="zh-CN" altLang="en-US" dirty="0"/>
          </a:p>
        </p:txBody>
      </p:sp>
      <p:sp>
        <p:nvSpPr>
          <p:cNvPr id="8" name="文本框 7">
            <a:extLst>
              <a:ext uri="{FF2B5EF4-FFF2-40B4-BE49-F238E27FC236}">
                <a16:creationId xmlns:a16="http://schemas.microsoft.com/office/drawing/2014/main" id="{1D6DB8FC-E914-F1AE-E214-0319CD1D13C1}"/>
              </a:ext>
            </a:extLst>
          </p:cNvPr>
          <p:cNvSpPr txBox="1"/>
          <p:nvPr/>
        </p:nvSpPr>
        <p:spPr>
          <a:xfrm>
            <a:off x="4906653" y="3761264"/>
            <a:ext cx="582930" cy="369332"/>
          </a:xfrm>
          <a:prstGeom prst="rect">
            <a:avLst/>
          </a:prstGeom>
          <a:noFill/>
        </p:spPr>
        <p:txBody>
          <a:bodyPr wrap="square" rtlCol="0">
            <a:spAutoFit/>
          </a:bodyPr>
          <a:lstStyle/>
          <a:p>
            <a:r>
              <a:rPr kumimoji="1" lang="en-US" altLang="zh-CN" dirty="0"/>
              <a:t>N1</a:t>
            </a:r>
            <a:endParaRPr kumimoji="1" lang="zh-CN" altLang="en-US" dirty="0"/>
          </a:p>
        </p:txBody>
      </p:sp>
      <p:sp>
        <p:nvSpPr>
          <p:cNvPr id="9" name="右箭头 8">
            <a:extLst>
              <a:ext uri="{FF2B5EF4-FFF2-40B4-BE49-F238E27FC236}">
                <a16:creationId xmlns:a16="http://schemas.microsoft.com/office/drawing/2014/main" id="{E5DE61E9-AAD1-F6CC-B8DE-5D1359A089F5}"/>
              </a:ext>
            </a:extLst>
          </p:cNvPr>
          <p:cNvSpPr/>
          <p:nvPr/>
        </p:nvSpPr>
        <p:spPr>
          <a:xfrm rot="9192383">
            <a:off x="6481579" y="4123153"/>
            <a:ext cx="1751659" cy="20295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右箭头 9">
            <a:extLst>
              <a:ext uri="{FF2B5EF4-FFF2-40B4-BE49-F238E27FC236}">
                <a16:creationId xmlns:a16="http://schemas.microsoft.com/office/drawing/2014/main" id="{2650BE7C-5B73-5EC7-D9AC-9B52854DB2F3}"/>
              </a:ext>
            </a:extLst>
          </p:cNvPr>
          <p:cNvSpPr/>
          <p:nvPr/>
        </p:nvSpPr>
        <p:spPr>
          <a:xfrm rot="19819567">
            <a:off x="6552976" y="4540106"/>
            <a:ext cx="1923885" cy="20295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1" name="文本框 10">
            <a:extLst>
              <a:ext uri="{FF2B5EF4-FFF2-40B4-BE49-F238E27FC236}">
                <a16:creationId xmlns:a16="http://schemas.microsoft.com/office/drawing/2014/main" id="{10359421-C6EC-24A4-3DD0-D86B2C066A00}"/>
              </a:ext>
            </a:extLst>
          </p:cNvPr>
          <p:cNvSpPr txBox="1"/>
          <p:nvPr/>
        </p:nvSpPr>
        <p:spPr>
          <a:xfrm>
            <a:off x="7269110" y="4836640"/>
            <a:ext cx="1447800" cy="369332"/>
          </a:xfrm>
          <a:prstGeom prst="rect">
            <a:avLst/>
          </a:prstGeom>
          <a:noFill/>
        </p:spPr>
        <p:txBody>
          <a:bodyPr wrap="square" rtlCol="0">
            <a:spAutoFit/>
          </a:bodyPr>
          <a:lstStyle/>
          <a:p>
            <a:r>
              <a:rPr kumimoji="1" lang="en-US" altLang="zh-CN" dirty="0"/>
              <a:t>DMA</a:t>
            </a:r>
            <a:r>
              <a:rPr kumimoji="1" lang="zh-CN" altLang="en-US" dirty="0"/>
              <a:t> </a:t>
            </a:r>
            <a:r>
              <a:rPr kumimoji="1" lang="en-US" altLang="zh-CN" dirty="0"/>
              <a:t>PUT</a:t>
            </a:r>
            <a:endParaRPr kumimoji="1" lang="zh-CN" altLang="en-US" dirty="0"/>
          </a:p>
        </p:txBody>
      </p:sp>
      <p:sp>
        <p:nvSpPr>
          <p:cNvPr id="12" name="文本框 11">
            <a:extLst>
              <a:ext uri="{FF2B5EF4-FFF2-40B4-BE49-F238E27FC236}">
                <a16:creationId xmlns:a16="http://schemas.microsoft.com/office/drawing/2014/main" id="{808D17E7-1490-8701-898D-2866F2FCA6BF}"/>
              </a:ext>
            </a:extLst>
          </p:cNvPr>
          <p:cNvSpPr txBox="1"/>
          <p:nvPr/>
        </p:nvSpPr>
        <p:spPr>
          <a:xfrm>
            <a:off x="6493500" y="3647564"/>
            <a:ext cx="1447800" cy="369332"/>
          </a:xfrm>
          <a:prstGeom prst="rect">
            <a:avLst/>
          </a:prstGeom>
          <a:noFill/>
        </p:spPr>
        <p:txBody>
          <a:bodyPr wrap="square" rtlCol="0">
            <a:spAutoFit/>
          </a:bodyPr>
          <a:lstStyle/>
          <a:p>
            <a:r>
              <a:rPr kumimoji="1" lang="en-US" altLang="zh-CN" dirty="0"/>
              <a:t>DMA</a:t>
            </a:r>
            <a:r>
              <a:rPr kumimoji="1" lang="zh-CN" altLang="en-US" dirty="0"/>
              <a:t> </a:t>
            </a:r>
            <a:r>
              <a:rPr kumimoji="1" lang="en-US" altLang="zh-CN" dirty="0"/>
              <a:t>GET</a:t>
            </a:r>
            <a:endParaRPr kumimoji="1" lang="zh-CN" altLang="en-US" dirty="0"/>
          </a:p>
        </p:txBody>
      </p:sp>
      <p:sp>
        <p:nvSpPr>
          <p:cNvPr id="13" name="下箭头 12">
            <a:extLst>
              <a:ext uri="{FF2B5EF4-FFF2-40B4-BE49-F238E27FC236}">
                <a16:creationId xmlns:a16="http://schemas.microsoft.com/office/drawing/2014/main" id="{3317A472-FC6D-AA38-7052-35BC7C66DC0C}"/>
              </a:ext>
            </a:extLst>
          </p:cNvPr>
          <p:cNvSpPr/>
          <p:nvPr/>
        </p:nvSpPr>
        <p:spPr>
          <a:xfrm>
            <a:off x="10869558" y="1878668"/>
            <a:ext cx="619432" cy="350449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文本框 13">
            <a:extLst>
              <a:ext uri="{FF2B5EF4-FFF2-40B4-BE49-F238E27FC236}">
                <a16:creationId xmlns:a16="http://schemas.microsoft.com/office/drawing/2014/main" id="{326BB9D7-B182-03F6-00D1-6444189186F4}"/>
              </a:ext>
            </a:extLst>
          </p:cNvPr>
          <p:cNvSpPr txBox="1"/>
          <p:nvPr/>
        </p:nvSpPr>
        <p:spPr>
          <a:xfrm>
            <a:off x="11414371" y="2725554"/>
            <a:ext cx="933712" cy="923330"/>
          </a:xfrm>
          <a:prstGeom prst="rect">
            <a:avLst/>
          </a:prstGeom>
          <a:noFill/>
        </p:spPr>
        <p:txBody>
          <a:bodyPr wrap="square" rtlCol="0">
            <a:spAutoFit/>
          </a:bodyPr>
          <a:lstStyle/>
          <a:p>
            <a:r>
              <a:rPr kumimoji="1" lang="en-US" altLang="zh-CN" dirty="0"/>
              <a:t>LOOP</a:t>
            </a:r>
          </a:p>
          <a:p>
            <a:r>
              <a:rPr kumimoji="1" lang="en-US" altLang="zh-CN" dirty="0"/>
              <a:t>for</a:t>
            </a:r>
          </a:p>
          <a:p>
            <a:r>
              <a:rPr kumimoji="1" lang="en-US" altLang="zh-CN" dirty="0"/>
              <a:t>K</a:t>
            </a:r>
            <a:endParaRPr kumimoji="1" lang="zh-CN" altLang="en-US" dirty="0"/>
          </a:p>
        </p:txBody>
      </p:sp>
      <p:sp>
        <p:nvSpPr>
          <p:cNvPr id="16" name="矩形 15">
            <a:extLst>
              <a:ext uri="{FF2B5EF4-FFF2-40B4-BE49-F238E27FC236}">
                <a16:creationId xmlns:a16="http://schemas.microsoft.com/office/drawing/2014/main" id="{A5AE5256-7D3D-E956-E14B-28F13C387EC2}"/>
              </a:ext>
            </a:extLst>
          </p:cNvPr>
          <p:cNvSpPr/>
          <p:nvPr/>
        </p:nvSpPr>
        <p:spPr>
          <a:xfrm>
            <a:off x="290836" y="2665324"/>
            <a:ext cx="1676400" cy="22315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文本框 16">
            <a:extLst>
              <a:ext uri="{FF2B5EF4-FFF2-40B4-BE49-F238E27FC236}">
                <a16:creationId xmlns:a16="http://schemas.microsoft.com/office/drawing/2014/main" id="{DF530CA3-18E9-FC40-A566-78F9D03A5482}"/>
              </a:ext>
            </a:extLst>
          </p:cNvPr>
          <p:cNvSpPr txBox="1"/>
          <p:nvPr/>
        </p:nvSpPr>
        <p:spPr>
          <a:xfrm>
            <a:off x="968980" y="2257991"/>
            <a:ext cx="582930" cy="369332"/>
          </a:xfrm>
          <a:prstGeom prst="rect">
            <a:avLst/>
          </a:prstGeom>
          <a:noFill/>
        </p:spPr>
        <p:txBody>
          <a:bodyPr wrap="square" rtlCol="0">
            <a:spAutoFit/>
          </a:bodyPr>
          <a:lstStyle/>
          <a:p>
            <a:r>
              <a:rPr kumimoji="1" lang="en-US" altLang="zh-CN" dirty="0"/>
              <a:t>K1</a:t>
            </a:r>
            <a:endParaRPr kumimoji="1" lang="zh-CN" altLang="en-US" dirty="0"/>
          </a:p>
        </p:txBody>
      </p:sp>
      <p:sp>
        <p:nvSpPr>
          <p:cNvPr id="19" name="文本框 18">
            <a:extLst>
              <a:ext uri="{FF2B5EF4-FFF2-40B4-BE49-F238E27FC236}">
                <a16:creationId xmlns:a16="http://schemas.microsoft.com/office/drawing/2014/main" id="{46ACE2B0-423C-FBAB-0D54-9404A9EBBD7B}"/>
              </a:ext>
            </a:extLst>
          </p:cNvPr>
          <p:cNvSpPr txBox="1"/>
          <p:nvPr/>
        </p:nvSpPr>
        <p:spPr>
          <a:xfrm>
            <a:off x="2480179" y="2280833"/>
            <a:ext cx="582930" cy="369332"/>
          </a:xfrm>
          <a:prstGeom prst="rect">
            <a:avLst/>
          </a:prstGeom>
          <a:noFill/>
        </p:spPr>
        <p:txBody>
          <a:bodyPr wrap="square" rtlCol="0">
            <a:spAutoFit/>
          </a:bodyPr>
          <a:lstStyle/>
          <a:p>
            <a:r>
              <a:rPr kumimoji="1" lang="en-US" altLang="zh-CN" dirty="0"/>
              <a:t>K1</a:t>
            </a:r>
            <a:endParaRPr kumimoji="1" lang="zh-CN" altLang="en-US" dirty="0"/>
          </a:p>
        </p:txBody>
      </p:sp>
      <p:sp>
        <p:nvSpPr>
          <p:cNvPr id="20" name="文本框 19">
            <a:extLst>
              <a:ext uri="{FF2B5EF4-FFF2-40B4-BE49-F238E27FC236}">
                <a16:creationId xmlns:a16="http://schemas.microsoft.com/office/drawing/2014/main" id="{1318D0C2-7BE4-C380-8394-3678300F90C6}"/>
              </a:ext>
            </a:extLst>
          </p:cNvPr>
          <p:cNvSpPr txBox="1"/>
          <p:nvPr/>
        </p:nvSpPr>
        <p:spPr>
          <a:xfrm>
            <a:off x="290836" y="3630914"/>
            <a:ext cx="582930" cy="369332"/>
          </a:xfrm>
          <a:prstGeom prst="rect">
            <a:avLst/>
          </a:prstGeom>
          <a:noFill/>
        </p:spPr>
        <p:txBody>
          <a:bodyPr wrap="square" rtlCol="0">
            <a:spAutoFit/>
          </a:bodyPr>
          <a:lstStyle/>
          <a:p>
            <a:r>
              <a:rPr kumimoji="1" lang="en-US" altLang="zh-CN" dirty="0"/>
              <a:t>M1</a:t>
            </a:r>
            <a:endParaRPr kumimoji="1" lang="zh-CN" altLang="en-US" dirty="0"/>
          </a:p>
        </p:txBody>
      </p:sp>
      <p:sp>
        <p:nvSpPr>
          <p:cNvPr id="21" name="文本框 20">
            <a:extLst>
              <a:ext uri="{FF2B5EF4-FFF2-40B4-BE49-F238E27FC236}">
                <a16:creationId xmlns:a16="http://schemas.microsoft.com/office/drawing/2014/main" id="{B9DB56E5-FAD0-09AF-ACEE-C68370BA6EFE}"/>
              </a:ext>
            </a:extLst>
          </p:cNvPr>
          <p:cNvSpPr txBox="1"/>
          <p:nvPr/>
        </p:nvSpPr>
        <p:spPr>
          <a:xfrm>
            <a:off x="2009121" y="3623730"/>
            <a:ext cx="582930" cy="369332"/>
          </a:xfrm>
          <a:prstGeom prst="rect">
            <a:avLst/>
          </a:prstGeom>
          <a:noFill/>
        </p:spPr>
        <p:txBody>
          <a:bodyPr wrap="square" rtlCol="0">
            <a:spAutoFit/>
          </a:bodyPr>
          <a:lstStyle/>
          <a:p>
            <a:r>
              <a:rPr kumimoji="1" lang="en-US" altLang="zh-CN" dirty="0"/>
              <a:t>M1</a:t>
            </a:r>
            <a:endParaRPr kumimoji="1" lang="zh-CN" altLang="en-US" dirty="0"/>
          </a:p>
        </p:txBody>
      </p:sp>
      <p:sp>
        <p:nvSpPr>
          <p:cNvPr id="2" name="文本框 1">
            <a:extLst>
              <a:ext uri="{FF2B5EF4-FFF2-40B4-BE49-F238E27FC236}">
                <a16:creationId xmlns:a16="http://schemas.microsoft.com/office/drawing/2014/main" id="{5736E2C1-AA38-A305-D057-CCE95E6D7417}"/>
              </a:ext>
            </a:extLst>
          </p:cNvPr>
          <p:cNvSpPr txBox="1"/>
          <p:nvPr/>
        </p:nvSpPr>
        <p:spPr>
          <a:xfrm>
            <a:off x="1967236" y="741652"/>
            <a:ext cx="7313924" cy="923330"/>
          </a:xfrm>
          <a:prstGeom prst="rect">
            <a:avLst/>
          </a:prstGeom>
          <a:noFill/>
        </p:spPr>
        <p:txBody>
          <a:bodyPr wrap="square" rtlCol="0">
            <a:spAutoFit/>
          </a:bodyPr>
          <a:lstStyle/>
          <a:p>
            <a:r>
              <a:rPr kumimoji="1" lang="zh-CN" altLang="en-US" dirty="0"/>
              <a:t>当计算的矩阵维度</a:t>
            </a:r>
            <a:r>
              <a:rPr kumimoji="1" lang="en-US" altLang="zh-CN" dirty="0"/>
              <a:t>K&gt;K1</a:t>
            </a:r>
            <a:r>
              <a:rPr kumimoji="1" lang="zh-CN" altLang="en-US" dirty="0"/>
              <a:t>时，需要沿着</a:t>
            </a:r>
            <a:r>
              <a:rPr kumimoji="1" lang="en-US" altLang="zh-CN" dirty="0"/>
              <a:t>K</a:t>
            </a:r>
            <a:r>
              <a:rPr kumimoji="1" lang="zh-CN" altLang="en-US" dirty="0"/>
              <a:t>维度进行循环读取</a:t>
            </a:r>
            <a:r>
              <a:rPr kumimoji="1" lang="en-US" altLang="zh-CN" dirty="0" err="1"/>
              <a:t>MatA</a:t>
            </a:r>
            <a:r>
              <a:rPr kumimoji="1" lang="zh-CN" altLang="en-US" dirty="0"/>
              <a:t>和</a:t>
            </a:r>
            <a:r>
              <a:rPr kumimoji="1" lang="en-US" altLang="zh-CN" dirty="0" err="1"/>
              <a:t>MatB</a:t>
            </a:r>
            <a:r>
              <a:rPr kumimoji="1" lang="zh-CN" altLang="en-US" dirty="0"/>
              <a:t>，在计算当前的</a:t>
            </a:r>
            <a:r>
              <a:rPr kumimoji="1" lang="en-US" altLang="zh-CN" dirty="0"/>
              <a:t>[M1,N1,K1]</a:t>
            </a:r>
            <a:r>
              <a:rPr kumimoji="1" lang="zh-CN" altLang="en-US" dirty="0"/>
              <a:t>时，需要</a:t>
            </a:r>
            <a:r>
              <a:rPr kumimoji="1" lang="en-US" altLang="zh-CN" dirty="0"/>
              <a:t>DMA</a:t>
            </a:r>
            <a:r>
              <a:rPr kumimoji="1" lang="zh-CN" altLang="en-US" dirty="0"/>
              <a:t>读取上一次</a:t>
            </a:r>
            <a:r>
              <a:rPr kumimoji="1" lang="en-US" altLang="zh-CN" dirty="0" err="1"/>
              <a:t>MatC</a:t>
            </a:r>
            <a:r>
              <a:rPr kumimoji="1" lang="zh-CN" altLang="en-US" dirty="0"/>
              <a:t>的计算结果，并在从核上将两次结果累加起来并写出到</a:t>
            </a:r>
            <a:r>
              <a:rPr kumimoji="1" lang="en-US" altLang="zh-CN" dirty="0"/>
              <a:t>HBM</a:t>
            </a:r>
            <a:r>
              <a:rPr kumimoji="1" lang="zh-CN" altLang="en-US" dirty="0"/>
              <a:t>上去 。</a:t>
            </a:r>
          </a:p>
        </p:txBody>
      </p:sp>
    </p:spTree>
    <p:extLst>
      <p:ext uri="{BB962C8B-B14F-4D97-AF65-F5344CB8AC3E}">
        <p14:creationId xmlns:p14="http://schemas.microsoft.com/office/powerpoint/2010/main" val="31520962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295275" y="422752"/>
            <a:ext cx="10515600" cy="515184"/>
          </a:xfrm>
        </p:spPr>
        <p:txBody>
          <a:bodyPr/>
          <a:lstStyle/>
          <a:p>
            <a:r>
              <a:rPr lang="zh-CN" altLang="en-US" dirty="0"/>
              <a:t>方案介绍</a:t>
            </a:r>
            <a:r>
              <a:rPr lang="en-US" altLang="zh-CN" dirty="0"/>
              <a:t>-</a:t>
            </a:r>
            <a:r>
              <a:rPr lang="zh-CN" altLang="en-US" dirty="0"/>
              <a:t>伪代码</a:t>
            </a:r>
            <a:r>
              <a:rPr lang="en-US" altLang="zh-CN" dirty="0"/>
              <a:t>-</a:t>
            </a:r>
            <a:r>
              <a:rPr lang="zh-CN" altLang="en-US" dirty="0"/>
              <a:t>串行</a:t>
            </a:r>
          </a:p>
        </p:txBody>
      </p:sp>
      <p:pic>
        <p:nvPicPr>
          <p:cNvPr id="18" name="图片 17">
            <a:extLst>
              <a:ext uri="{FF2B5EF4-FFF2-40B4-BE49-F238E27FC236}">
                <a16:creationId xmlns:a16="http://schemas.microsoft.com/office/drawing/2014/main" id="{73F9A233-C0E7-44E0-331A-0C4D686D31FC}"/>
              </a:ext>
            </a:extLst>
          </p:cNvPr>
          <p:cNvPicPr>
            <a:picLocks noChangeAspect="1"/>
          </p:cNvPicPr>
          <p:nvPr/>
        </p:nvPicPr>
        <p:blipFill>
          <a:blip r:embed="rId3"/>
          <a:stretch>
            <a:fillRect/>
          </a:stretch>
        </p:blipFill>
        <p:spPr>
          <a:xfrm>
            <a:off x="295275" y="1035693"/>
            <a:ext cx="8526148" cy="5250807"/>
          </a:xfrm>
          <a:prstGeom prst="rect">
            <a:avLst/>
          </a:prstGeom>
        </p:spPr>
      </p:pic>
      <p:sp>
        <p:nvSpPr>
          <p:cNvPr id="23" name="文本框 22">
            <a:extLst>
              <a:ext uri="{FF2B5EF4-FFF2-40B4-BE49-F238E27FC236}">
                <a16:creationId xmlns:a16="http://schemas.microsoft.com/office/drawing/2014/main" id="{3C2126C8-9045-DD34-2516-AFCC50A23300}"/>
              </a:ext>
            </a:extLst>
          </p:cNvPr>
          <p:cNvSpPr txBox="1"/>
          <p:nvPr/>
        </p:nvSpPr>
        <p:spPr>
          <a:xfrm>
            <a:off x="9041130" y="1188720"/>
            <a:ext cx="2651760" cy="4247317"/>
          </a:xfrm>
          <a:prstGeom prst="rect">
            <a:avLst/>
          </a:prstGeom>
          <a:noFill/>
        </p:spPr>
        <p:txBody>
          <a:bodyPr wrap="square" rtlCol="0">
            <a:spAutoFit/>
          </a:bodyPr>
          <a:lstStyle/>
          <a:p>
            <a:r>
              <a:rPr kumimoji="1" lang="zh-CN" altLang="en-US" dirty="0">
                <a:latin typeface="SimSun" panose="02010600030101010101" pitchFamily="2" charset="-122"/>
                <a:ea typeface="SimSun" panose="02010600030101010101" pitchFamily="2" charset="-122"/>
              </a:rPr>
              <a:t>根据代码可得</a:t>
            </a:r>
            <a:r>
              <a:rPr kumimoji="1" lang="en-US" altLang="zh-CN" dirty="0" err="1">
                <a:latin typeface="SimSun" panose="02010600030101010101" pitchFamily="2" charset="-122"/>
                <a:ea typeface="SimSun" panose="02010600030101010101" pitchFamily="2" charset="-122"/>
              </a:rPr>
              <a:t>MatA</a:t>
            </a:r>
            <a:r>
              <a:rPr kumimoji="1" lang="zh-CN" altLang="en-US" dirty="0">
                <a:latin typeface="SimSun" panose="02010600030101010101" pitchFamily="2" charset="-122"/>
                <a:ea typeface="SimSun" panose="02010600030101010101" pitchFamily="2" charset="-122"/>
              </a:rPr>
              <a:t>全局只被读取一次。</a:t>
            </a:r>
            <a:endParaRPr kumimoji="1" lang="en-US" altLang="zh-CN" dirty="0">
              <a:latin typeface="SimSun" panose="02010600030101010101" pitchFamily="2" charset="-122"/>
              <a:ea typeface="SimSun" panose="02010600030101010101" pitchFamily="2" charset="-122"/>
            </a:endParaRPr>
          </a:p>
          <a:p>
            <a:r>
              <a:rPr kumimoji="1" lang="en-US" altLang="zh-CN" dirty="0" err="1">
                <a:latin typeface="SimSun" panose="02010600030101010101" pitchFamily="2" charset="-122"/>
                <a:ea typeface="SimSun" panose="02010600030101010101" pitchFamily="2" charset="-122"/>
              </a:rPr>
              <a:t>MatB</a:t>
            </a:r>
            <a:r>
              <a:rPr kumimoji="1" lang="zh-CN" altLang="en-US" dirty="0">
                <a:latin typeface="SimSun" panose="02010600030101010101" pitchFamily="2" charset="-122"/>
                <a:ea typeface="SimSun" panose="02010600030101010101" pitchFamily="2" charset="-122"/>
              </a:rPr>
              <a:t>会被读取</a:t>
            </a:r>
            <a:r>
              <a:rPr kumimoji="1" lang="en-US" altLang="zh-CN" dirty="0">
                <a:latin typeface="SimSun" panose="02010600030101010101" pitchFamily="2" charset="-122"/>
                <a:ea typeface="SimSun" panose="02010600030101010101" pitchFamily="2" charset="-122"/>
              </a:rPr>
              <a:t>M/M1</a:t>
            </a:r>
            <a:r>
              <a:rPr kumimoji="1" lang="zh-CN" altLang="en-US" dirty="0">
                <a:latin typeface="SimSun" panose="02010600030101010101" pitchFamily="2" charset="-122"/>
                <a:ea typeface="SimSun" panose="02010600030101010101" pitchFamily="2" charset="-122"/>
              </a:rPr>
              <a:t>次。</a:t>
            </a:r>
            <a:r>
              <a:rPr kumimoji="1" lang="en-US" altLang="zh-CN" dirty="0" err="1">
                <a:latin typeface="SimSun" panose="02010600030101010101" pitchFamily="2" charset="-122"/>
                <a:ea typeface="SimSun" panose="02010600030101010101" pitchFamily="2" charset="-122"/>
              </a:rPr>
              <a:t>MatC</a:t>
            </a:r>
            <a:r>
              <a:rPr kumimoji="1" lang="zh-CN" altLang="en-US" dirty="0">
                <a:latin typeface="SimSun" panose="02010600030101010101" pitchFamily="2" charset="-122"/>
                <a:ea typeface="SimSun" panose="02010600030101010101" pitchFamily="2" charset="-122"/>
              </a:rPr>
              <a:t>会被读取</a:t>
            </a:r>
            <a:r>
              <a:rPr kumimoji="1" lang="en-US" altLang="zh-CN" dirty="0">
                <a:latin typeface="SimSun" panose="02010600030101010101" pitchFamily="2" charset="-122"/>
                <a:ea typeface="SimSun" panose="02010600030101010101" pitchFamily="2" charset="-122"/>
              </a:rPr>
              <a:t>K/K1-1</a:t>
            </a:r>
            <a:r>
              <a:rPr kumimoji="1" lang="zh-CN" altLang="en-US" dirty="0">
                <a:latin typeface="SimSun" panose="02010600030101010101" pitchFamily="2" charset="-122"/>
                <a:ea typeface="SimSun" panose="02010600030101010101" pitchFamily="2" charset="-122"/>
              </a:rPr>
              <a:t>次，被写出 </a:t>
            </a:r>
            <a:r>
              <a:rPr kumimoji="1" lang="en-US" altLang="zh-CN" dirty="0">
                <a:latin typeface="SimSun" panose="02010600030101010101" pitchFamily="2" charset="-122"/>
                <a:ea typeface="SimSun" panose="02010600030101010101" pitchFamily="2" charset="-122"/>
              </a:rPr>
              <a:t>K/K1</a:t>
            </a:r>
            <a:r>
              <a:rPr kumimoji="1" lang="zh-CN" altLang="en-US" dirty="0">
                <a:latin typeface="SimSun" panose="02010600030101010101" pitchFamily="2" charset="-122"/>
                <a:ea typeface="SimSun" panose="02010600030101010101" pitchFamily="2" charset="-122"/>
              </a:rPr>
              <a:t>次。</a:t>
            </a:r>
            <a:endParaRPr kumimoji="1" lang="en-US" altLang="zh-CN" dirty="0">
              <a:latin typeface="SimSun" panose="02010600030101010101" pitchFamily="2" charset="-122"/>
              <a:ea typeface="SimSun" panose="02010600030101010101" pitchFamily="2" charset="-122"/>
            </a:endParaRPr>
          </a:p>
          <a:p>
            <a:r>
              <a:rPr kumimoji="1" lang="zh-CN" altLang="en-US" dirty="0">
                <a:latin typeface="SimSun" panose="02010600030101010101" pitchFamily="2" charset="-122"/>
                <a:ea typeface="SimSun" panose="02010600030101010101" pitchFamily="2" charset="-122"/>
              </a:rPr>
              <a:t>整个的</a:t>
            </a:r>
            <a:r>
              <a:rPr kumimoji="1" lang="en-US" altLang="zh-CN" dirty="0" err="1">
                <a:latin typeface="SimSun" panose="02010600030101010101" pitchFamily="2" charset="-122"/>
                <a:ea typeface="SimSun" panose="02010600030101010101" pitchFamily="2" charset="-122"/>
              </a:rPr>
              <a:t>Gemm</a:t>
            </a:r>
            <a:r>
              <a:rPr kumimoji="1" lang="zh-CN" altLang="en-US" dirty="0">
                <a:latin typeface="SimSun" panose="02010600030101010101" pitchFamily="2" charset="-122"/>
                <a:ea typeface="SimSun" panose="02010600030101010101" pitchFamily="2" charset="-122"/>
              </a:rPr>
              <a:t>流程可以拆分成以下模块</a:t>
            </a:r>
            <a:r>
              <a:rPr kumimoji="1" lang="en-US" altLang="zh-CN" dirty="0">
                <a:latin typeface="SimSun" panose="02010600030101010101" pitchFamily="2" charset="-122"/>
                <a:ea typeface="SimSun" panose="02010600030101010101" pitchFamily="2" charset="-122"/>
              </a:rPr>
              <a:t>:</a:t>
            </a:r>
          </a:p>
          <a:p>
            <a:r>
              <a:rPr kumimoji="1" lang="en-US" altLang="zh-CN" dirty="0" err="1">
                <a:latin typeface="SimSun" panose="02010600030101010101" pitchFamily="2" charset="-122"/>
                <a:ea typeface="SimSun" panose="02010600030101010101" pitchFamily="2" charset="-122"/>
              </a:rPr>
              <a:t>DMA_GET_MatA</a:t>
            </a:r>
            <a:endParaRPr kumimoji="1" lang="en-US" altLang="zh-CN" dirty="0">
              <a:latin typeface="SimSun" panose="02010600030101010101" pitchFamily="2" charset="-122"/>
              <a:ea typeface="SimSun" panose="02010600030101010101" pitchFamily="2" charset="-122"/>
            </a:endParaRPr>
          </a:p>
          <a:p>
            <a:r>
              <a:rPr kumimoji="1" lang="en-US" altLang="zh-CN" dirty="0" err="1">
                <a:latin typeface="SimSun" panose="02010600030101010101" pitchFamily="2" charset="-122"/>
                <a:ea typeface="SimSun" panose="02010600030101010101" pitchFamily="2" charset="-122"/>
              </a:rPr>
              <a:t>DMA_GET_MatB</a:t>
            </a:r>
            <a:endParaRPr kumimoji="1" lang="en-US" altLang="zh-CN" dirty="0">
              <a:latin typeface="SimSun" panose="02010600030101010101" pitchFamily="2" charset="-122"/>
              <a:ea typeface="SimSun" panose="02010600030101010101" pitchFamily="2" charset="-122"/>
            </a:endParaRPr>
          </a:p>
          <a:p>
            <a:r>
              <a:rPr kumimoji="1" lang="en-US" altLang="zh-CN" dirty="0" err="1">
                <a:latin typeface="SimSun" panose="02010600030101010101" pitchFamily="2" charset="-122"/>
                <a:ea typeface="SimSun" panose="02010600030101010101" pitchFamily="2" charset="-122"/>
              </a:rPr>
              <a:t>DMA_GET_MatC</a:t>
            </a:r>
            <a:endParaRPr kumimoji="1" lang="en-US" altLang="zh-CN" dirty="0">
              <a:latin typeface="SimSun" panose="02010600030101010101" pitchFamily="2" charset="-122"/>
              <a:ea typeface="SimSun" panose="02010600030101010101" pitchFamily="2" charset="-122"/>
            </a:endParaRPr>
          </a:p>
          <a:p>
            <a:r>
              <a:rPr kumimoji="1" lang="en-US" altLang="zh-CN" dirty="0" err="1">
                <a:latin typeface="SimSun" panose="02010600030101010101" pitchFamily="2" charset="-122"/>
                <a:ea typeface="SimSun" panose="02010600030101010101" pitchFamily="2" charset="-122"/>
              </a:rPr>
              <a:t>DMA_PUT_MatC</a:t>
            </a:r>
            <a:endParaRPr kumimoji="1" lang="en-US" altLang="zh-CN" dirty="0">
              <a:latin typeface="SimSun" panose="02010600030101010101" pitchFamily="2" charset="-122"/>
              <a:ea typeface="SimSun" panose="02010600030101010101" pitchFamily="2" charset="-122"/>
            </a:endParaRPr>
          </a:p>
          <a:p>
            <a:r>
              <a:rPr kumimoji="1" lang="en-US" altLang="zh-CN" dirty="0" err="1">
                <a:latin typeface="SimSun" panose="02010600030101010101" pitchFamily="2" charset="-122"/>
                <a:ea typeface="SimSun" panose="02010600030101010101" pitchFamily="2" charset="-122"/>
              </a:rPr>
              <a:t>RMA_ROW_PUT_MatB</a:t>
            </a:r>
            <a:endParaRPr kumimoji="1" lang="en-US" altLang="zh-CN" dirty="0">
              <a:latin typeface="SimSun" panose="02010600030101010101" pitchFamily="2" charset="-122"/>
              <a:ea typeface="SimSun" panose="02010600030101010101" pitchFamily="2" charset="-122"/>
            </a:endParaRPr>
          </a:p>
          <a:p>
            <a:r>
              <a:rPr kumimoji="1" lang="en-US" altLang="zh-CN" dirty="0" err="1">
                <a:latin typeface="SimSun" panose="02010600030101010101" pitchFamily="2" charset="-122"/>
                <a:ea typeface="SimSun" panose="02010600030101010101" pitchFamily="2" charset="-122"/>
              </a:rPr>
              <a:t>RMA_COL_PUT_MatC</a:t>
            </a:r>
            <a:endParaRPr kumimoji="1" lang="en-US" altLang="zh-CN" dirty="0">
              <a:latin typeface="SimSun" panose="02010600030101010101" pitchFamily="2" charset="-122"/>
              <a:ea typeface="SimSun" panose="02010600030101010101" pitchFamily="2" charset="-122"/>
            </a:endParaRPr>
          </a:p>
          <a:p>
            <a:r>
              <a:rPr kumimoji="1" lang="en-US" altLang="zh-CN" dirty="0" err="1">
                <a:latin typeface="SimSun" panose="02010600030101010101" pitchFamily="2" charset="-122"/>
                <a:ea typeface="SimSun" panose="02010600030101010101" pitchFamily="2" charset="-122"/>
              </a:rPr>
              <a:t>SIMD_ReduceMatC</a:t>
            </a:r>
            <a:endParaRPr kumimoji="1" lang="en-US" altLang="zh-CN" dirty="0">
              <a:latin typeface="SimSun" panose="02010600030101010101" pitchFamily="2" charset="-122"/>
              <a:ea typeface="SimSun" panose="02010600030101010101" pitchFamily="2" charset="-122"/>
            </a:endParaRPr>
          </a:p>
          <a:p>
            <a:r>
              <a:rPr kumimoji="1" lang="en-US" altLang="zh-CN" dirty="0">
                <a:latin typeface="SimSun" panose="02010600030101010101" pitchFamily="2" charset="-122"/>
                <a:ea typeface="SimSun" panose="02010600030101010101" pitchFamily="2" charset="-122"/>
              </a:rPr>
              <a:t>ACE_COM</a:t>
            </a:r>
          </a:p>
        </p:txBody>
      </p:sp>
    </p:spTree>
    <p:extLst>
      <p:ext uri="{BB962C8B-B14F-4D97-AF65-F5344CB8AC3E}">
        <p14:creationId xmlns:p14="http://schemas.microsoft.com/office/powerpoint/2010/main" val="37203338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80430" y="425400"/>
            <a:ext cx="2646540" cy="1393875"/>
          </a:xfrm>
          <a:prstGeom prst="rect">
            <a:avLst/>
          </a:prstGeom>
        </p:spPr>
      </p:pic>
      <p:sp>
        <p:nvSpPr>
          <p:cNvPr id="2" name="标题 1"/>
          <p:cNvSpPr txBox="1"/>
          <p:nvPr/>
        </p:nvSpPr>
        <p:spPr>
          <a:xfrm>
            <a:off x="981075" y="4003675"/>
            <a:ext cx="8315325" cy="68262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4400" b="1" dirty="0">
                <a:solidFill>
                  <a:schemeClr val="bg1"/>
                </a:solidFill>
              </a:rPr>
              <a:t>03 | </a:t>
            </a:r>
            <a:r>
              <a:rPr lang="zh-CN" altLang="en-US" sz="4400" b="1" dirty="0">
                <a:solidFill>
                  <a:schemeClr val="bg1"/>
                </a:solidFill>
              </a:rPr>
              <a:t>流水优化</a:t>
            </a:r>
            <a:endParaRPr lang="zh-CN" altLang="en-US" b="1" dirty="0">
              <a:solidFill>
                <a:schemeClr val="bg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295275" y="422752"/>
            <a:ext cx="10515600" cy="515184"/>
          </a:xfrm>
        </p:spPr>
        <p:txBody>
          <a:bodyPr/>
          <a:lstStyle/>
          <a:p>
            <a:r>
              <a:rPr lang="zh-CN" altLang="en-US" dirty="0"/>
              <a:t>流水优化</a:t>
            </a:r>
            <a:r>
              <a:rPr lang="en-US" altLang="zh-CN" dirty="0"/>
              <a:t>-</a:t>
            </a:r>
            <a:r>
              <a:rPr lang="en-US" altLang="zh-CN" dirty="0" err="1"/>
              <a:t>DMA_GET_MatA</a:t>
            </a:r>
            <a:endParaRPr lang="zh-CN" altLang="en-US" dirty="0"/>
          </a:p>
        </p:txBody>
      </p:sp>
      <p:sp>
        <p:nvSpPr>
          <p:cNvPr id="2" name="文本框 1">
            <a:extLst>
              <a:ext uri="{FF2B5EF4-FFF2-40B4-BE49-F238E27FC236}">
                <a16:creationId xmlns:a16="http://schemas.microsoft.com/office/drawing/2014/main" id="{629A0500-4B64-2A6A-87FF-97014626952D}"/>
              </a:ext>
            </a:extLst>
          </p:cNvPr>
          <p:cNvSpPr txBox="1"/>
          <p:nvPr/>
        </p:nvSpPr>
        <p:spPr>
          <a:xfrm>
            <a:off x="445770" y="2011680"/>
            <a:ext cx="8503920" cy="1477328"/>
          </a:xfrm>
          <a:prstGeom prst="rect">
            <a:avLst/>
          </a:prstGeom>
          <a:noFill/>
        </p:spPr>
        <p:txBody>
          <a:bodyPr wrap="square" rtlCol="0">
            <a:spAutoFit/>
          </a:bodyPr>
          <a:lstStyle/>
          <a:p>
            <a:r>
              <a:rPr kumimoji="1" lang="zh-CN" altLang="en-US" dirty="0">
                <a:latin typeface="SimSun" panose="02010600030101010101" pitchFamily="2" charset="-122"/>
                <a:ea typeface="SimSun" panose="02010600030101010101" pitchFamily="2" charset="-122"/>
              </a:rPr>
              <a:t>由于</a:t>
            </a:r>
            <a:r>
              <a:rPr kumimoji="1" lang="en-US" altLang="zh-CN" dirty="0">
                <a:latin typeface="SimSun" panose="02010600030101010101" pitchFamily="2" charset="-122"/>
                <a:ea typeface="SimSun" panose="02010600030101010101" pitchFamily="2" charset="-122"/>
              </a:rPr>
              <a:t>ACE</a:t>
            </a:r>
            <a:r>
              <a:rPr kumimoji="1" lang="zh-CN" altLang="en-US" dirty="0">
                <a:latin typeface="SimSun" panose="02010600030101010101" pitchFamily="2" charset="-122"/>
                <a:ea typeface="SimSun" panose="02010600030101010101" pitchFamily="2" charset="-122"/>
              </a:rPr>
              <a:t>本身的特性，西向数据数据量是北向数据数据量的</a:t>
            </a:r>
            <a:r>
              <a:rPr kumimoji="1" lang="en-US" altLang="zh-CN" dirty="0">
                <a:latin typeface="SimSun" panose="02010600030101010101" pitchFamily="2" charset="-122"/>
                <a:ea typeface="SimSun" panose="02010600030101010101" pitchFamily="2" charset="-122"/>
              </a:rPr>
              <a:t>3~4</a:t>
            </a:r>
            <a:r>
              <a:rPr kumimoji="1" lang="zh-CN" altLang="en-US" dirty="0">
                <a:latin typeface="SimSun" panose="02010600030101010101" pitchFamily="2" charset="-122"/>
                <a:ea typeface="SimSun" panose="02010600030101010101" pitchFamily="2" charset="-122"/>
              </a:rPr>
              <a:t>倍。且西向数据无法通过</a:t>
            </a:r>
            <a:r>
              <a:rPr kumimoji="1" lang="en-US" altLang="zh-CN" dirty="0">
                <a:latin typeface="SimSun" panose="02010600030101010101" pitchFamily="2" charset="-122"/>
                <a:ea typeface="SimSun" panose="02010600030101010101" pitchFamily="2" charset="-122"/>
              </a:rPr>
              <a:t>RMA</a:t>
            </a:r>
            <a:r>
              <a:rPr kumimoji="1" lang="zh-CN" altLang="en-US" dirty="0">
                <a:latin typeface="SimSun" panose="02010600030101010101" pitchFamily="2" charset="-122"/>
                <a:ea typeface="SimSun" panose="02010600030101010101" pitchFamily="2" charset="-122"/>
              </a:rPr>
              <a:t>通路获取</a:t>
            </a:r>
            <a:r>
              <a:rPr kumimoji="1" lang="en-US" altLang="zh-CN" dirty="0">
                <a:latin typeface="SimSun" panose="02010600030101010101" pitchFamily="2" charset="-122"/>
                <a:ea typeface="SimSun" panose="02010600030101010101" pitchFamily="2" charset="-122"/>
              </a:rPr>
              <a:t>(</a:t>
            </a:r>
            <a:r>
              <a:rPr kumimoji="1" lang="zh-CN" altLang="en-US" dirty="0">
                <a:latin typeface="SimSun" panose="02010600030101010101" pitchFamily="2" charset="-122"/>
                <a:ea typeface="SimSun" panose="02010600030101010101" pitchFamily="2" charset="-122"/>
              </a:rPr>
              <a:t>带宽不足</a:t>
            </a:r>
            <a:r>
              <a:rPr kumimoji="1" lang="en-US" altLang="zh-CN" dirty="0">
                <a:latin typeface="SimSun" panose="02010600030101010101" pitchFamily="2" charset="-122"/>
                <a:ea typeface="SimSun" panose="02010600030101010101" pitchFamily="2" charset="-122"/>
              </a:rPr>
              <a:t>)</a:t>
            </a:r>
            <a:r>
              <a:rPr kumimoji="1" lang="zh-CN" altLang="en-US" dirty="0">
                <a:latin typeface="SimSun" panose="02010600030101010101" pitchFamily="2" charset="-122"/>
                <a:ea typeface="SimSun" panose="02010600030101010101" pitchFamily="2" charset="-122"/>
              </a:rPr>
              <a:t>，因此每个从核必须保存一份完整的</a:t>
            </a:r>
            <a:r>
              <a:rPr kumimoji="1" lang="en-US" altLang="zh-CN" dirty="0">
                <a:latin typeface="SimSun" panose="02010600030101010101" pitchFamily="2" charset="-122"/>
                <a:ea typeface="SimSun" panose="02010600030101010101" pitchFamily="2" charset="-122"/>
              </a:rPr>
              <a:t>[M2,K2]</a:t>
            </a:r>
            <a:r>
              <a:rPr kumimoji="1" lang="zh-CN" altLang="en-US" dirty="0">
                <a:latin typeface="SimSun" panose="02010600030101010101" pitchFamily="2" charset="-122"/>
                <a:ea typeface="SimSun" panose="02010600030101010101" pitchFamily="2" charset="-122"/>
              </a:rPr>
              <a:t>。考虑到</a:t>
            </a:r>
            <a:r>
              <a:rPr kumimoji="1" lang="en-US" altLang="zh-CN" dirty="0">
                <a:latin typeface="SimSun" panose="02010600030101010101" pitchFamily="2" charset="-122"/>
                <a:ea typeface="SimSun" panose="02010600030101010101" pitchFamily="2" charset="-122"/>
              </a:rPr>
              <a:t>LDM</a:t>
            </a:r>
            <a:r>
              <a:rPr kumimoji="1" lang="zh-CN" altLang="en-US" dirty="0">
                <a:latin typeface="SimSun" panose="02010600030101010101" pitchFamily="2" charset="-122"/>
                <a:ea typeface="SimSun" panose="02010600030101010101" pitchFamily="2" charset="-122"/>
              </a:rPr>
              <a:t>的有限空间，所以不对</a:t>
            </a:r>
            <a:r>
              <a:rPr kumimoji="1" lang="en-US" altLang="zh-CN" dirty="0" err="1">
                <a:latin typeface="SimSun" panose="02010600030101010101" pitchFamily="2" charset="-122"/>
                <a:ea typeface="SimSun" panose="02010600030101010101" pitchFamily="2" charset="-122"/>
              </a:rPr>
              <a:t>MatA</a:t>
            </a:r>
            <a:r>
              <a:rPr kumimoji="1" lang="zh-CN" altLang="en-US" dirty="0">
                <a:latin typeface="SimSun" panose="02010600030101010101" pitchFamily="2" charset="-122"/>
                <a:ea typeface="SimSun" panose="02010600030101010101" pitchFamily="2" charset="-122"/>
              </a:rPr>
              <a:t>使用双缓冲。</a:t>
            </a:r>
            <a:r>
              <a:rPr kumimoji="1" lang="en-US" altLang="zh-CN" dirty="0" err="1">
                <a:latin typeface="SimSun" panose="02010600030101010101" pitchFamily="2" charset="-122"/>
                <a:ea typeface="SimSun" panose="02010600030101010101" pitchFamily="2" charset="-122"/>
              </a:rPr>
              <a:t>DMA_GET_MatA</a:t>
            </a:r>
            <a:r>
              <a:rPr kumimoji="1" lang="zh-CN" altLang="en-US" dirty="0">
                <a:latin typeface="SimSun" panose="02010600030101010101" pitchFamily="2" charset="-122"/>
                <a:ea typeface="SimSun" panose="02010600030101010101" pitchFamily="2" charset="-122"/>
              </a:rPr>
              <a:t>和其余</a:t>
            </a:r>
            <a:r>
              <a:rPr kumimoji="1" lang="en-US" altLang="zh-CN" dirty="0">
                <a:latin typeface="SimSun" panose="02010600030101010101" pitchFamily="2" charset="-122"/>
                <a:ea typeface="SimSun" panose="02010600030101010101" pitchFamily="2" charset="-122"/>
              </a:rPr>
              <a:t>7</a:t>
            </a:r>
            <a:r>
              <a:rPr kumimoji="1" lang="zh-CN" altLang="en-US" dirty="0">
                <a:latin typeface="SimSun" panose="02010600030101010101" pitchFamily="2" charset="-122"/>
                <a:ea typeface="SimSun" panose="02010600030101010101" pitchFamily="2" charset="-122"/>
              </a:rPr>
              <a:t>个模块为串行。</a:t>
            </a:r>
            <a:endParaRPr kumimoji="1" lang="en-US" altLang="zh-CN" dirty="0">
              <a:latin typeface="SimSun" panose="02010600030101010101" pitchFamily="2" charset="-122"/>
              <a:ea typeface="SimSun" panose="02010600030101010101" pitchFamily="2" charset="-122"/>
            </a:endParaRPr>
          </a:p>
          <a:p>
            <a:endParaRPr kumimoji="1" lang="en-US" altLang="zh-CN" dirty="0">
              <a:latin typeface="SimSun" panose="02010600030101010101" pitchFamily="2" charset="-122"/>
              <a:ea typeface="SimSun" panose="02010600030101010101" pitchFamily="2" charset="-122"/>
            </a:endParaRPr>
          </a:p>
          <a:p>
            <a:r>
              <a:rPr kumimoji="1" lang="zh-CN" altLang="en-US" dirty="0">
                <a:latin typeface="SimSun" panose="02010600030101010101" pitchFamily="2" charset="-122"/>
                <a:ea typeface="SimSun" panose="02010600030101010101" pitchFamily="2" charset="-122"/>
              </a:rPr>
              <a:t>需要的</a:t>
            </a:r>
            <a:r>
              <a:rPr kumimoji="1" lang="en-US" altLang="zh-CN" dirty="0">
                <a:latin typeface="SimSun" panose="02010600030101010101" pitchFamily="2" charset="-122"/>
                <a:ea typeface="SimSun" panose="02010600030101010101" pitchFamily="2" charset="-122"/>
              </a:rPr>
              <a:t>LDM</a:t>
            </a:r>
            <a:r>
              <a:rPr kumimoji="1" lang="zh-CN" altLang="en-US" dirty="0">
                <a:latin typeface="SimSun" panose="02010600030101010101" pitchFamily="2" charset="-122"/>
                <a:ea typeface="SimSun" panose="02010600030101010101" pitchFamily="2" charset="-122"/>
              </a:rPr>
              <a:t>空间为</a:t>
            </a:r>
            <a:r>
              <a:rPr kumimoji="1" lang="en-US" altLang="zh-CN" dirty="0">
                <a:latin typeface="SimSun" panose="02010600030101010101" pitchFamily="2" charset="-122"/>
                <a:ea typeface="SimSun" panose="02010600030101010101" pitchFamily="2" charset="-122"/>
              </a:rPr>
              <a:t>:</a:t>
            </a:r>
            <a:r>
              <a:rPr kumimoji="1" lang="en-US" altLang="zh-CN" dirty="0" err="1">
                <a:latin typeface="SimSun" panose="02010600030101010101" pitchFamily="2" charset="-122"/>
                <a:ea typeface="SimSun" panose="02010600030101010101" pitchFamily="2" charset="-122"/>
              </a:rPr>
              <a:t>LDM_MatA</a:t>
            </a:r>
            <a:r>
              <a:rPr kumimoji="1" lang="en-US" altLang="zh-CN" dirty="0">
                <a:latin typeface="SimSun" panose="02010600030101010101" pitchFamily="2" charset="-122"/>
                <a:ea typeface="SimSun" panose="02010600030101010101" pitchFamily="2" charset="-122"/>
              </a:rPr>
              <a:t>=M2</a:t>
            </a:r>
            <a:r>
              <a:rPr kumimoji="1" lang="zh-CN" altLang="en-US" dirty="0">
                <a:latin typeface="SimSun" panose="02010600030101010101" pitchFamily="2" charset="-122"/>
                <a:ea typeface="SimSun" panose="02010600030101010101" pitchFamily="2" charset="-122"/>
              </a:rPr>
              <a:t>*</a:t>
            </a:r>
            <a:r>
              <a:rPr kumimoji="1" lang="en-US" altLang="zh-CN" dirty="0">
                <a:latin typeface="SimSun" panose="02010600030101010101" pitchFamily="2" charset="-122"/>
                <a:ea typeface="SimSun" panose="02010600030101010101" pitchFamily="2" charset="-122"/>
              </a:rPr>
              <a:t>K2</a:t>
            </a:r>
            <a:r>
              <a:rPr kumimoji="1" lang="zh-CN" altLang="en-US" dirty="0">
                <a:latin typeface="SimSun" panose="02010600030101010101" pitchFamily="2" charset="-122"/>
                <a:ea typeface="SimSun" panose="02010600030101010101" pitchFamily="2" charset="-122"/>
              </a:rPr>
              <a:t>*</a:t>
            </a:r>
            <a:r>
              <a:rPr kumimoji="1" lang="en-US" altLang="zh-CN" dirty="0" err="1">
                <a:latin typeface="SimSun" panose="02010600030101010101" pitchFamily="2" charset="-122"/>
                <a:ea typeface="SimSun" panose="02010600030101010101" pitchFamily="2" charset="-122"/>
              </a:rPr>
              <a:t>sizeof</a:t>
            </a:r>
            <a:r>
              <a:rPr kumimoji="1" lang="en-US" altLang="zh-CN" dirty="0">
                <a:latin typeface="SimSun" panose="02010600030101010101" pitchFamily="2" charset="-122"/>
                <a:ea typeface="SimSun" panose="02010600030101010101" pitchFamily="2" charset="-122"/>
              </a:rPr>
              <a:t>(half)</a:t>
            </a:r>
          </a:p>
        </p:txBody>
      </p:sp>
    </p:spTree>
    <p:extLst>
      <p:ext uri="{BB962C8B-B14F-4D97-AF65-F5344CB8AC3E}">
        <p14:creationId xmlns:p14="http://schemas.microsoft.com/office/powerpoint/2010/main" val="13383040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295275" y="422752"/>
            <a:ext cx="10515600" cy="515184"/>
          </a:xfrm>
        </p:spPr>
        <p:txBody>
          <a:bodyPr/>
          <a:lstStyle/>
          <a:p>
            <a:r>
              <a:rPr lang="zh-CN" altLang="en-US" dirty="0"/>
              <a:t>流水优化</a:t>
            </a:r>
            <a:r>
              <a:rPr lang="en-US" altLang="zh-CN" dirty="0"/>
              <a:t>-</a:t>
            </a:r>
            <a:r>
              <a:rPr lang="en-US" altLang="zh-CN" dirty="0" err="1"/>
              <a:t>DMA_GET_MatB</a:t>
            </a:r>
            <a:endParaRPr lang="zh-CN" altLang="en-US" dirty="0"/>
          </a:p>
        </p:txBody>
      </p:sp>
      <p:sp>
        <p:nvSpPr>
          <p:cNvPr id="5" name="文本框 4">
            <a:extLst>
              <a:ext uri="{FF2B5EF4-FFF2-40B4-BE49-F238E27FC236}">
                <a16:creationId xmlns:a16="http://schemas.microsoft.com/office/drawing/2014/main" id="{D5B054DD-1A0C-4633-C266-0BAB77DFBC74}"/>
              </a:ext>
            </a:extLst>
          </p:cNvPr>
          <p:cNvSpPr txBox="1"/>
          <p:nvPr/>
        </p:nvSpPr>
        <p:spPr>
          <a:xfrm>
            <a:off x="388620" y="1463040"/>
            <a:ext cx="8858250" cy="1754326"/>
          </a:xfrm>
          <a:prstGeom prst="rect">
            <a:avLst/>
          </a:prstGeom>
          <a:noFill/>
        </p:spPr>
        <p:txBody>
          <a:bodyPr wrap="square" rtlCol="0">
            <a:spAutoFit/>
          </a:bodyPr>
          <a:lstStyle/>
          <a:p>
            <a:r>
              <a:rPr kumimoji="1" lang="en-US" altLang="zh-CN" dirty="0" err="1">
                <a:latin typeface="SimSun" panose="02010600030101010101" pitchFamily="2" charset="-122"/>
                <a:ea typeface="SimSun" panose="02010600030101010101" pitchFamily="2" charset="-122"/>
              </a:rPr>
              <a:t>DMA_GET_MatB</a:t>
            </a:r>
            <a:r>
              <a:rPr kumimoji="1" lang="zh-CN" altLang="en-US" dirty="0">
                <a:latin typeface="SimSun" panose="02010600030101010101" pitchFamily="2" charset="-122"/>
                <a:ea typeface="SimSun" panose="02010600030101010101" pitchFamily="2" charset="-122"/>
              </a:rPr>
              <a:t>中对于</a:t>
            </a:r>
            <a:r>
              <a:rPr kumimoji="1" lang="en-US" altLang="zh-CN" dirty="0" err="1">
                <a:latin typeface="SimSun" panose="02010600030101010101" pitchFamily="2" charset="-122"/>
                <a:ea typeface="SimSun" panose="02010600030101010101" pitchFamily="2" charset="-122"/>
              </a:rPr>
              <a:t>MatB</a:t>
            </a:r>
            <a:r>
              <a:rPr kumimoji="1" lang="zh-CN" altLang="en-US" dirty="0">
                <a:latin typeface="SimSun" panose="02010600030101010101" pitchFamily="2" charset="-122"/>
                <a:ea typeface="SimSun" panose="02010600030101010101" pitchFamily="2" charset="-122"/>
              </a:rPr>
              <a:t>的读取采用了双</a:t>
            </a:r>
            <a:r>
              <a:rPr kumimoji="1" lang="en-US" altLang="zh-CN" dirty="0">
                <a:latin typeface="SimSun" panose="02010600030101010101" pitchFamily="2" charset="-122"/>
                <a:ea typeface="SimSun" panose="02010600030101010101" pitchFamily="2" charset="-122"/>
              </a:rPr>
              <a:t>Buffer</a:t>
            </a:r>
            <a:r>
              <a:rPr kumimoji="1" lang="zh-CN" altLang="en-US" dirty="0">
                <a:latin typeface="SimSun" panose="02010600030101010101" pitchFamily="2" charset="-122"/>
                <a:ea typeface="SimSun" panose="02010600030101010101" pitchFamily="2" charset="-122"/>
              </a:rPr>
              <a:t>。对于</a:t>
            </a:r>
            <a:r>
              <a:rPr kumimoji="1" lang="en-US" altLang="zh-CN" dirty="0" err="1">
                <a:latin typeface="SimSun" panose="02010600030101010101" pitchFamily="2" charset="-122"/>
                <a:ea typeface="SimSun" panose="02010600030101010101" pitchFamily="2" charset="-122"/>
              </a:rPr>
              <a:t>MatB</a:t>
            </a:r>
            <a:r>
              <a:rPr kumimoji="1" lang="zh-CN" altLang="en-US" dirty="0">
                <a:latin typeface="SimSun" panose="02010600030101010101" pitchFamily="2" charset="-122"/>
                <a:ea typeface="SimSun" panose="02010600030101010101" pitchFamily="2" charset="-122"/>
              </a:rPr>
              <a:t>读取方式有两种方式：</a:t>
            </a:r>
            <a:endParaRPr kumimoji="1" lang="en-US" altLang="zh-CN" dirty="0">
              <a:latin typeface="SimSun" panose="02010600030101010101" pitchFamily="2" charset="-122"/>
              <a:ea typeface="SimSun" panose="02010600030101010101" pitchFamily="2" charset="-122"/>
            </a:endParaRPr>
          </a:p>
          <a:p>
            <a:pPr marL="342900" indent="-342900">
              <a:buAutoNum type="arabicPeriod"/>
            </a:pPr>
            <a:r>
              <a:rPr kumimoji="1" lang="zh-CN" altLang="en-US" dirty="0">
                <a:latin typeface="SimSun" panose="02010600030101010101" pitchFamily="2" charset="-122"/>
                <a:ea typeface="SimSun" panose="02010600030101010101" pitchFamily="2" charset="-122"/>
              </a:rPr>
              <a:t>完整读取一整个的</a:t>
            </a:r>
            <a:r>
              <a:rPr kumimoji="1" lang="en-US" altLang="zh-CN" dirty="0">
                <a:latin typeface="SimSun" panose="02010600030101010101" pitchFamily="2" charset="-122"/>
                <a:ea typeface="SimSun" panose="02010600030101010101" pitchFamily="2" charset="-122"/>
              </a:rPr>
              <a:t>N2*K2</a:t>
            </a:r>
            <a:r>
              <a:rPr kumimoji="1" lang="zh-CN" altLang="en-US" dirty="0">
                <a:latin typeface="SimSun" panose="02010600030101010101" pitchFamily="2" charset="-122"/>
                <a:ea typeface="SimSun" panose="02010600030101010101" pitchFamily="2" charset="-122"/>
              </a:rPr>
              <a:t>的块</a:t>
            </a:r>
            <a:endParaRPr kumimoji="1" lang="en-US" altLang="zh-CN" dirty="0">
              <a:latin typeface="SimSun" panose="02010600030101010101" pitchFamily="2" charset="-122"/>
              <a:ea typeface="SimSun" panose="02010600030101010101" pitchFamily="2" charset="-122"/>
            </a:endParaRPr>
          </a:p>
          <a:p>
            <a:pPr marL="342900" indent="-342900">
              <a:buAutoNum type="arabicPeriod"/>
            </a:pPr>
            <a:r>
              <a:rPr kumimoji="1" lang="zh-CN" altLang="en-US" dirty="0">
                <a:latin typeface="SimSun" panose="02010600030101010101" pitchFamily="2" charset="-122"/>
                <a:ea typeface="SimSun" panose="02010600030101010101" pitchFamily="2" charset="-122"/>
              </a:rPr>
              <a:t>将</a:t>
            </a:r>
            <a:r>
              <a:rPr kumimoji="1" lang="en-US" altLang="zh-CN" dirty="0">
                <a:latin typeface="SimSun" panose="02010600030101010101" pitchFamily="2" charset="-122"/>
                <a:ea typeface="SimSun" panose="02010600030101010101" pitchFamily="2" charset="-122"/>
              </a:rPr>
              <a:t>N2*K2</a:t>
            </a:r>
            <a:r>
              <a:rPr kumimoji="1" lang="zh-CN" altLang="en-US" dirty="0">
                <a:latin typeface="SimSun" panose="02010600030101010101" pitchFamily="2" charset="-122"/>
                <a:ea typeface="SimSun" panose="02010600030101010101" pitchFamily="2" charset="-122"/>
              </a:rPr>
              <a:t>的</a:t>
            </a:r>
            <a:r>
              <a:rPr kumimoji="1" lang="en-US" altLang="zh-CN" dirty="0" err="1">
                <a:latin typeface="SimSun" panose="02010600030101010101" pitchFamily="2" charset="-122"/>
                <a:ea typeface="SimSun" panose="02010600030101010101" pitchFamily="2" charset="-122"/>
              </a:rPr>
              <a:t>MatB</a:t>
            </a:r>
            <a:r>
              <a:rPr kumimoji="1" lang="zh-CN" altLang="en-US" dirty="0">
                <a:latin typeface="SimSun" panose="02010600030101010101" pitchFamily="2" charset="-122"/>
                <a:ea typeface="SimSun" panose="02010600030101010101" pitchFamily="2" charset="-122"/>
              </a:rPr>
              <a:t>切割成</a:t>
            </a:r>
            <a:r>
              <a:rPr kumimoji="1" lang="en-US" altLang="zh-CN" dirty="0">
                <a:latin typeface="SimSun" panose="02010600030101010101" pitchFamily="2" charset="-122"/>
                <a:ea typeface="SimSun" panose="02010600030101010101" pitchFamily="2" charset="-122"/>
              </a:rPr>
              <a:t>8</a:t>
            </a:r>
            <a:r>
              <a:rPr kumimoji="1" lang="zh-CN" altLang="en-US" dirty="0">
                <a:latin typeface="SimSun" panose="02010600030101010101" pitchFamily="2" charset="-122"/>
                <a:ea typeface="SimSun" panose="02010600030101010101" pitchFamily="2" charset="-122"/>
              </a:rPr>
              <a:t>份，分批读取。</a:t>
            </a:r>
            <a:endParaRPr kumimoji="1" lang="en-US" altLang="zh-CN" dirty="0">
              <a:latin typeface="SimSun" panose="02010600030101010101" pitchFamily="2" charset="-122"/>
              <a:ea typeface="SimSun" panose="02010600030101010101" pitchFamily="2" charset="-122"/>
            </a:endParaRPr>
          </a:p>
          <a:p>
            <a:r>
              <a:rPr kumimoji="1" lang="zh-CN" altLang="en-US" dirty="0">
                <a:latin typeface="SimSun" panose="02010600030101010101" pitchFamily="2" charset="-122"/>
                <a:ea typeface="SimSun" panose="02010600030101010101" pitchFamily="2" charset="-122"/>
              </a:rPr>
              <a:t>在场景下会分别导致以下两种流水，一次完整读取</a:t>
            </a:r>
            <a:r>
              <a:rPr kumimoji="1" lang="en-US" altLang="zh-CN" dirty="0">
                <a:latin typeface="SimSun" panose="02010600030101010101" pitchFamily="2" charset="-122"/>
                <a:ea typeface="SimSun" panose="02010600030101010101" pitchFamily="2" charset="-122"/>
              </a:rPr>
              <a:t>N2*K2</a:t>
            </a:r>
            <a:r>
              <a:rPr kumimoji="1" lang="zh-CN" altLang="en-US" dirty="0">
                <a:latin typeface="SimSun" panose="02010600030101010101" pitchFamily="2" charset="-122"/>
                <a:ea typeface="SimSun" panose="02010600030101010101" pitchFamily="2" charset="-122"/>
              </a:rPr>
              <a:t>的块，该次读取会和</a:t>
            </a:r>
            <a:r>
              <a:rPr kumimoji="1" lang="en-US" altLang="zh-CN" dirty="0">
                <a:latin typeface="SimSun" panose="02010600030101010101" pitchFamily="2" charset="-122"/>
                <a:ea typeface="SimSun" panose="02010600030101010101" pitchFamily="2" charset="-122"/>
              </a:rPr>
              <a:t>RMA_LOOP</a:t>
            </a:r>
            <a:r>
              <a:rPr kumimoji="1" lang="zh-CN" altLang="en-US" dirty="0">
                <a:latin typeface="SimSun" panose="02010600030101010101" pitchFamily="2" charset="-122"/>
                <a:ea typeface="SimSun" panose="02010600030101010101" pitchFamily="2" charset="-122"/>
              </a:rPr>
              <a:t>中的前几次的</a:t>
            </a:r>
            <a:r>
              <a:rPr kumimoji="1" lang="en-US" altLang="zh-CN" dirty="0" err="1">
                <a:latin typeface="SimSun" panose="02010600030101010101" pitchFamily="2" charset="-122"/>
                <a:ea typeface="SimSun" panose="02010600030101010101" pitchFamily="2" charset="-122"/>
              </a:rPr>
              <a:t>DMA_MatC</a:t>
            </a:r>
            <a:r>
              <a:rPr kumimoji="1" lang="zh-CN" altLang="en-US" dirty="0">
                <a:latin typeface="SimSun" panose="02010600030101010101" pitchFamily="2" charset="-122"/>
                <a:ea typeface="SimSun" panose="02010600030101010101" pitchFamily="2" charset="-122"/>
              </a:rPr>
              <a:t>抢占带宽，导致其前面性能过差。因此目前采用的是方法</a:t>
            </a:r>
            <a:r>
              <a:rPr kumimoji="1" lang="en-US" altLang="zh-CN" dirty="0">
                <a:latin typeface="SimSun" panose="02010600030101010101" pitchFamily="2" charset="-122"/>
                <a:ea typeface="SimSun" panose="02010600030101010101" pitchFamily="2" charset="-122"/>
              </a:rPr>
              <a:t>2</a:t>
            </a:r>
            <a:r>
              <a:rPr kumimoji="1" lang="zh-CN" altLang="en-US" dirty="0">
                <a:latin typeface="SimSun" panose="02010600030101010101" pitchFamily="2" charset="-122"/>
                <a:ea typeface="SimSun" panose="02010600030101010101" pitchFamily="2" charset="-122"/>
              </a:rPr>
              <a:t>。</a:t>
            </a:r>
            <a:endParaRPr kumimoji="1" lang="en-US" altLang="zh-CN" dirty="0">
              <a:latin typeface="SimSun" panose="02010600030101010101" pitchFamily="2" charset="-122"/>
              <a:ea typeface="SimSun" panose="02010600030101010101" pitchFamily="2" charset="-122"/>
            </a:endParaRPr>
          </a:p>
          <a:p>
            <a:r>
              <a:rPr kumimoji="1" lang="zh-CN" altLang="en-US" dirty="0">
                <a:latin typeface="SimSun" panose="02010600030101010101" pitchFamily="2" charset="-122"/>
                <a:ea typeface="SimSun" panose="02010600030101010101" pitchFamily="2" charset="-122"/>
              </a:rPr>
              <a:t>需要的</a:t>
            </a:r>
            <a:r>
              <a:rPr kumimoji="1" lang="en-US" altLang="zh-CN" dirty="0">
                <a:latin typeface="SimSun" panose="02010600030101010101" pitchFamily="2" charset="-122"/>
                <a:ea typeface="SimSun" panose="02010600030101010101" pitchFamily="2" charset="-122"/>
              </a:rPr>
              <a:t>LDM</a:t>
            </a:r>
            <a:r>
              <a:rPr kumimoji="1" lang="zh-CN" altLang="en-US" dirty="0">
                <a:latin typeface="SimSun" panose="02010600030101010101" pitchFamily="2" charset="-122"/>
                <a:ea typeface="SimSun" panose="02010600030101010101" pitchFamily="2" charset="-122"/>
              </a:rPr>
              <a:t>空间为</a:t>
            </a:r>
            <a:r>
              <a:rPr kumimoji="1" lang="en-US" altLang="zh-CN" dirty="0">
                <a:latin typeface="SimSun" panose="02010600030101010101" pitchFamily="2" charset="-122"/>
                <a:ea typeface="SimSun" panose="02010600030101010101" pitchFamily="2" charset="-122"/>
              </a:rPr>
              <a:t>:</a:t>
            </a:r>
            <a:r>
              <a:rPr kumimoji="1" lang="en-US" altLang="zh-CN" dirty="0" err="1">
                <a:latin typeface="SimSun" panose="02010600030101010101" pitchFamily="2" charset="-122"/>
                <a:ea typeface="SimSun" panose="02010600030101010101" pitchFamily="2" charset="-122"/>
              </a:rPr>
              <a:t>LDM_DMA_MatB</a:t>
            </a:r>
            <a:r>
              <a:rPr kumimoji="1" lang="en-US" altLang="zh-CN" dirty="0">
                <a:latin typeface="SimSun" panose="02010600030101010101" pitchFamily="2" charset="-122"/>
                <a:ea typeface="SimSun" panose="02010600030101010101" pitchFamily="2" charset="-122"/>
              </a:rPr>
              <a:t>=2</a:t>
            </a:r>
            <a:r>
              <a:rPr kumimoji="1" lang="zh-CN" altLang="en-US" dirty="0">
                <a:latin typeface="SimSun" panose="02010600030101010101" pitchFamily="2" charset="-122"/>
                <a:ea typeface="SimSun" panose="02010600030101010101" pitchFamily="2" charset="-122"/>
              </a:rPr>
              <a:t>*</a:t>
            </a:r>
            <a:r>
              <a:rPr kumimoji="1" lang="en-US" altLang="zh-CN" dirty="0">
                <a:latin typeface="SimSun" panose="02010600030101010101" pitchFamily="2" charset="-122"/>
                <a:ea typeface="SimSun" panose="02010600030101010101" pitchFamily="2" charset="-122"/>
              </a:rPr>
              <a:t>N2*K2*</a:t>
            </a:r>
            <a:r>
              <a:rPr kumimoji="1" lang="en-US" altLang="zh-CN" dirty="0" err="1">
                <a:latin typeface="SimSun" panose="02010600030101010101" pitchFamily="2" charset="-122"/>
                <a:ea typeface="SimSun" panose="02010600030101010101" pitchFamily="2" charset="-122"/>
              </a:rPr>
              <a:t>sizeof</a:t>
            </a:r>
            <a:r>
              <a:rPr kumimoji="1" lang="en-US" altLang="zh-CN" dirty="0">
                <a:latin typeface="SimSun" panose="02010600030101010101" pitchFamily="2" charset="-122"/>
                <a:ea typeface="SimSun" panose="02010600030101010101" pitchFamily="2" charset="-122"/>
              </a:rPr>
              <a:t>(half)</a:t>
            </a:r>
          </a:p>
        </p:txBody>
      </p:sp>
      <p:sp>
        <p:nvSpPr>
          <p:cNvPr id="7" name="矩形 6">
            <a:extLst>
              <a:ext uri="{FF2B5EF4-FFF2-40B4-BE49-F238E27FC236}">
                <a16:creationId xmlns:a16="http://schemas.microsoft.com/office/drawing/2014/main" id="{942FC42A-CC61-10C2-96E2-D25B8AA4B422}"/>
              </a:ext>
            </a:extLst>
          </p:cNvPr>
          <p:cNvSpPr/>
          <p:nvPr/>
        </p:nvSpPr>
        <p:spPr>
          <a:xfrm>
            <a:off x="830580" y="3489126"/>
            <a:ext cx="2346960" cy="5151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DMA</a:t>
            </a:r>
            <a:r>
              <a:rPr kumimoji="1" lang="zh-CN" altLang="en-US" sz="1200" dirty="0"/>
              <a:t> </a:t>
            </a:r>
            <a:r>
              <a:rPr kumimoji="1" lang="en-US" altLang="zh-CN" sz="1200" dirty="0" err="1"/>
              <a:t>GET_MatB</a:t>
            </a:r>
            <a:endParaRPr kumimoji="1" lang="en-US" altLang="zh-CN" sz="1200" dirty="0"/>
          </a:p>
          <a:p>
            <a:pPr algn="ctr"/>
            <a:r>
              <a:rPr kumimoji="1" lang="en-US" altLang="zh-CN" sz="1200" dirty="0" err="1"/>
              <a:t>DMA_GET_PUT_MatC</a:t>
            </a:r>
            <a:endParaRPr kumimoji="1" lang="zh-CN" altLang="en-US" sz="1200" dirty="0"/>
          </a:p>
        </p:txBody>
      </p:sp>
      <p:sp>
        <p:nvSpPr>
          <p:cNvPr id="8" name="矩形 7">
            <a:extLst>
              <a:ext uri="{FF2B5EF4-FFF2-40B4-BE49-F238E27FC236}">
                <a16:creationId xmlns:a16="http://schemas.microsoft.com/office/drawing/2014/main" id="{ED0F90CD-892B-0860-23F4-AFE9184E9332}"/>
              </a:ext>
            </a:extLst>
          </p:cNvPr>
          <p:cNvSpPr/>
          <p:nvPr/>
        </p:nvSpPr>
        <p:spPr>
          <a:xfrm>
            <a:off x="830580" y="4004310"/>
            <a:ext cx="1272540" cy="47625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ACE</a:t>
            </a:r>
            <a:endParaRPr kumimoji="1" lang="zh-CN" altLang="en-US" dirty="0"/>
          </a:p>
        </p:txBody>
      </p:sp>
      <p:sp>
        <p:nvSpPr>
          <p:cNvPr id="14" name="矩形 13">
            <a:extLst>
              <a:ext uri="{FF2B5EF4-FFF2-40B4-BE49-F238E27FC236}">
                <a16:creationId xmlns:a16="http://schemas.microsoft.com/office/drawing/2014/main" id="{607FA038-613F-2C1D-48F5-8A12335C0154}"/>
              </a:ext>
            </a:extLst>
          </p:cNvPr>
          <p:cNvSpPr/>
          <p:nvPr/>
        </p:nvSpPr>
        <p:spPr>
          <a:xfrm>
            <a:off x="3177540" y="3489126"/>
            <a:ext cx="2346960" cy="5151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DMA</a:t>
            </a:r>
            <a:r>
              <a:rPr kumimoji="1" lang="zh-CN" altLang="en-US" sz="1200" dirty="0"/>
              <a:t> </a:t>
            </a:r>
            <a:r>
              <a:rPr kumimoji="1" lang="en-US" altLang="zh-CN" sz="1200" dirty="0" err="1"/>
              <a:t>GET_MatB</a:t>
            </a:r>
            <a:endParaRPr kumimoji="1" lang="en-US" altLang="zh-CN" sz="1200" dirty="0"/>
          </a:p>
          <a:p>
            <a:pPr algn="ctr"/>
            <a:r>
              <a:rPr kumimoji="1" lang="en-US" altLang="zh-CN" sz="1200" dirty="0" err="1"/>
              <a:t>DMA_GET_PUT_MatC</a:t>
            </a:r>
            <a:endParaRPr kumimoji="1" lang="zh-CN" altLang="en-US" sz="1200" dirty="0"/>
          </a:p>
        </p:txBody>
      </p:sp>
      <p:sp>
        <p:nvSpPr>
          <p:cNvPr id="15" name="矩形 14">
            <a:extLst>
              <a:ext uri="{FF2B5EF4-FFF2-40B4-BE49-F238E27FC236}">
                <a16:creationId xmlns:a16="http://schemas.microsoft.com/office/drawing/2014/main" id="{18D2F179-9F38-7939-F3D9-7C47E97908F1}"/>
              </a:ext>
            </a:extLst>
          </p:cNvPr>
          <p:cNvSpPr/>
          <p:nvPr/>
        </p:nvSpPr>
        <p:spPr>
          <a:xfrm>
            <a:off x="3177540" y="4004310"/>
            <a:ext cx="1272540" cy="47625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ACE</a:t>
            </a:r>
            <a:endParaRPr kumimoji="1" lang="zh-CN" altLang="en-US" dirty="0"/>
          </a:p>
        </p:txBody>
      </p:sp>
      <p:sp>
        <p:nvSpPr>
          <p:cNvPr id="16" name="矩形 15">
            <a:extLst>
              <a:ext uri="{FF2B5EF4-FFF2-40B4-BE49-F238E27FC236}">
                <a16:creationId xmlns:a16="http://schemas.microsoft.com/office/drawing/2014/main" id="{0383C701-E08F-22F4-8E0E-4BEB19787885}"/>
              </a:ext>
            </a:extLst>
          </p:cNvPr>
          <p:cNvSpPr/>
          <p:nvPr/>
        </p:nvSpPr>
        <p:spPr>
          <a:xfrm>
            <a:off x="5524500" y="4004310"/>
            <a:ext cx="1272540" cy="47625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ACE</a:t>
            </a:r>
            <a:endParaRPr kumimoji="1" lang="zh-CN" altLang="en-US" dirty="0"/>
          </a:p>
        </p:txBody>
      </p:sp>
      <p:sp>
        <p:nvSpPr>
          <p:cNvPr id="17" name="矩形 16">
            <a:extLst>
              <a:ext uri="{FF2B5EF4-FFF2-40B4-BE49-F238E27FC236}">
                <a16:creationId xmlns:a16="http://schemas.microsoft.com/office/drawing/2014/main" id="{BA9EFFC4-8735-44E3-C1E5-6A303DAA5094}"/>
              </a:ext>
            </a:extLst>
          </p:cNvPr>
          <p:cNvSpPr/>
          <p:nvPr/>
        </p:nvSpPr>
        <p:spPr>
          <a:xfrm>
            <a:off x="5524500" y="3489126"/>
            <a:ext cx="967740" cy="5151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err="1"/>
              <a:t>DMA_GET_PUT_MatC</a:t>
            </a:r>
            <a:endParaRPr kumimoji="1" lang="zh-CN" altLang="en-US" sz="1100" dirty="0"/>
          </a:p>
        </p:txBody>
      </p:sp>
      <p:sp>
        <p:nvSpPr>
          <p:cNvPr id="19" name="矩形 18">
            <a:extLst>
              <a:ext uri="{FF2B5EF4-FFF2-40B4-BE49-F238E27FC236}">
                <a16:creationId xmlns:a16="http://schemas.microsoft.com/office/drawing/2014/main" id="{D5EB86E7-EADB-E4CA-E208-1D5797FEBB36}"/>
              </a:ext>
            </a:extLst>
          </p:cNvPr>
          <p:cNvSpPr/>
          <p:nvPr/>
        </p:nvSpPr>
        <p:spPr>
          <a:xfrm>
            <a:off x="6797040" y="4011930"/>
            <a:ext cx="1272540" cy="47625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ACE</a:t>
            </a:r>
            <a:endParaRPr kumimoji="1" lang="zh-CN" altLang="en-US" dirty="0"/>
          </a:p>
        </p:txBody>
      </p:sp>
      <p:sp>
        <p:nvSpPr>
          <p:cNvPr id="20" name="矩形 19">
            <a:extLst>
              <a:ext uri="{FF2B5EF4-FFF2-40B4-BE49-F238E27FC236}">
                <a16:creationId xmlns:a16="http://schemas.microsoft.com/office/drawing/2014/main" id="{0673266B-5015-351F-3672-7B20CA118503}"/>
              </a:ext>
            </a:extLst>
          </p:cNvPr>
          <p:cNvSpPr/>
          <p:nvPr/>
        </p:nvSpPr>
        <p:spPr>
          <a:xfrm>
            <a:off x="6797040" y="3496746"/>
            <a:ext cx="967740" cy="5151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err="1"/>
              <a:t>DMA_GET_PUT_MatC</a:t>
            </a:r>
            <a:endParaRPr kumimoji="1" lang="zh-CN" altLang="en-US" sz="1100" dirty="0"/>
          </a:p>
        </p:txBody>
      </p:sp>
      <p:sp>
        <p:nvSpPr>
          <p:cNvPr id="21" name="矩形 20">
            <a:extLst>
              <a:ext uri="{FF2B5EF4-FFF2-40B4-BE49-F238E27FC236}">
                <a16:creationId xmlns:a16="http://schemas.microsoft.com/office/drawing/2014/main" id="{4A3583BA-A259-412B-03E9-BFD48F873572}"/>
              </a:ext>
            </a:extLst>
          </p:cNvPr>
          <p:cNvSpPr/>
          <p:nvPr/>
        </p:nvSpPr>
        <p:spPr>
          <a:xfrm>
            <a:off x="830580" y="4815006"/>
            <a:ext cx="1478280" cy="5151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DMA</a:t>
            </a:r>
            <a:r>
              <a:rPr kumimoji="1" lang="zh-CN" altLang="en-US" sz="1200" dirty="0"/>
              <a:t> </a:t>
            </a:r>
            <a:r>
              <a:rPr kumimoji="1" lang="en-US" altLang="zh-CN" sz="1200" dirty="0" err="1"/>
              <a:t>GET_MatB</a:t>
            </a:r>
            <a:endParaRPr kumimoji="1" lang="en-US" altLang="zh-CN" sz="1200" dirty="0"/>
          </a:p>
          <a:p>
            <a:pPr algn="ctr"/>
            <a:r>
              <a:rPr kumimoji="1" lang="en-US" altLang="zh-CN" sz="1200" dirty="0" err="1"/>
              <a:t>DMA_GET_PUT_MatC</a:t>
            </a:r>
            <a:endParaRPr kumimoji="1" lang="zh-CN" altLang="en-US" sz="1200" dirty="0"/>
          </a:p>
        </p:txBody>
      </p:sp>
      <p:sp>
        <p:nvSpPr>
          <p:cNvPr id="22" name="矩形 21">
            <a:extLst>
              <a:ext uri="{FF2B5EF4-FFF2-40B4-BE49-F238E27FC236}">
                <a16:creationId xmlns:a16="http://schemas.microsoft.com/office/drawing/2014/main" id="{9D8A038B-860C-CF12-EC62-C8F2E0D28EFB}"/>
              </a:ext>
            </a:extLst>
          </p:cNvPr>
          <p:cNvSpPr/>
          <p:nvPr/>
        </p:nvSpPr>
        <p:spPr>
          <a:xfrm>
            <a:off x="830580" y="5330190"/>
            <a:ext cx="1272540" cy="47625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ACE</a:t>
            </a:r>
            <a:endParaRPr kumimoji="1" lang="zh-CN" altLang="en-US" dirty="0"/>
          </a:p>
        </p:txBody>
      </p:sp>
      <p:sp>
        <p:nvSpPr>
          <p:cNvPr id="24" name="矩形 23">
            <a:extLst>
              <a:ext uri="{FF2B5EF4-FFF2-40B4-BE49-F238E27FC236}">
                <a16:creationId xmlns:a16="http://schemas.microsoft.com/office/drawing/2014/main" id="{4287AE22-830E-B142-0483-6EE7E7DC040A}"/>
              </a:ext>
            </a:extLst>
          </p:cNvPr>
          <p:cNvSpPr/>
          <p:nvPr/>
        </p:nvSpPr>
        <p:spPr>
          <a:xfrm>
            <a:off x="2308860" y="4815006"/>
            <a:ext cx="1478280" cy="5151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DMA</a:t>
            </a:r>
            <a:r>
              <a:rPr kumimoji="1" lang="zh-CN" altLang="en-US" sz="1200" dirty="0"/>
              <a:t> </a:t>
            </a:r>
            <a:r>
              <a:rPr kumimoji="1" lang="en-US" altLang="zh-CN" sz="1200" dirty="0" err="1"/>
              <a:t>GET_MatB</a:t>
            </a:r>
            <a:endParaRPr kumimoji="1" lang="en-US" altLang="zh-CN" sz="1200" dirty="0"/>
          </a:p>
          <a:p>
            <a:pPr algn="ctr"/>
            <a:r>
              <a:rPr kumimoji="1" lang="en-US" altLang="zh-CN" sz="1200" dirty="0" err="1"/>
              <a:t>DMA_GET_PUT_MatC</a:t>
            </a:r>
            <a:endParaRPr kumimoji="1" lang="zh-CN" altLang="en-US" sz="1200" dirty="0"/>
          </a:p>
        </p:txBody>
      </p:sp>
      <p:sp>
        <p:nvSpPr>
          <p:cNvPr id="25" name="矩形 24">
            <a:extLst>
              <a:ext uri="{FF2B5EF4-FFF2-40B4-BE49-F238E27FC236}">
                <a16:creationId xmlns:a16="http://schemas.microsoft.com/office/drawing/2014/main" id="{7E6AAEB6-80AF-E90A-E568-D8F3749DFF87}"/>
              </a:ext>
            </a:extLst>
          </p:cNvPr>
          <p:cNvSpPr/>
          <p:nvPr/>
        </p:nvSpPr>
        <p:spPr>
          <a:xfrm>
            <a:off x="2308860" y="5330190"/>
            <a:ext cx="1272540" cy="47625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ACE</a:t>
            </a:r>
            <a:endParaRPr kumimoji="1" lang="zh-CN" altLang="en-US" dirty="0"/>
          </a:p>
        </p:txBody>
      </p:sp>
      <p:sp>
        <p:nvSpPr>
          <p:cNvPr id="31" name="矩形 30">
            <a:extLst>
              <a:ext uri="{FF2B5EF4-FFF2-40B4-BE49-F238E27FC236}">
                <a16:creationId xmlns:a16="http://schemas.microsoft.com/office/drawing/2014/main" id="{D81D5CAF-C993-6A4C-A78F-47E1C159B5BF}"/>
              </a:ext>
            </a:extLst>
          </p:cNvPr>
          <p:cNvSpPr/>
          <p:nvPr/>
        </p:nvSpPr>
        <p:spPr>
          <a:xfrm>
            <a:off x="3787140" y="4815006"/>
            <a:ext cx="1478280" cy="5151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DMA</a:t>
            </a:r>
            <a:r>
              <a:rPr kumimoji="1" lang="zh-CN" altLang="en-US" sz="1200" dirty="0"/>
              <a:t> </a:t>
            </a:r>
            <a:r>
              <a:rPr kumimoji="1" lang="en-US" altLang="zh-CN" sz="1200" dirty="0" err="1"/>
              <a:t>GET_MatB</a:t>
            </a:r>
            <a:endParaRPr kumimoji="1" lang="en-US" altLang="zh-CN" sz="1200" dirty="0"/>
          </a:p>
          <a:p>
            <a:pPr algn="ctr"/>
            <a:r>
              <a:rPr kumimoji="1" lang="en-US" altLang="zh-CN" sz="1200" dirty="0" err="1"/>
              <a:t>DMA_GET_PUT_MatC</a:t>
            </a:r>
            <a:endParaRPr kumimoji="1" lang="zh-CN" altLang="en-US" sz="1200" dirty="0"/>
          </a:p>
        </p:txBody>
      </p:sp>
      <p:sp>
        <p:nvSpPr>
          <p:cNvPr id="32" name="矩形 31">
            <a:extLst>
              <a:ext uri="{FF2B5EF4-FFF2-40B4-BE49-F238E27FC236}">
                <a16:creationId xmlns:a16="http://schemas.microsoft.com/office/drawing/2014/main" id="{7B90DB6C-330D-9196-00A4-B633121F680A}"/>
              </a:ext>
            </a:extLst>
          </p:cNvPr>
          <p:cNvSpPr/>
          <p:nvPr/>
        </p:nvSpPr>
        <p:spPr>
          <a:xfrm>
            <a:off x="3787140" y="5330190"/>
            <a:ext cx="1272540" cy="47625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ACE</a:t>
            </a:r>
            <a:endParaRPr kumimoji="1" lang="zh-CN" altLang="en-US" dirty="0"/>
          </a:p>
        </p:txBody>
      </p:sp>
      <p:sp>
        <p:nvSpPr>
          <p:cNvPr id="33" name="矩形 32">
            <a:extLst>
              <a:ext uri="{FF2B5EF4-FFF2-40B4-BE49-F238E27FC236}">
                <a16:creationId xmlns:a16="http://schemas.microsoft.com/office/drawing/2014/main" id="{01B1581A-34DF-3D66-7F0B-465A76569E8E}"/>
              </a:ext>
            </a:extLst>
          </p:cNvPr>
          <p:cNvSpPr/>
          <p:nvPr/>
        </p:nvSpPr>
        <p:spPr>
          <a:xfrm>
            <a:off x="5265420" y="4815006"/>
            <a:ext cx="1478280" cy="5151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t>DMA</a:t>
            </a:r>
            <a:r>
              <a:rPr kumimoji="1" lang="zh-CN" altLang="en-US" sz="1200" dirty="0"/>
              <a:t> </a:t>
            </a:r>
            <a:r>
              <a:rPr kumimoji="1" lang="en-US" altLang="zh-CN" sz="1200" dirty="0" err="1"/>
              <a:t>GET_MatB</a:t>
            </a:r>
            <a:endParaRPr kumimoji="1" lang="en-US" altLang="zh-CN" sz="1200" dirty="0"/>
          </a:p>
          <a:p>
            <a:pPr algn="ctr"/>
            <a:r>
              <a:rPr kumimoji="1" lang="en-US" altLang="zh-CN" sz="1200" dirty="0" err="1"/>
              <a:t>DMA_GET_PUT_MatC</a:t>
            </a:r>
            <a:endParaRPr kumimoji="1" lang="zh-CN" altLang="en-US" sz="1200" dirty="0"/>
          </a:p>
        </p:txBody>
      </p:sp>
      <p:sp>
        <p:nvSpPr>
          <p:cNvPr id="34" name="矩形 33">
            <a:extLst>
              <a:ext uri="{FF2B5EF4-FFF2-40B4-BE49-F238E27FC236}">
                <a16:creationId xmlns:a16="http://schemas.microsoft.com/office/drawing/2014/main" id="{BED38E7F-DC77-8F6E-A2B9-840FD1B3FE2F}"/>
              </a:ext>
            </a:extLst>
          </p:cNvPr>
          <p:cNvSpPr/>
          <p:nvPr/>
        </p:nvSpPr>
        <p:spPr>
          <a:xfrm>
            <a:off x="5265420" y="5330190"/>
            <a:ext cx="1272540" cy="47625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ACE</a:t>
            </a:r>
            <a:endParaRPr kumimoji="1" lang="zh-CN" altLang="en-US" dirty="0"/>
          </a:p>
        </p:txBody>
      </p:sp>
    </p:spTree>
    <p:extLst>
      <p:ext uri="{BB962C8B-B14F-4D97-AF65-F5344CB8AC3E}">
        <p14:creationId xmlns:p14="http://schemas.microsoft.com/office/powerpoint/2010/main" val="26998235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295275" y="422752"/>
            <a:ext cx="10515600" cy="515184"/>
          </a:xfrm>
        </p:spPr>
        <p:txBody>
          <a:bodyPr/>
          <a:lstStyle/>
          <a:p>
            <a:r>
              <a:rPr lang="zh-CN" altLang="en-US" dirty="0"/>
              <a:t>流水优化</a:t>
            </a:r>
            <a:r>
              <a:rPr lang="en-US" altLang="zh-CN" dirty="0"/>
              <a:t>-</a:t>
            </a:r>
            <a:r>
              <a:rPr lang="en-US" altLang="zh-CN" dirty="0" err="1"/>
              <a:t>RMA_PUT_MatB</a:t>
            </a:r>
            <a:endParaRPr lang="zh-CN" altLang="en-US" dirty="0"/>
          </a:p>
        </p:txBody>
      </p:sp>
      <p:sp>
        <p:nvSpPr>
          <p:cNvPr id="36" name="文本框 35">
            <a:extLst>
              <a:ext uri="{FF2B5EF4-FFF2-40B4-BE49-F238E27FC236}">
                <a16:creationId xmlns:a16="http://schemas.microsoft.com/office/drawing/2014/main" id="{0101A253-963F-23FC-D821-1FE0ECC7EDD7}"/>
              </a:ext>
            </a:extLst>
          </p:cNvPr>
          <p:cNvSpPr txBox="1"/>
          <p:nvPr/>
        </p:nvSpPr>
        <p:spPr>
          <a:xfrm>
            <a:off x="382905" y="1028849"/>
            <a:ext cx="8858250" cy="1200329"/>
          </a:xfrm>
          <a:prstGeom prst="rect">
            <a:avLst/>
          </a:prstGeom>
          <a:noFill/>
        </p:spPr>
        <p:txBody>
          <a:bodyPr wrap="square" rtlCol="0">
            <a:spAutoFit/>
          </a:bodyPr>
          <a:lstStyle/>
          <a:p>
            <a:r>
              <a:rPr kumimoji="1" lang="en-US" altLang="zh-CN" dirty="0" err="1">
                <a:latin typeface="SimSun" panose="02010600030101010101" pitchFamily="2" charset="-122"/>
                <a:ea typeface="SimSun" panose="02010600030101010101" pitchFamily="2" charset="-122"/>
              </a:rPr>
              <a:t>RMA_PUT_MatB</a:t>
            </a:r>
            <a:r>
              <a:rPr kumimoji="1" lang="zh-CN" altLang="en-US" dirty="0">
                <a:latin typeface="SimSun" panose="02010600030101010101" pitchFamily="2" charset="-122"/>
                <a:ea typeface="SimSun" panose="02010600030101010101" pitchFamily="2" charset="-122"/>
              </a:rPr>
              <a:t>中对于</a:t>
            </a:r>
            <a:r>
              <a:rPr kumimoji="1" lang="en-US" altLang="zh-CN" dirty="0" err="1">
                <a:latin typeface="SimSun" panose="02010600030101010101" pitchFamily="2" charset="-122"/>
                <a:ea typeface="SimSun" panose="02010600030101010101" pitchFamily="2" charset="-122"/>
              </a:rPr>
              <a:t>MatB</a:t>
            </a:r>
            <a:r>
              <a:rPr kumimoji="1" lang="zh-CN" altLang="en-US" dirty="0">
                <a:latin typeface="SimSun" panose="02010600030101010101" pitchFamily="2" charset="-122"/>
                <a:ea typeface="SimSun" panose="02010600030101010101" pitchFamily="2" charset="-122"/>
              </a:rPr>
              <a:t>的</a:t>
            </a:r>
            <a:r>
              <a:rPr kumimoji="1" lang="en-US" altLang="zh-CN" dirty="0">
                <a:latin typeface="SimSun" panose="02010600030101010101" pitchFamily="2" charset="-122"/>
                <a:ea typeface="SimSun" panose="02010600030101010101" pitchFamily="2" charset="-122"/>
              </a:rPr>
              <a:t>RMA</a:t>
            </a:r>
            <a:r>
              <a:rPr kumimoji="1" lang="zh-CN" altLang="en-US" dirty="0">
                <a:latin typeface="SimSun" panose="02010600030101010101" pitchFamily="2" charset="-122"/>
                <a:ea typeface="SimSun" panose="02010600030101010101" pitchFamily="2" charset="-122"/>
              </a:rPr>
              <a:t>采用了</a:t>
            </a:r>
            <a:r>
              <a:rPr kumimoji="1" lang="en-US" altLang="zh-CN" dirty="0">
                <a:latin typeface="SimSun" panose="02010600030101010101" pitchFamily="2" charset="-122"/>
                <a:ea typeface="SimSun" panose="02010600030101010101" pitchFamily="2" charset="-122"/>
              </a:rPr>
              <a:t>ring-P2P</a:t>
            </a:r>
            <a:r>
              <a:rPr kumimoji="1" lang="zh-CN" altLang="en-US" dirty="0">
                <a:latin typeface="SimSun" panose="02010600030101010101" pitchFamily="2" charset="-122"/>
                <a:ea typeface="SimSun" panose="02010600030101010101" pitchFamily="2" charset="-122"/>
              </a:rPr>
              <a:t>的模式。</a:t>
            </a:r>
            <a:r>
              <a:rPr kumimoji="1" lang="en-US" altLang="zh-CN" dirty="0">
                <a:latin typeface="SimSun" panose="02010600030101010101" pitchFamily="2" charset="-122"/>
                <a:ea typeface="SimSun" panose="02010600030101010101" pitchFamily="2" charset="-122"/>
              </a:rPr>
              <a:t>ROW</a:t>
            </a:r>
            <a:r>
              <a:rPr kumimoji="1" lang="zh-CN" altLang="en-US" dirty="0">
                <a:latin typeface="SimSun" panose="02010600030101010101" pitchFamily="2" charset="-122"/>
                <a:ea typeface="SimSun" panose="02010600030101010101" pitchFamily="2" charset="-122"/>
              </a:rPr>
              <a:t>方向的从核以环形</a:t>
            </a:r>
            <a:r>
              <a:rPr kumimoji="1" lang="en-US" altLang="zh-CN" dirty="0">
                <a:latin typeface="SimSun" panose="02010600030101010101" pitchFamily="2" charset="-122"/>
                <a:ea typeface="SimSun" panose="02010600030101010101" pitchFamily="2" charset="-122"/>
              </a:rPr>
              <a:t>P2P</a:t>
            </a:r>
            <a:r>
              <a:rPr kumimoji="1" lang="zh-CN" altLang="en-US" dirty="0">
                <a:latin typeface="SimSun" panose="02010600030101010101" pitchFamily="2" charset="-122"/>
                <a:ea typeface="SimSun" panose="02010600030101010101" pitchFamily="2" charset="-122"/>
              </a:rPr>
              <a:t>的模式进行通信，同时当前使用的</a:t>
            </a:r>
            <a:r>
              <a:rPr kumimoji="1" lang="en-US" altLang="zh-CN" dirty="0">
                <a:latin typeface="SimSun" panose="02010600030101010101" pitchFamily="2" charset="-122"/>
                <a:ea typeface="SimSun" panose="02010600030101010101" pitchFamily="2" charset="-122"/>
              </a:rPr>
              <a:t>LDM_DMA_MATB</a:t>
            </a:r>
            <a:r>
              <a:rPr kumimoji="1" lang="zh-CN" altLang="en-US" dirty="0">
                <a:latin typeface="SimSun" panose="02010600030101010101" pitchFamily="2" charset="-122"/>
                <a:ea typeface="SimSun" panose="02010600030101010101" pitchFamily="2" charset="-122"/>
              </a:rPr>
              <a:t>和等大的一块</a:t>
            </a:r>
            <a:r>
              <a:rPr kumimoji="1" lang="en-US" altLang="zh-CN" dirty="0">
                <a:latin typeface="SimSun" panose="02010600030101010101" pitchFamily="2" charset="-122"/>
                <a:ea typeface="SimSun" panose="02010600030101010101" pitchFamily="2" charset="-122"/>
              </a:rPr>
              <a:t>buffer</a:t>
            </a:r>
            <a:r>
              <a:rPr kumimoji="1" lang="zh-CN" altLang="en-US" dirty="0">
                <a:latin typeface="SimSun" panose="02010600030101010101" pitchFamily="2" charset="-122"/>
                <a:ea typeface="SimSun" panose="02010600030101010101" pitchFamily="2" charset="-122"/>
              </a:rPr>
              <a:t>组成</a:t>
            </a:r>
            <a:r>
              <a:rPr kumimoji="1" lang="en-US" altLang="zh-CN" dirty="0">
                <a:latin typeface="SimSun" panose="02010600030101010101" pitchFamily="2" charset="-122"/>
                <a:ea typeface="SimSun" panose="02010600030101010101" pitchFamily="2" charset="-122"/>
              </a:rPr>
              <a:t>RMA</a:t>
            </a:r>
            <a:r>
              <a:rPr kumimoji="1" lang="zh-CN" altLang="en-US" dirty="0">
                <a:latin typeface="SimSun" panose="02010600030101010101" pitchFamily="2" charset="-122"/>
                <a:ea typeface="SimSun" panose="02010600030101010101" pitchFamily="2" charset="-122"/>
              </a:rPr>
              <a:t>的双</a:t>
            </a:r>
            <a:r>
              <a:rPr kumimoji="1" lang="en-US" altLang="zh-CN" dirty="0">
                <a:latin typeface="SimSun" panose="02010600030101010101" pitchFamily="2" charset="-122"/>
                <a:ea typeface="SimSun" panose="02010600030101010101" pitchFamily="2" charset="-122"/>
              </a:rPr>
              <a:t>Buffer</a:t>
            </a:r>
            <a:r>
              <a:rPr kumimoji="1" lang="zh-CN" altLang="en-US" dirty="0">
                <a:latin typeface="SimSun" panose="02010600030101010101" pitchFamily="2" charset="-122"/>
                <a:ea typeface="SimSun" panose="02010600030101010101" pitchFamily="2" charset="-122"/>
              </a:rPr>
              <a:t>。</a:t>
            </a:r>
            <a:endParaRPr kumimoji="1" lang="en-US" altLang="zh-CN" dirty="0">
              <a:latin typeface="SimSun" panose="02010600030101010101" pitchFamily="2" charset="-122"/>
              <a:ea typeface="SimSun" panose="02010600030101010101" pitchFamily="2" charset="-122"/>
            </a:endParaRPr>
          </a:p>
          <a:p>
            <a:r>
              <a:rPr kumimoji="1" lang="zh-CN" altLang="en-US" dirty="0">
                <a:latin typeface="SimSun" panose="02010600030101010101" pitchFamily="2" charset="-122"/>
                <a:ea typeface="SimSun" panose="02010600030101010101" pitchFamily="2" charset="-122"/>
              </a:rPr>
              <a:t>需要的</a:t>
            </a:r>
            <a:r>
              <a:rPr kumimoji="1" lang="en-US" altLang="zh-CN" dirty="0">
                <a:latin typeface="SimSun" panose="02010600030101010101" pitchFamily="2" charset="-122"/>
                <a:ea typeface="SimSun" panose="02010600030101010101" pitchFamily="2" charset="-122"/>
              </a:rPr>
              <a:t>LDM</a:t>
            </a:r>
            <a:r>
              <a:rPr kumimoji="1" lang="zh-CN" altLang="en-US" dirty="0">
                <a:latin typeface="SimSun" panose="02010600030101010101" pitchFamily="2" charset="-122"/>
                <a:ea typeface="SimSun" panose="02010600030101010101" pitchFamily="2" charset="-122"/>
              </a:rPr>
              <a:t>空间为</a:t>
            </a:r>
            <a:r>
              <a:rPr kumimoji="1" lang="en-US" altLang="zh-CN" dirty="0">
                <a:latin typeface="SimSun" panose="02010600030101010101" pitchFamily="2" charset="-122"/>
                <a:ea typeface="SimSun" panose="02010600030101010101" pitchFamily="2" charset="-122"/>
              </a:rPr>
              <a:t>:</a:t>
            </a:r>
            <a:r>
              <a:rPr kumimoji="1" lang="zh-CN" altLang="en-US" dirty="0">
                <a:latin typeface="SimSun" panose="02010600030101010101" pitchFamily="2" charset="-122"/>
                <a:ea typeface="SimSun" panose="02010600030101010101" pitchFamily="2" charset="-122"/>
              </a:rPr>
              <a:t> </a:t>
            </a:r>
            <a:r>
              <a:rPr kumimoji="1" lang="en-US" altLang="zh-CN" dirty="0" err="1">
                <a:latin typeface="SimSun" panose="02010600030101010101" pitchFamily="2" charset="-122"/>
                <a:ea typeface="SimSun" panose="02010600030101010101" pitchFamily="2" charset="-122"/>
              </a:rPr>
              <a:t>LDM_RMA_MatB</a:t>
            </a:r>
            <a:r>
              <a:rPr kumimoji="1" lang="en-US" altLang="zh-CN" dirty="0">
                <a:latin typeface="SimSun" panose="02010600030101010101" pitchFamily="2" charset="-122"/>
                <a:ea typeface="SimSun" panose="02010600030101010101" pitchFamily="2" charset="-122"/>
              </a:rPr>
              <a:t>=N2*K2*</a:t>
            </a:r>
            <a:r>
              <a:rPr kumimoji="1" lang="en-US" altLang="zh-CN" dirty="0" err="1">
                <a:latin typeface="SimSun" panose="02010600030101010101" pitchFamily="2" charset="-122"/>
                <a:ea typeface="SimSun" panose="02010600030101010101" pitchFamily="2" charset="-122"/>
              </a:rPr>
              <a:t>sizeof</a:t>
            </a:r>
            <a:r>
              <a:rPr kumimoji="1" lang="en-US" altLang="zh-CN" dirty="0">
                <a:latin typeface="SimSun" panose="02010600030101010101" pitchFamily="2" charset="-122"/>
                <a:ea typeface="SimSun" panose="02010600030101010101" pitchFamily="2" charset="-122"/>
              </a:rPr>
              <a:t>(half)</a:t>
            </a:r>
            <a:r>
              <a:rPr kumimoji="1" lang="zh-CN" altLang="en-US" dirty="0">
                <a:latin typeface="SimSun" panose="02010600030101010101" pitchFamily="2" charset="-122"/>
                <a:ea typeface="SimSun" panose="02010600030101010101" pitchFamily="2" charset="-122"/>
              </a:rPr>
              <a:t> </a:t>
            </a:r>
            <a:endParaRPr kumimoji="1" lang="en-US" altLang="zh-CN" dirty="0">
              <a:latin typeface="SimSun" panose="02010600030101010101" pitchFamily="2" charset="-122"/>
              <a:ea typeface="SimSun" panose="02010600030101010101" pitchFamily="2" charset="-122"/>
            </a:endParaRPr>
          </a:p>
          <a:p>
            <a:endParaRPr kumimoji="1" lang="en-US" altLang="zh-CN" dirty="0">
              <a:latin typeface="SimSun" panose="02010600030101010101" pitchFamily="2" charset="-122"/>
              <a:ea typeface="SimSun" panose="02010600030101010101" pitchFamily="2" charset="-122"/>
            </a:endParaRPr>
          </a:p>
        </p:txBody>
      </p:sp>
      <p:sp>
        <p:nvSpPr>
          <p:cNvPr id="38" name="椭圆 37">
            <a:extLst>
              <a:ext uri="{FF2B5EF4-FFF2-40B4-BE49-F238E27FC236}">
                <a16:creationId xmlns:a16="http://schemas.microsoft.com/office/drawing/2014/main" id="{8D8EB2FF-C4A3-C00F-752D-9193EAF6F32D}"/>
              </a:ext>
            </a:extLst>
          </p:cNvPr>
          <p:cNvSpPr/>
          <p:nvPr/>
        </p:nvSpPr>
        <p:spPr>
          <a:xfrm>
            <a:off x="948690" y="2903220"/>
            <a:ext cx="605790" cy="6057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0</a:t>
            </a:r>
            <a:endParaRPr kumimoji="1" lang="zh-CN" altLang="en-US" dirty="0"/>
          </a:p>
        </p:txBody>
      </p:sp>
      <p:sp>
        <p:nvSpPr>
          <p:cNvPr id="40" name="椭圆 39">
            <a:extLst>
              <a:ext uri="{FF2B5EF4-FFF2-40B4-BE49-F238E27FC236}">
                <a16:creationId xmlns:a16="http://schemas.microsoft.com/office/drawing/2014/main" id="{B3E22CAA-51A0-5E67-28BB-8B7D97E547C8}"/>
              </a:ext>
            </a:extLst>
          </p:cNvPr>
          <p:cNvSpPr/>
          <p:nvPr/>
        </p:nvSpPr>
        <p:spPr>
          <a:xfrm>
            <a:off x="1985010" y="2903220"/>
            <a:ext cx="605790" cy="6057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41" name="椭圆 40">
            <a:extLst>
              <a:ext uri="{FF2B5EF4-FFF2-40B4-BE49-F238E27FC236}">
                <a16:creationId xmlns:a16="http://schemas.microsoft.com/office/drawing/2014/main" id="{70D3E85D-D320-F897-8624-8889A33233A9}"/>
              </a:ext>
            </a:extLst>
          </p:cNvPr>
          <p:cNvSpPr/>
          <p:nvPr/>
        </p:nvSpPr>
        <p:spPr>
          <a:xfrm>
            <a:off x="3006090" y="2903220"/>
            <a:ext cx="605790" cy="6057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42" name="椭圆 41">
            <a:extLst>
              <a:ext uri="{FF2B5EF4-FFF2-40B4-BE49-F238E27FC236}">
                <a16:creationId xmlns:a16="http://schemas.microsoft.com/office/drawing/2014/main" id="{152172A7-6247-F0AD-8CB1-5F92DA5AFE32}"/>
              </a:ext>
            </a:extLst>
          </p:cNvPr>
          <p:cNvSpPr/>
          <p:nvPr/>
        </p:nvSpPr>
        <p:spPr>
          <a:xfrm>
            <a:off x="4042410" y="2903220"/>
            <a:ext cx="605790" cy="6057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45" name="椭圆 44">
            <a:extLst>
              <a:ext uri="{FF2B5EF4-FFF2-40B4-BE49-F238E27FC236}">
                <a16:creationId xmlns:a16="http://schemas.microsoft.com/office/drawing/2014/main" id="{161B2DAA-262A-BB94-A962-6167485DF145}"/>
              </a:ext>
            </a:extLst>
          </p:cNvPr>
          <p:cNvSpPr/>
          <p:nvPr/>
        </p:nvSpPr>
        <p:spPr>
          <a:xfrm>
            <a:off x="4998720" y="2903220"/>
            <a:ext cx="605790" cy="6057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endParaRPr kumimoji="1" lang="zh-CN" altLang="en-US" dirty="0"/>
          </a:p>
        </p:txBody>
      </p:sp>
      <p:sp>
        <p:nvSpPr>
          <p:cNvPr id="46" name="椭圆 45">
            <a:extLst>
              <a:ext uri="{FF2B5EF4-FFF2-40B4-BE49-F238E27FC236}">
                <a16:creationId xmlns:a16="http://schemas.microsoft.com/office/drawing/2014/main" id="{88C3204D-3370-ABA4-1648-8B37D7A36864}"/>
              </a:ext>
            </a:extLst>
          </p:cNvPr>
          <p:cNvSpPr/>
          <p:nvPr/>
        </p:nvSpPr>
        <p:spPr>
          <a:xfrm>
            <a:off x="6035040" y="2903220"/>
            <a:ext cx="605790" cy="6057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5</a:t>
            </a:r>
            <a:endParaRPr kumimoji="1" lang="zh-CN" altLang="en-US" dirty="0"/>
          </a:p>
        </p:txBody>
      </p:sp>
      <p:sp>
        <p:nvSpPr>
          <p:cNvPr id="47" name="椭圆 46">
            <a:extLst>
              <a:ext uri="{FF2B5EF4-FFF2-40B4-BE49-F238E27FC236}">
                <a16:creationId xmlns:a16="http://schemas.microsoft.com/office/drawing/2014/main" id="{9244A237-5F9E-D5D6-90A3-29E2E69A17C2}"/>
              </a:ext>
            </a:extLst>
          </p:cNvPr>
          <p:cNvSpPr/>
          <p:nvPr/>
        </p:nvSpPr>
        <p:spPr>
          <a:xfrm>
            <a:off x="7056120" y="2903220"/>
            <a:ext cx="605790" cy="6057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6</a:t>
            </a:r>
            <a:endParaRPr kumimoji="1" lang="zh-CN" altLang="en-US" dirty="0"/>
          </a:p>
        </p:txBody>
      </p:sp>
      <p:sp>
        <p:nvSpPr>
          <p:cNvPr id="48" name="椭圆 47">
            <a:extLst>
              <a:ext uri="{FF2B5EF4-FFF2-40B4-BE49-F238E27FC236}">
                <a16:creationId xmlns:a16="http://schemas.microsoft.com/office/drawing/2014/main" id="{CA7E919F-E982-FBDE-1DC2-9DBE3CCC5A3C}"/>
              </a:ext>
            </a:extLst>
          </p:cNvPr>
          <p:cNvSpPr/>
          <p:nvPr/>
        </p:nvSpPr>
        <p:spPr>
          <a:xfrm>
            <a:off x="8092440" y="2903220"/>
            <a:ext cx="605790" cy="6057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7</a:t>
            </a:r>
            <a:endParaRPr kumimoji="1" lang="zh-CN" altLang="en-US" dirty="0"/>
          </a:p>
        </p:txBody>
      </p:sp>
      <p:cxnSp>
        <p:nvCxnSpPr>
          <p:cNvPr id="50" name="直线箭头连接符 49">
            <a:extLst>
              <a:ext uri="{FF2B5EF4-FFF2-40B4-BE49-F238E27FC236}">
                <a16:creationId xmlns:a16="http://schemas.microsoft.com/office/drawing/2014/main" id="{15630756-BBC3-B46E-9DE5-BFC4102BCF75}"/>
              </a:ext>
            </a:extLst>
          </p:cNvPr>
          <p:cNvCxnSpPr>
            <a:stCxn id="40" idx="2"/>
            <a:endCxn id="38" idx="6"/>
          </p:cNvCxnSpPr>
          <p:nvPr/>
        </p:nvCxnSpPr>
        <p:spPr>
          <a:xfrm flipH="1">
            <a:off x="1554480" y="3206115"/>
            <a:ext cx="43053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直线箭头连接符 53">
            <a:extLst>
              <a:ext uri="{FF2B5EF4-FFF2-40B4-BE49-F238E27FC236}">
                <a16:creationId xmlns:a16="http://schemas.microsoft.com/office/drawing/2014/main" id="{1D7492A8-0CDF-DD7C-DAED-599E544892A6}"/>
              </a:ext>
            </a:extLst>
          </p:cNvPr>
          <p:cNvCxnSpPr>
            <a:stCxn id="41" idx="2"/>
            <a:endCxn id="40" idx="6"/>
          </p:cNvCxnSpPr>
          <p:nvPr/>
        </p:nvCxnSpPr>
        <p:spPr>
          <a:xfrm flipH="1">
            <a:off x="2590800" y="3206115"/>
            <a:ext cx="4152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直线箭头连接符 54">
            <a:extLst>
              <a:ext uri="{FF2B5EF4-FFF2-40B4-BE49-F238E27FC236}">
                <a16:creationId xmlns:a16="http://schemas.microsoft.com/office/drawing/2014/main" id="{CB858FB2-8232-7B77-B6F8-89BBB3B0BB47}"/>
              </a:ext>
            </a:extLst>
          </p:cNvPr>
          <p:cNvCxnSpPr/>
          <p:nvPr/>
        </p:nvCxnSpPr>
        <p:spPr>
          <a:xfrm flipH="1">
            <a:off x="3611880" y="3206115"/>
            <a:ext cx="4152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直线箭头连接符 55">
            <a:extLst>
              <a:ext uri="{FF2B5EF4-FFF2-40B4-BE49-F238E27FC236}">
                <a16:creationId xmlns:a16="http://schemas.microsoft.com/office/drawing/2014/main" id="{18B8EDDD-2C3C-7D39-6904-390E126C5FE1}"/>
              </a:ext>
            </a:extLst>
          </p:cNvPr>
          <p:cNvCxnSpPr/>
          <p:nvPr/>
        </p:nvCxnSpPr>
        <p:spPr>
          <a:xfrm flipH="1">
            <a:off x="4648200" y="3206115"/>
            <a:ext cx="4152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直线箭头连接符 56">
            <a:extLst>
              <a:ext uri="{FF2B5EF4-FFF2-40B4-BE49-F238E27FC236}">
                <a16:creationId xmlns:a16="http://schemas.microsoft.com/office/drawing/2014/main" id="{7831A11F-DB6E-C030-53CF-43CA91FAB808}"/>
              </a:ext>
            </a:extLst>
          </p:cNvPr>
          <p:cNvCxnSpPr/>
          <p:nvPr/>
        </p:nvCxnSpPr>
        <p:spPr>
          <a:xfrm flipH="1">
            <a:off x="5604510" y="3206115"/>
            <a:ext cx="4152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直线箭头连接符 57">
            <a:extLst>
              <a:ext uri="{FF2B5EF4-FFF2-40B4-BE49-F238E27FC236}">
                <a16:creationId xmlns:a16="http://schemas.microsoft.com/office/drawing/2014/main" id="{19A69BB4-358F-18D2-C229-1DA3F89A8374}"/>
              </a:ext>
            </a:extLst>
          </p:cNvPr>
          <p:cNvCxnSpPr/>
          <p:nvPr/>
        </p:nvCxnSpPr>
        <p:spPr>
          <a:xfrm flipH="1">
            <a:off x="6640830" y="3206115"/>
            <a:ext cx="4152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直线箭头连接符 58">
            <a:extLst>
              <a:ext uri="{FF2B5EF4-FFF2-40B4-BE49-F238E27FC236}">
                <a16:creationId xmlns:a16="http://schemas.microsoft.com/office/drawing/2014/main" id="{06734831-D954-05F4-D07B-6E5457B3D6F7}"/>
              </a:ext>
            </a:extLst>
          </p:cNvPr>
          <p:cNvCxnSpPr/>
          <p:nvPr/>
        </p:nvCxnSpPr>
        <p:spPr>
          <a:xfrm flipH="1">
            <a:off x="7661910" y="3204210"/>
            <a:ext cx="4152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直线连接符 60">
            <a:extLst>
              <a:ext uri="{FF2B5EF4-FFF2-40B4-BE49-F238E27FC236}">
                <a16:creationId xmlns:a16="http://schemas.microsoft.com/office/drawing/2014/main" id="{5FC0C525-ED59-B95E-AE6A-E37C79E422E4}"/>
              </a:ext>
            </a:extLst>
          </p:cNvPr>
          <p:cNvCxnSpPr>
            <a:endCxn id="38" idx="0"/>
          </p:cNvCxnSpPr>
          <p:nvPr/>
        </p:nvCxnSpPr>
        <p:spPr>
          <a:xfrm flipH="1">
            <a:off x="1251585" y="2583180"/>
            <a:ext cx="17145" cy="320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直线连接符 62">
            <a:extLst>
              <a:ext uri="{FF2B5EF4-FFF2-40B4-BE49-F238E27FC236}">
                <a16:creationId xmlns:a16="http://schemas.microsoft.com/office/drawing/2014/main" id="{69C470CB-F050-7999-207D-471B23BC5A11}"/>
              </a:ext>
            </a:extLst>
          </p:cNvPr>
          <p:cNvCxnSpPr/>
          <p:nvPr/>
        </p:nvCxnSpPr>
        <p:spPr>
          <a:xfrm>
            <a:off x="1245870" y="2571750"/>
            <a:ext cx="71323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直线箭头连接符 64">
            <a:extLst>
              <a:ext uri="{FF2B5EF4-FFF2-40B4-BE49-F238E27FC236}">
                <a16:creationId xmlns:a16="http://schemas.microsoft.com/office/drawing/2014/main" id="{5411AF6C-230C-9C83-C77E-2CE849100D50}"/>
              </a:ext>
            </a:extLst>
          </p:cNvPr>
          <p:cNvCxnSpPr>
            <a:endCxn id="48" idx="0"/>
          </p:cNvCxnSpPr>
          <p:nvPr/>
        </p:nvCxnSpPr>
        <p:spPr>
          <a:xfrm>
            <a:off x="8389620" y="2583180"/>
            <a:ext cx="5715" cy="320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6" name="矩形 65">
            <a:extLst>
              <a:ext uri="{FF2B5EF4-FFF2-40B4-BE49-F238E27FC236}">
                <a16:creationId xmlns:a16="http://schemas.microsoft.com/office/drawing/2014/main" id="{46614A26-B882-E7DF-86F3-994499563C60}"/>
              </a:ext>
            </a:extLst>
          </p:cNvPr>
          <p:cNvSpPr/>
          <p:nvPr/>
        </p:nvSpPr>
        <p:spPr>
          <a:xfrm>
            <a:off x="1664970" y="2752725"/>
            <a:ext cx="320040" cy="3009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67" name="矩形 66">
            <a:extLst>
              <a:ext uri="{FF2B5EF4-FFF2-40B4-BE49-F238E27FC236}">
                <a16:creationId xmlns:a16="http://schemas.microsoft.com/office/drawing/2014/main" id="{FD7410B2-A2B8-9AED-0EF6-5780CD5B7D1B}"/>
              </a:ext>
            </a:extLst>
          </p:cNvPr>
          <p:cNvSpPr/>
          <p:nvPr/>
        </p:nvSpPr>
        <p:spPr>
          <a:xfrm>
            <a:off x="2724150" y="2718435"/>
            <a:ext cx="320040" cy="3009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68" name="矩形 67">
            <a:extLst>
              <a:ext uri="{FF2B5EF4-FFF2-40B4-BE49-F238E27FC236}">
                <a16:creationId xmlns:a16="http://schemas.microsoft.com/office/drawing/2014/main" id="{E2FBC54B-DBE7-7425-C14B-052BE9CA1F27}"/>
              </a:ext>
            </a:extLst>
          </p:cNvPr>
          <p:cNvSpPr/>
          <p:nvPr/>
        </p:nvSpPr>
        <p:spPr>
          <a:xfrm>
            <a:off x="3749040" y="2737485"/>
            <a:ext cx="320040" cy="3009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69" name="矩形 68">
            <a:extLst>
              <a:ext uri="{FF2B5EF4-FFF2-40B4-BE49-F238E27FC236}">
                <a16:creationId xmlns:a16="http://schemas.microsoft.com/office/drawing/2014/main" id="{E769AFE2-756F-18FA-15D7-3316AC80C657}"/>
              </a:ext>
            </a:extLst>
          </p:cNvPr>
          <p:cNvSpPr/>
          <p:nvPr/>
        </p:nvSpPr>
        <p:spPr>
          <a:xfrm>
            <a:off x="4732020" y="2737485"/>
            <a:ext cx="320040" cy="3009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endParaRPr kumimoji="1" lang="zh-CN" altLang="en-US" dirty="0"/>
          </a:p>
        </p:txBody>
      </p:sp>
      <p:sp>
        <p:nvSpPr>
          <p:cNvPr id="70" name="矩形 69">
            <a:extLst>
              <a:ext uri="{FF2B5EF4-FFF2-40B4-BE49-F238E27FC236}">
                <a16:creationId xmlns:a16="http://schemas.microsoft.com/office/drawing/2014/main" id="{4FA42CC6-BEE7-9529-4AFA-95D3A3C629D7}"/>
              </a:ext>
            </a:extLst>
          </p:cNvPr>
          <p:cNvSpPr/>
          <p:nvPr/>
        </p:nvSpPr>
        <p:spPr>
          <a:xfrm>
            <a:off x="5669280" y="2752725"/>
            <a:ext cx="320040" cy="3009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5</a:t>
            </a:r>
            <a:endParaRPr kumimoji="1" lang="zh-CN" altLang="en-US" dirty="0"/>
          </a:p>
        </p:txBody>
      </p:sp>
      <p:sp>
        <p:nvSpPr>
          <p:cNvPr id="71" name="矩形 70">
            <a:extLst>
              <a:ext uri="{FF2B5EF4-FFF2-40B4-BE49-F238E27FC236}">
                <a16:creationId xmlns:a16="http://schemas.microsoft.com/office/drawing/2014/main" id="{0BCDE965-CE74-BF35-817F-79FE53D431F8}"/>
              </a:ext>
            </a:extLst>
          </p:cNvPr>
          <p:cNvSpPr/>
          <p:nvPr/>
        </p:nvSpPr>
        <p:spPr>
          <a:xfrm>
            <a:off x="6709410" y="2752725"/>
            <a:ext cx="320040" cy="3009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6</a:t>
            </a:r>
            <a:endParaRPr kumimoji="1" lang="zh-CN" altLang="en-US" dirty="0"/>
          </a:p>
        </p:txBody>
      </p:sp>
      <p:sp>
        <p:nvSpPr>
          <p:cNvPr id="72" name="矩形 71">
            <a:extLst>
              <a:ext uri="{FF2B5EF4-FFF2-40B4-BE49-F238E27FC236}">
                <a16:creationId xmlns:a16="http://schemas.microsoft.com/office/drawing/2014/main" id="{9FDBBBD8-4AF2-38EE-001E-CC9B5A3B38CE}"/>
              </a:ext>
            </a:extLst>
          </p:cNvPr>
          <p:cNvSpPr/>
          <p:nvPr/>
        </p:nvSpPr>
        <p:spPr>
          <a:xfrm>
            <a:off x="7749540" y="2686050"/>
            <a:ext cx="320040" cy="3009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7</a:t>
            </a:r>
            <a:endParaRPr kumimoji="1" lang="zh-CN" altLang="en-US" dirty="0"/>
          </a:p>
        </p:txBody>
      </p:sp>
      <p:sp>
        <p:nvSpPr>
          <p:cNvPr id="73" name="矩形 72">
            <a:extLst>
              <a:ext uri="{FF2B5EF4-FFF2-40B4-BE49-F238E27FC236}">
                <a16:creationId xmlns:a16="http://schemas.microsoft.com/office/drawing/2014/main" id="{5EB3D169-A1BD-A8C9-BE30-2282FC9C92CA}"/>
              </a:ext>
            </a:extLst>
          </p:cNvPr>
          <p:cNvSpPr/>
          <p:nvPr/>
        </p:nvSpPr>
        <p:spPr>
          <a:xfrm>
            <a:off x="4328160" y="2229803"/>
            <a:ext cx="320040" cy="3009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0</a:t>
            </a:r>
            <a:endParaRPr kumimoji="1" lang="zh-CN" altLang="en-US" dirty="0"/>
          </a:p>
        </p:txBody>
      </p:sp>
      <p:sp>
        <p:nvSpPr>
          <p:cNvPr id="74" name="椭圆 73">
            <a:extLst>
              <a:ext uri="{FF2B5EF4-FFF2-40B4-BE49-F238E27FC236}">
                <a16:creationId xmlns:a16="http://schemas.microsoft.com/office/drawing/2014/main" id="{2F0FE398-8CFA-7D92-8341-AD98071CFF8D}"/>
              </a:ext>
            </a:extLst>
          </p:cNvPr>
          <p:cNvSpPr/>
          <p:nvPr/>
        </p:nvSpPr>
        <p:spPr>
          <a:xfrm>
            <a:off x="826770" y="4509134"/>
            <a:ext cx="605790" cy="6057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0</a:t>
            </a:r>
            <a:endParaRPr kumimoji="1" lang="zh-CN" altLang="en-US" dirty="0"/>
          </a:p>
        </p:txBody>
      </p:sp>
      <p:sp>
        <p:nvSpPr>
          <p:cNvPr id="75" name="椭圆 74">
            <a:extLst>
              <a:ext uri="{FF2B5EF4-FFF2-40B4-BE49-F238E27FC236}">
                <a16:creationId xmlns:a16="http://schemas.microsoft.com/office/drawing/2014/main" id="{969D6C0A-EA10-4C95-1033-BF3E816357AD}"/>
              </a:ext>
            </a:extLst>
          </p:cNvPr>
          <p:cNvSpPr/>
          <p:nvPr/>
        </p:nvSpPr>
        <p:spPr>
          <a:xfrm>
            <a:off x="1863090" y="4509134"/>
            <a:ext cx="605790" cy="6057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76" name="椭圆 75">
            <a:extLst>
              <a:ext uri="{FF2B5EF4-FFF2-40B4-BE49-F238E27FC236}">
                <a16:creationId xmlns:a16="http://schemas.microsoft.com/office/drawing/2014/main" id="{2FF695EE-3C2A-7016-A1AC-71F99D4D861E}"/>
              </a:ext>
            </a:extLst>
          </p:cNvPr>
          <p:cNvSpPr/>
          <p:nvPr/>
        </p:nvSpPr>
        <p:spPr>
          <a:xfrm>
            <a:off x="2884170" y="4509134"/>
            <a:ext cx="605790" cy="6057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77" name="椭圆 76">
            <a:extLst>
              <a:ext uri="{FF2B5EF4-FFF2-40B4-BE49-F238E27FC236}">
                <a16:creationId xmlns:a16="http://schemas.microsoft.com/office/drawing/2014/main" id="{15A3471B-610B-6A2D-26DB-0CE990731A24}"/>
              </a:ext>
            </a:extLst>
          </p:cNvPr>
          <p:cNvSpPr/>
          <p:nvPr/>
        </p:nvSpPr>
        <p:spPr>
          <a:xfrm>
            <a:off x="3920490" y="4509134"/>
            <a:ext cx="605790" cy="6057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78" name="椭圆 77">
            <a:extLst>
              <a:ext uri="{FF2B5EF4-FFF2-40B4-BE49-F238E27FC236}">
                <a16:creationId xmlns:a16="http://schemas.microsoft.com/office/drawing/2014/main" id="{38D83C20-EFE3-376D-D888-46AF9B0EB99D}"/>
              </a:ext>
            </a:extLst>
          </p:cNvPr>
          <p:cNvSpPr/>
          <p:nvPr/>
        </p:nvSpPr>
        <p:spPr>
          <a:xfrm>
            <a:off x="4876800" y="4509134"/>
            <a:ext cx="605790" cy="6057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endParaRPr kumimoji="1" lang="zh-CN" altLang="en-US" dirty="0"/>
          </a:p>
        </p:txBody>
      </p:sp>
      <p:sp>
        <p:nvSpPr>
          <p:cNvPr id="79" name="椭圆 78">
            <a:extLst>
              <a:ext uri="{FF2B5EF4-FFF2-40B4-BE49-F238E27FC236}">
                <a16:creationId xmlns:a16="http://schemas.microsoft.com/office/drawing/2014/main" id="{3F1742D7-41F5-51F6-BABF-33E1A51CBFBF}"/>
              </a:ext>
            </a:extLst>
          </p:cNvPr>
          <p:cNvSpPr/>
          <p:nvPr/>
        </p:nvSpPr>
        <p:spPr>
          <a:xfrm>
            <a:off x="5913120" y="4509134"/>
            <a:ext cx="605790" cy="6057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5</a:t>
            </a:r>
            <a:endParaRPr kumimoji="1" lang="zh-CN" altLang="en-US" dirty="0"/>
          </a:p>
        </p:txBody>
      </p:sp>
      <p:sp>
        <p:nvSpPr>
          <p:cNvPr id="80" name="椭圆 79">
            <a:extLst>
              <a:ext uri="{FF2B5EF4-FFF2-40B4-BE49-F238E27FC236}">
                <a16:creationId xmlns:a16="http://schemas.microsoft.com/office/drawing/2014/main" id="{AEDE7B5F-9E30-144E-647B-516AC963EA1B}"/>
              </a:ext>
            </a:extLst>
          </p:cNvPr>
          <p:cNvSpPr/>
          <p:nvPr/>
        </p:nvSpPr>
        <p:spPr>
          <a:xfrm>
            <a:off x="6934200" y="4509134"/>
            <a:ext cx="605790" cy="6057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6</a:t>
            </a:r>
            <a:endParaRPr kumimoji="1" lang="zh-CN" altLang="en-US" dirty="0"/>
          </a:p>
        </p:txBody>
      </p:sp>
      <p:sp>
        <p:nvSpPr>
          <p:cNvPr id="81" name="椭圆 80">
            <a:extLst>
              <a:ext uri="{FF2B5EF4-FFF2-40B4-BE49-F238E27FC236}">
                <a16:creationId xmlns:a16="http://schemas.microsoft.com/office/drawing/2014/main" id="{74CB628C-BAA7-6658-677C-D9736DE8C723}"/>
              </a:ext>
            </a:extLst>
          </p:cNvPr>
          <p:cNvSpPr/>
          <p:nvPr/>
        </p:nvSpPr>
        <p:spPr>
          <a:xfrm>
            <a:off x="7970520" y="4509134"/>
            <a:ext cx="605790" cy="6057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7</a:t>
            </a:r>
            <a:endParaRPr kumimoji="1" lang="zh-CN" altLang="en-US" dirty="0"/>
          </a:p>
        </p:txBody>
      </p:sp>
      <p:cxnSp>
        <p:nvCxnSpPr>
          <p:cNvPr id="82" name="直线箭头连接符 81">
            <a:extLst>
              <a:ext uri="{FF2B5EF4-FFF2-40B4-BE49-F238E27FC236}">
                <a16:creationId xmlns:a16="http://schemas.microsoft.com/office/drawing/2014/main" id="{9E0B2296-6F10-0DD7-BA43-BD9A182EF50C}"/>
              </a:ext>
            </a:extLst>
          </p:cNvPr>
          <p:cNvCxnSpPr>
            <a:stCxn id="75" idx="2"/>
            <a:endCxn id="74" idx="6"/>
          </p:cNvCxnSpPr>
          <p:nvPr/>
        </p:nvCxnSpPr>
        <p:spPr>
          <a:xfrm flipH="1">
            <a:off x="1432560" y="4812029"/>
            <a:ext cx="43053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直线箭头连接符 82">
            <a:extLst>
              <a:ext uri="{FF2B5EF4-FFF2-40B4-BE49-F238E27FC236}">
                <a16:creationId xmlns:a16="http://schemas.microsoft.com/office/drawing/2014/main" id="{B067E392-4F8C-CF8E-1A9A-4DCB8C021ADC}"/>
              </a:ext>
            </a:extLst>
          </p:cNvPr>
          <p:cNvCxnSpPr>
            <a:stCxn id="76" idx="2"/>
            <a:endCxn id="75" idx="6"/>
          </p:cNvCxnSpPr>
          <p:nvPr/>
        </p:nvCxnSpPr>
        <p:spPr>
          <a:xfrm flipH="1">
            <a:off x="2468880" y="4812029"/>
            <a:ext cx="4152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直线箭头连接符 83">
            <a:extLst>
              <a:ext uri="{FF2B5EF4-FFF2-40B4-BE49-F238E27FC236}">
                <a16:creationId xmlns:a16="http://schemas.microsoft.com/office/drawing/2014/main" id="{D039AB8E-3153-2976-FA5C-B99FF50394E5}"/>
              </a:ext>
            </a:extLst>
          </p:cNvPr>
          <p:cNvCxnSpPr/>
          <p:nvPr/>
        </p:nvCxnSpPr>
        <p:spPr>
          <a:xfrm flipH="1">
            <a:off x="3489960" y="4812029"/>
            <a:ext cx="4152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直线箭头连接符 84">
            <a:extLst>
              <a:ext uri="{FF2B5EF4-FFF2-40B4-BE49-F238E27FC236}">
                <a16:creationId xmlns:a16="http://schemas.microsoft.com/office/drawing/2014/main" id="{18BBF0FE-1B82-BB9F-6B1B-CC8FF99D9443}"/>
              </a:ext>
            </a:extLst>
          </p:cNvPr>
          <p:cNvCxnSpPr/>
          <p:nvPr/>
        </p:nvCxnSpPr>
        <p:spPr>
          <a:xfrm flipH="1">
            <a:off x="4526280" y="4812029"/>
            <a:ext cx="4152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直线箭头连接符 85">
            <a:extLst>
              <a:ext uri="{FF2B5EF4-FFF2-40B4-BE49-F238E27FC236}">
                <a16:creationId xmlns:a16="http://schemas.microsoft.com/office/drawing/2014/main" id="{CA125C00-5599-375F-09AF-F18DFDC9C2D4}"/>
              </a:ext>
            </a:extLst>
          </p:cNvPr>
          <p:cNvCxnSpPr/>
          <p:nvPr/>
        </p:nvCxnSpPr>
        <p:spPr>
          <a:xfrm flipH="1">
            <a:off x="5482590" y="4812029"/>
            <a:ext cx="4152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直线箭头连接符 86">
            <a:extLst>
              <a:ext uri="{FF2B5EF4-FFF2-40B4-BE49-F238E27FC236}">
                <a16:creationId xmlns:a16="http://schemas.microsoft.com/office/drawing/2014/main" id="{7CB69B9C-CBE3-BB28-0651-22186E5C9E5B}"/>
              </a:ext>
            </a:extLst>
          </p:cNvPr>
          <p:cNvCxnSpPr/>
          <p:nvPr/>
        </p:nvCxnSpPr>
        <p:spPr>
          <a:xfrm flipH="1">
            <a:off x="6518910" y="4812029"/>
            <a:ext cx="4152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直线箭头连接符 87">
            <a:extLst>
              <a:ext uri="{FF2B5EF4-FFF2-40B4-BE49-F238E27FC236}">
                <a16:creationId xmlns:a16="http://schemas.microsoft.com/office/drawing/2014/main" id="{6197886A-E706-96E9-5E05-15121AA4C240}"/>
              </a:ext>
            </a:extLst>
          </p:cNvPr>
          <p:cNvCxnSpPr/>
          <p:nvPr/>
        </p:nvCxnSpPr>
        <p:spPr>
          <a:xfrm flipH="1">
            <a:off x="7539990" y="4810124"/>
            <a:ext cx="4152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直线连接符 88">
            <a:extLst>
              <a:ext uri="{FF2B5EF4-FFF2-40B4-BE49-F238E27FC236}">
                <a16:creationId xmlns:a16="http://schemas.microsoft.com/office/drawing/2014/main" id="{FE08C16E-C3B3-09B3-218C-A04B42B54586}"/>
              </a:ext>
            </a:extLst>
          </p:cNvPr>
          <p:cNvCxnSpPr>
            <a:endCxn id="74" idx="0"/>
          </p:cNvCxnSpPr>
          <p:nvPr/>
        </p:nvCxnSpPr>
        <p:spPr>
          <a:xfrm flipH="1">
            <a:off x="1129665" y="4189094"/>
            <a:ext cx="17145" cy="320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90" name="直线连接符 89">
            <a:extLst>
              <a:ext uri="{FF2B5EF4-FFF2-40B4-BE49-F238E27FC236}">
                <a16:creationId xmlns:a16="http://schemas.microsoft.com/office/drawing/2014/main" id="{6F8D4CB0-5C31-D73B-D385-79643575CDFB}"/>
              </a:ext>
            </a:extLst>
          </p:cNvPr>
          <p:cNvCxnSpPr/>
          <p:nvPr/>
        </p:nvCxnSpPr>
        <p:spPr>
          <a:xfrm>
            <a:off x="1123950" y="4177664"/>
            <a:ext cx="71323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1" name="直线箭头连接符 90">
            <a:extLst>
              <a:ext uri="{FF2B5EF4-FFF2-40B4-BE49-F238E27FC236}">
                <a16:creationId xmlns:a16="http://schemas.microsoft.com/office/drawing/2014/main" id="{064F8928-2A48-C9E4-AFAC-DEEBD28EA8F8}"/>
              </a:ext>
            </a:extLst>
          </p:cNvPr>
          <p:cNvCxnSpPr>
            <a:endCxn id="81" idx="0"/>
          </p:cNvCxnSpPr>
          <p:nvPr/>
        </p:nvCxnSpPr>
        <p:spPr>
          <a:xfrm>
            <a:off x="8267700" y="4189094"/>
            <a:ext cx="5715" cy="320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2" name="矩形 91">
            <a:extLst>
              <a:ext uri="{FF2B5EF4-FFF2-40B4-BE49-F238E27FC236}">
                <a16:creationId xmlns:a16="http://schemas.microsoft.com/office/drawing/2014/main" id="{38480FD2-C077-CC39-5A79-FEA40588CDDD}"/>
              </a:ext>
            </a:extLst>
          </p:cNvPr>
          <p:cNvSpPr/>
          <p:nvPr/>
        </p:nvSpPr>
        <p:spPr>
          <a:xfrm>
            <a:off x="1543050" y="4358639"/>
            <a:ext cx="320040" cy="3009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93" name="矩形 92">
            <a:extLst>
              <a:ext uri="{FF2B5EF4-FFF2-40B4-BE49-F238E27FC236}">
                <a16:creationId xmlns:a16="http://schemas.microsoft.com/office/drawing/2014/main" id="{062D354C-CD3B-B69F-4858-28569FB84ABB}"/>
              </a:ext>
            </a:extLst>
          </p:cNvPr>
          <p:cNvSpPr/>
          <p:nvPr/>
        </p:nvSpPr>
        <p:spPr>
          <a:xfrm>
            <a:off x="2602230" y="4324349"/>
            <a:ext cx="320040" cy="3009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94" name="矩形 93">
            <a:extLst>
              <a:ext uri="{FF2B5EF4-FFF2-40B4-BE49-F238E27FC236}">
                <a16:creationId xmlns:a16="http://schemas.microsoft.com/office/drawing/2014/main" id="{5BB80C15-CBEF-9406-ABEB-0B35451905A9}"/>
              </a:ext>
            </a:extLst>
          </p:cNvPr>
          <p:cNvSpPr/>
          <p:nvPr/>
        </p:nvSpPr>
        <p:spPr>
          <a:xfrm>
            <a:off x="3627120" y="4343399"/>
            <a:ext cx="320040" cy="3009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endParaRPr kumimoji="1" lang="zh-CN" altLang="en-US" dirty="0"/>
          </a:p>
        </p:txBody>
      </p:sp>
      <p:sp>
        <p:nvSpPr>
          <p:cNvPr id="95" name="矩形 94">
            <a:extLst>
              <a:ext uri="{FF2B5EF4-FFF2-40B4-BE49-F238E27FC236}">
                <a16:creationId xmlns:a16="http://schemas.microsoft.com/office/drawing/2014/main" id="{586C1454-09BC-4ECB-243C-C05BE6E69345}"/>
              </a:ext>
            </a:extLst>
          </p:cNvPr>
          <p:cNvSpPr/>
          <p:nvPr/>
        </p:nvSpPr>
        <p:spPr>
          <a:xfrm>
            <a:off x="4610100" y="4343399"/>
            <a:ext cx="320040" cy="3009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5</a:t>
            </a:r>
            <a:endParaRPr kumimoji="1" lang="zh-CN" altLang="en-US" dirty="0"/>
          </a:p>
        </p:txBody>
      </p:sp>
      <p:sp>
        <p:nvSpPr>
          <p:cNvPr id="96" name="矩形 95">
            <a:extLst>
              <a:ext uri="{FF2B5EF4-FFF2-40B4-BE49-F238E27FC236}">
                <a16:creationId xmlns:a16="http://schemas.microsoft.com/office/drawing/2014/main" id="{9573ACD0-B287-EC51-D72C-944D874E6CC0}"/>
              </a:ext>
            </a:extLst>
          </p:cNvPr>
          <p:cNvSpPr/>
          <p:nvPr/>
        </p:nvSpPr>
        <p:spPr>
          <a:xfrm>
            <a:off x="5547360" y="4358639"/>
            <a:ext cx="320040" cy="3009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6</a:t>
            </a:r>
            <a:endParaRPr kumimoji="1" lang="zh-CN" altLang="en-US" dirty="0"/>
          </a:p>
        </p:txBody>
      </p:sp>
      <p:sp>
        <p:nvSpPr>
          <p:cNvPr id="97" name="矩形 96">
            <a:extLst>
              <a:ext uri="{FF2B5EF4-FFF2-40B4-BE49-F238E27FC236}">
                <a16:creationId xmlns:a16="http://schemas.microsoft.com/office/drawing/2014/main" id="{5861A873-C2E3-0AD1-C4A0-FBFFF7D6D427}"/>
              </a:ext>
            </a:extLst>
          </p:cNvPr>
          <p:cNvSpPr/>
          <p:nvPr/>
        </p:nvSpPr>
        <p:spPr>
          <a:xfrm>
            <a:off x="6587490" y="4358639"/>
            <a:ext cx="320040" cy="3009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7</a:t>
            </a:r>
            <a:endParaRPr kumimoji="1" lang="zh-CN" altLang="en-US" dirty="0"/>
          </a:p>
        </p:txBody>
      </p:sp>
      <p:sp>
        <p:nvSpPr>
          <p:cNvPr id="98" name="矩形 97">
            <a:extLst>
              <a:ext uri="{FF2B5EF4-FFF2-40B4-BE49-F238E27FC236}">
                <a16:creationId xmlns:a16="http://schemas.microsoft.com/office/drawing/2014/main" id="{E5A81BA9-CA52-E3C4-3342-D01A14FBD643}"/>
              </a:ext>
            </a:extLst>
          </p:cNvPr>
          <p:cNvSpPr/>
          <p:nvPr/>
        </p:nvSpPr>
        <p:spPr>
          <a:xfrm>
            <a:off x="7627620" y="4291964"/>
            <a:ext cx="320040" cy="3009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0</a:t>
            </a:r>
            <a:endParaRPr kumimoji="1" lang="zh-CN" altLang="en-US" dirty="0"/>
          </a:p>
        </p:txBody>
      </p:sp>
      <p:sp>
        <p:nvSpPr>
          <p:cNvPr id="99" name="矩形 98">
            <a:extLst>
              <a:ext uri="{FF2B5EF4-FFF2-40B4-BE49-F238E27FC236}">
                <a16:creationId xmlns:a16="http://schemas.microsoft.com/office/drawing/2014/main" id="{D6F6FD40-2319-F687-FC4D-9FE31EB99129}"/>
              </a:ext>
            </a:extLst>
          </p:cNvPr>
          <p:cNvSpPr/>
          <p:nvPr/>
        </p:nvSpPr>
        <p:spPr>
          <a:xfrm>
            <a:off x="4162425" y="3861433"/>
            <a:ext cx="320040" cy="3009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102" name="下箭头 101">
            <a:extLst>
              <a:ext uri="{FF2B5EF4-FFF2-40B4-BE49-F238E27FC236}">
                <a16:creationId xmlns:a16="http://schemas.microsoft.com/office/drawing/2014/main" id="{4A3C1A32-AF61-E922-0EF6-BC88D44E5F4F}"/>
              </a:ext>
            </a:extLst>
          </p:cNvPr>
          <p:cNvSpPr/>
          <p:nvPr/>
        </p:nvSpPr>
        <p:spPr>
          <a:xfrm>
            <a:off x="9054465" y="2608900"/>
            <a:ext cx="697230" cy="366711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03" name="文本框 102">
            <a:extLst>
              <a:ext uri="{FF2B5EF4-FFF2-40B4-BE49-F238E27FC236}">
                <a16:creationId xmlns:a16="http://schemas.microsoft.com/office/drawing/2014/main" id="{65B3B868-EAF6-06B9-CB11-BF1C9B9ACFF3}"/>
              </a:ext>
            </a:extLst>
          </p:cNvPr>
          <p:cNvSpPr txBox="1"/>
          <p:nvPr/>
        </p:nvSpPr>
        <p:spPr>
          <a:xfrm>
            <a:off x="10218420" y="3509010"/>
            <a:ext cx="925830" cy="646331"/>
          </a:xfrm>
          <a:prstGeom prst="rect">
            <a:avLst/>
          </a:prstGeom>
          <a:noFill/>
        </p:spPr>
        <p:txBody>
          <a:bodyPr wrap="square" rtlCol="0">
            <a:spAutoFit/>
          </a:bodyPr>
          <a:lstStyle/>
          <a:p>
            <a:r>
              <a:rPr kumimoji="1" lang="en-US" altLang="zh-CN" dirty="0"/>
              <a:t>RMA_LOOP</a:t>
            </a:r>
            <a:endParaRPr kumimoji="1" lang="zh-CN" altLang="en-US" dirty="0"/>
          </a:p>
        </p:txBody>
      </p:sp>
      <p:sp>
        <p:nvSpPr>
          <p:cNvPr id="104" name="椭圆 103">
            <a:extLst>
              <a:ext uri="{FF2B5EF4-FFF2-40B4-BE49-F238E27FC236}">
                <a16:creationId xmlns:a16="http://schemas.microsoft.com/office/drawing/2014/main" id="{A7EF1981-ADB5-F536-4526-5BF8BB0D36DA}"/>
              </a:ext>
            </a:extLst>
          </p:cNvPr>
          <p:cNvSpPr/>
          <p:nvPr/>
        </p:nvSpPr>
        <p:spPr>
          <a:xfrm>
            <a:off x="853440" y="5949314"/>
            <a:ext cx="605790" cy="6057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0</a:t>
            </a:r>
            <a:endParaRPr kumimoji="1" lang="zh-CN" altLang="en-US" dirty="0"/>
          </a:p>
        </p:txBody>
      </p:sp>
      <p:sp>
        <p:nvSpPr>
          <p:cNvPr id="105" name="椭圆 104">
            <a:extLst>
              <a:ext uri="{FF2B5EF4-FFF2-40B4-BE49-F238E27FC236}">
                <a16:creationId xmlns:a16="http://schemas.microsoft.com/office/drawing/2014/main" id="{6A214248-6F22-784B-0C89-DDF2140AA9E9}"/>
              </a:ext>
            </a:extLst>
          </p:cNvPr>
          <p:cNvSpPr/>
          <p:nvPr/>
        </p:nvSpPr>
        <p:spPr>
          <a:xfrm>
            <a:off x="1889760" y="5949314"/>
            <a:ext cx="605790" cy="6057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106" name="椭圆 105">
            <a:extLst>
              <a:ext uri="{FF2B5EF4-FFF2-40B4-BE49-F238E27FC236}">
                <a16:creationId xmlns:a16="http://schemas.microsoft.com/office/drawing/2014/main" id="{C216420C-6A5A-72AA-1019-4F811DB95432}"/>
              </a:ext>
            </a:extLst>
          </p:cNvPr>
          <p:cNvSpPr/>
          <p:nvPr/>
        </p:nvSpPr>
        <p:spPr>
          <a:xfrm>
            <a:off x="2910840" y="5949314"/>
            <a:ext cx="605790" cy="6057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107" name="椭圆 106">
            <a:extLst>
              <a:ext uri="{FF2B5EF4-FFF2-40B4-BE49-F238E27FC236}">
                <a16:creationId xmlns:a16="http://schemas.microsoft.com/office/drawing/2014/main" id="{1E91E694-4A53-8449-1F95-978BB8F77C58}"/>
              </a:ext>
            </a:extLst>
          </p:cNvPr>
          <p:cNvSpPr/>
          <p:nvPr/>
        </p:nvSpPr>
        <p:spPr>
          <a:xfrm>
            <a:off x="3947160" y="5949314"/>
            <a:ext cx="605790" cy="6057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108" name="椭圆 107">
            <a:extLst>
              <a:ext uri="{FF2B5EF4-FFF2-40B4-BE49-F238E27FC236}">
                <a16:creationId xmlns:a16="http://schemas.microsoft.com/office/drawing/2014/main" id="{ED229943-0AC2-FC68-9596-EC59E57A4614}"/>
              </a:ext>
            </a:extLst>
          </p:cNvPr>
          <p:cNvSpPr/>
          <p:nvPr/>
        </p:nvSpPr>
        <p:spPr>
          <a:xfrm>
            <a:off x="4903470" y="5949314"/>
            <a:ext cx="605790" cy="6057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endParaRPr kumimoji="1" lang="zh-CN" altLang="en-US" dirty="0"/>
          </a:p>
        </p:txBody>
      </p:sp>
      <p:sp>
        <p:nvSpPr>
          <p:cNvPr id="109" name="椭圆 108">
            <a:extLst>
              <a:ext uri="{FF2B5EF4-FFF2-40B4-BE49-F238E27FC236}">
                <a16:creationId xmlns:a16="http://schemas.microsoft.com/office/drawing/2014/main" id="{AF831FCB-A19A-4D1B-9CBB-D153C7C46059}"/>
              </a:ext>
            </a:extLst>
          </p:cNvPr>
          <p:cNvSpPr/>
          <p:nvPr/>
        </p:nvSpPr>
        <p:spPr>
          <a:xfrm>
            <a:off x="5939790" y="5949314"/>
            <a:ext cx="605790" cy="6057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5</a:t>
            </a:r>
            <a:endParaRPr kumimoji="1" lang="zh-CN" altLang="en-US" dirty="0"/>
          </a:p>
        </p:txBody>
      </p:sp>
      <p:sp>
        <p:nvSpPr>
          <p:cNvPr id="110" name="椭圆 109">
            <a:extLst>
              <a:ext uri="{FF2B5EF4-FFF2-40B4-BE49-F238E27FC236}">
                <a16:creationId xmlns:a16="http://schemas.microsoft.com/office/drawing/2014/main" id="{FB13AFD9-57F5-B975-A7F1-93CC6B08D7E1}"/>
              </a:ext>
            </a:extLst>
          </p:cNvPr>
          <p:cNvSpPr/>
          <p:nvPr/>
        </p:nvSpPr>
        <p:spPr>
          <a:xfrm>
            <a:off x="6960870" y="5949314"/>
            <a:ext cx="605790" cy="6057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6</a:t>
            </a:r>
            <a:endParaRPr kumimoji="1" lang="zh-CN" altLang="en-US" dirty="0"/>
          </a:p>
        </p:txBody>
      </p:sp>
      <p:sp>
        <p:nvSpPr>
          <p:cNvPr id="111" name="椭圆 110">
            <a:extLst>
              <a:ext uri="{FF2B5EF4-FFF2-40B4-BE49-F238E27FC236}">
                <a16:creationId xmlns:a16="http://schemas.microsoft.com/office/drawing/2014/main" id="{65F8A562-74AF-4146-4171-391BDC2FAA64}"/>
              </a:ext>
            </a:extLst>
          </p:cNvPr>
          <p:cNvSpPr/>
          <p:nvPr/>
        </p:nvSpPr>
        <p:spPr>
          <a:xfrm>
            <a:off x="7997190" y="5949314"/>
            <a:ext cx="605790" cy="60579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7</a:t>
            </a:r>
            <a:endParaRPr kumimoji="1" lang="zh-CN" altLang="en-US" dirty="0"/>
          </a:p>
        </p:txBody>
      </p:sp>
      <p:cxnSp>
        <p:nvCxnSpPr>
          <p:cNvPr id="112" name="直线箭头连接符 111">
            <a:extLst>
              <a:ext uri="{FF2B5EF4-FFF2-40B4-BE49-F238E27FC236}">
                <a16:creationId xmlns:a16="http://schemas.microsoft.com/office/drawing/2014/main" id="{FE245B86-8D1D-751B-2769-4C3B494ED593}"/>
              </a:ext>
            </a:extLst>
          </p:cNvPr>
          <p:cNvCxnSpPr>
            <a:stCxn id="105" idx="2"/>
            <a:endCxn id="104" idx="6"/>
          </p:cNvCxnSpPr>
          <p:nvPr/>
        </p:nvCxnSpPr>
        <p:spPr>
          <a:xfrm flipH="1">
            <a:off x="1459230" y="6252209"/>
            <a:ext cx="43053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3" name="直线箭头连接符 112">
            <a:extLst>
              <a:ext uri="{FF2B5EF4-FFF2-40B4-BE49-F238E27FC236}">
                <a16:creationId xmlns:a16="http://schemas.microsoft.com/office/drawing/2014/main" id="{08B4658B-F42E-EE19-7813-B1AE505BF96F}"/>
              </a:ext>
            </a:extLst>
          </p:cNvPr>
          <p:cNvCxnSpPr>
            <a:stCxn id="106" idx="2"/>
            <a:endCxn id="105" idx="6"/>
          </p:cNvCxnSpPr>
          <p:nvPr/>
        </p:nvCxnSpPr>
        <p:spPr>
          <a:xfrm flipH="1">
            <a:off x="2495550" y="6252209"/>
            <a:ext cx="4152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4" name="直线箭头连接符 113">
            <a:extLst>
              <a:ext uri="{FF2B5EF4-FFF2-40B4-BE49-F238E27FC236}">
                <a16:creationId xmlns:a16="http://schemas.microsoft.com/office/drawing/2014/main" id="{E4BAC1F9-6816-9DD9-1D5D-7D618304BBE4}"/>
              </a:ext>
            </a:extLst>
          </p:cNvPr>
          <p:cNvCxnSpPr/>
          <p:nvPr/>
        </p:nvCxnSpPr>
        <p:spPr>
          <a:xfrm flipH="1">
            <a:off x="3516630" y="6252209"/>
            <a:ext cx="4152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5" name="直线箭头连接符 114">
            <a:extLst>
              <a:ext uri="{FF2B5EF4-FFF2-40B4-BE49-F238E27FC236}">
                <a16:creationId xmlns:a16="http://schemas.microsoft.com/office/drawing/2014/main" id="{56917E6B-0272-B28C-CA72-394F0EC6F5B5}"/>
              </a:ext>
            </a:extLst>
          </p:cNvPr>
          <p:cNvCxnSpPr/>
          <p:nvPr/>
        </p:nvCxnSpPr>
        <p:spPr>
          <a:xfrm flipH="1">
            <a:off x="4552950" y="6252209"/>
            <a:ext cx="4152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6" name="直线箭头连接符 115">
            <a:extLst>
              <a:ext uri="{FF2B5EF4-FFF2-40B4-BE49-F238E27FC236}">
                <a16:creationId xmlns:a16="http://schemas.microsoft.com/office/drawing/2014/main" id="{85BBA5F6-8C65-EBB6-C91F-155EB3C2A08D}"/>
              </a:ext>
            </a:extLst>
          </p:cNvPr>
          <p:cNvCxnSpPr/>
          <p:nvPr/>
        </p:nvCxnSpPr>
        <p:spPr>
          <a:xfrm flipH="1">
            <a:off x="5509260" y="6252209"/>
            <a:ext cx="4152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7" name="直线箭头连接符 116">
            <a:extLst>
              <a:ext uri="{FF2B5EF4-FFF2-40B4-BE49-F238E27FC236}">
                <a16:creationId xmlns:a16="http://schemas.microsoft.com/office/drawing/2014/main" id="{D0B99639-E8AD-F0E9-026A-D823718C1FE9}"/>
              </a:ext>
            </a:extLst>
          </p:cNvPr>
          <p:cNvCxnSpPr/>
          <p:nvPr/>
        </p:nvCxnSpPr>
        <p:spPr>
          <a:xfrm flipH="1">
            <a:off x="6545580" y="6252209"/>
            <a:ext cx="4152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8" name="直线箭头连接符 117">
            <a:extLst>
              <a:ext uri="{FF2B5EF4-FFF2-40B4-BE49-F238E27FC236}">
                <a16:creationId xmlns:a16="http://schemas.microsoft.com/office/drawing/2014/main" id="{1F19D7C3-E763-2314-0407-EC9412A8FFA6}"/>
              </a:ext>
            </a:extLst>
          </p:cNvPr>
          <p:cNvCxnSpPr/>
          <p:nvPr/>
        </p:nvCxnSpPr>
        <p:spPr>
          <a:xfrm flipH="1">
            <a:off x="7566660" y="6250304"/>
            <a:ext cx="41529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9" name="直线连接符 118">
            <a:extLst>
              <a:ext uri="{FF2B5EF4-FFF2-40B4-BE49-F238E27FC236}">
                <a16:creationId xmlns:a16="http://schemas.microsoft.com/office/drawing/2014/main" id="{37855C28-4627-BBE1-0174-FC959A0C194C}"/>
              </a:ext>
            </a:extLst>
          </p:cNvPr>
          <p:cNvCxnSpPr>
            <a:endCxn id="104" idx="0"/>
          </p:cNvCxnSpPr>
          <p:nvPr/>
        </p:nvCxnSpPr>
        <p:spPr>
          <a:xfrm flipH="1">
            <a:off x="1156335" y="5629274"/>
            <a:ext cx="17145" cy="320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0" name="直线连接符 119">
            <a:extLst>
              <a:ext uri="{FF2B5EF4-FFF2-40B4-BE49-F238E27FC236}">
                <a16:creationId xmlns:a16="http://schemas.microsoft.com/office/drawing/2014/main" id="{1ECEF62E-B8B3-FA38-F42D-AAE1DF7B4BB5}"/>
              </a:ext>
            </a:extLst>
          </p:cNvPr>
          <p:cNvCxnSpPr/>
          <p:nvPr/>
        </p:nvCxnSpPr>
        <p:spPr>
          <a:xfrm>
            <a:off x="1150620" y="5617844"/>
            <a:ext cx="71323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1" name="直线箭头连接符 120">
            <a:extLst>
              <a:ext uri="{FF2B5EF4-FFF2-40B4-BE49-F238E27FC236}">
                <a16:creationId xmlns:a16="http://schemas.microsoft.com/office/drawing/2014/main" id="{6106AE7D-2038-F1B1-02C7-47ACA2ECFA2D}"/>
              </a:ext>
            </a:extLst>
          </p:cNvPr>
          <p:cNvCxnSpPr>
            <a:endCxn id="111" idx="0"/>
          </p:cNvCxnSpPr>
          <p:nvPr/>
        </p:nvCxnSpPr>
        <p:spPr>
          <a:xfrm>
            <a:off x="8294370" y="5629274"/>
            <a:ext cx="5715" cy="320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2" name="矩形 121">
            <a:extLst>
              <a:ext uri="{FF2B5EF4-FFF2-40B4-BE49-F238E27FC236}">
                <a16:creationId xmlns:a16="http://schemas.microsoft.com/office/drawing/2014/main" id="{E37DA137-39B1-14BA-9E13-4E71DBA7E467}"/>
              </a:ext>
            </a:extLst>
          </p:cNvPr>
          <p:cNvSpPr/>
          <p:nvPr/>
        </p:nvSpPr>
        <p:spPr>
          <a:xfrm>
            <a:off x="1581150" y="5798819"/>
            <a:ext cx="320040" cy="3009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123" name="矩形 122">
            <a:extLst>
              <a:ext uri="{FF2B5EF4-FFF2-40B4-BE49-F238E27FC236}">
                <a16:creationId xmlns:a16="http://schemas.microsoft.com/office/drawing/2014/main" id="{95E57F0C-A55A-2343-C444-EBB0AA293B92}"/>
              </a:ext>
            </a:extLst>
          </p:cNvPr>
          <p:cNvSpPr/>
          <p:nvPr/>
        </p:nvSpPr>
        <p:spPr>
          <a:xfrm>
            <a:off x="2628900" y="5764529"/>
            <a:ext cx="320040" cy="3009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endParaRPr kumimoji="1" lang="zh-CN" altLang="en-US" dirty="0"/>
          </a:p>
        </p:txBody>
      </p:sp>
      <p:sp>
        <p:nvSpPr>
          <p:cNvPr id="124" name="矩形 123">
            <a:extLst>
              <a:ext uri="{FF2B5EF4-FFF2-40B4-BE49-F238E27FC236}">
                <a16:creationId xmlns:a16="http://schemas.microsoft.com/office/drawing/2014/main" id="{BC3D7C84-A3DD-1AD5-AE83-90F88D348FF7}"/>
              </a:ext>
            </a:extLst>
          </p:cNvPr>
          <p:cNvSpPr/>
          <p:nvPr/>
        </p:nvSpPr>
        <p:spPr>
          <a:xfrm>
            <a:off x="3653790" y="5783579"/>
            <a:ext cx="320040" cy="3009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5</a:t>
            </a:r>
            <a:endParaRPr kumimoji="1" lang="zh-CN" altLang="en-US" dirty="0"/>
          </a:p>
        </p:txBody>
      </p:sp>
      <p:sp>
        <p:nvSpPr>
          <p:cNvPr id="125" name="矩形 124">
            <a:extLst>
              <a:ext uri="{FF2B5EF4-FFF2-40B4-BE49-F238E27FC236}">
                <a16:creationId xmlns:a16="http://schemas.microsoft.com/office/drawing/2014/main" id="{E18A5C0E-B470-69EB-C783-4A4F846108B8}"/>
              </a:ext>
            </a:extLst>
          </p:cNvPr>
          <p:cNvSpPr/>
          <p:nvPr/>
        </p:nvSpPr>
        <p:spPr>
          <a:xfrm>
            <a:off x="4636770" y="5783579"/>
            <a:ext cx="320040" cy="3009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6</a:t>
            </a:r>
            <a:endParaRPr kumimoji="1" lang="zh-CN" altLang="en-US" dirty="0"/>
          </a:p>
        </p:txBody>
      </p:sp>
      <p:sp>
        <p:nvSpPr>
          <p:cNvPr id="126" name="矩形 125">
            <a:extLst>
              <a:ext uri="{FF2B5EF4-FFF2-40B4-BE49-F238E27FC236}">
                <a16:creationId xmlns:a16="http://schemas.microsoft.com/office/drawing/2014/main" id="{7E10B7C4-16AB-EA79-DDFC-6A4605DDD14D}"/>
              </a:ext>
            </a:extLst>
          </p:cNvPr>
          <p:cNvSpPr/>
          <p:nvPr/>
        </p:nvSpPr>
        <p:spPr>
          <a:xfrm>
            <a:off x="5574030" y="5798819"/>
            <a:ext cx="320040" cy="3009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7</a:t>
            </a:r>
            <a:endParaRPr kumimoji="1" lang="zh-CN" altLang="en-US" dirty="0"/>
          </a:p>
        </p:txBody>
      </p:sp>
      <p:sp>
        <p:nvSpPr>
          <p:cNvPr id="127" name="矩形 126">
            <a:extLst>
              <a:ext uri="{FF2B5EF4-FFF2-40B4-BE49-F238E27FC236}">
                <a16:creationId xmlns:a16="http://schemas.microsoft.com/office/drawing/2014/main" id="{31D6285A-653F-7B1E-16B3-B133584C986F}"/>
              </a:ext>
            </a:extLst>
          </p:cNvPr>
          <p:cNvSpPr/>
          <p:nvPr/>
        </p:nvSpPr>
        <p:spPr>
          <a:xfrm>
            <a:off x="6614160" y="5798819"/>
            <a:ext cx="320040" cy="3009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0</a:t>
            </a:r>
            <a:endParaRPr kumimoji="1" lang="zh-CN" altLang="en-US" dirty="0"/>
          </a:p>
        </p:txBody>
      </p:sp>
      <p:sp>
        <p:nvSpPr>
          <p:cNvPr id="128" name="矩形 127">
            <a:extLst>
              <a:ext uri="{FF2B5EF4-FFF2-40B4-BE49-F238E27FC236}">
                <a16:creationId xmlns:a16="http://schemas.microsoft.com/office/drawing/2014/main" id="{F5105EC1-5C40-4FB0-2AB8-027B15BC14F8}"/>
              </a:ext>
            </a:extLst>
          </p:cNvPr>
          <p:cNvSpPr/>
          <p:nvPr/>
        </p:nvSpPr>
        <p:spPr>
          <a:xfrm>
            <a:off x="7654290" y="5732144"/>
            <a:ext cx="320040" cy="3009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129" name="矩形 128">
            <a:extLst>
              <a:ext uri="{FF2B5EF4-FFF2-40B4-BE49-F238E27FC236}">
                <a16:creationId xmlns:a16="http://schemas.microsoft.com/office/drawing/2014/main" id="{F4913468-388E-0F6D-7070-205BEA5260E1}"/>
              </a:ext>
            </a:extLst>
          </p:cNvPr>
          <p:cNvSpPr/>
          <p:nvPr/>
        </p:nvSpPr>
        <p:spPr>
          <a:xfrm>
            <a:off x="4189095" y="5301613"/>
            <a:ext cx="320040" cy="30099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Tree>
    <p:extLst>
      <p:ext uri="{BB962C8B-B14F-4D97-AF65-F5344CB8AC3E}">
        <p14:creationId xmlns:p14="http://schemas.microsoft.com/office/powerpoint/2010/main" val="17182178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295275" y="422752"/>
            <a:ext cx="10515600" cy="515184"/>
          </a:xfrm>
        </p:spPr>
        <p:txBody>
          <a:bodyPr/>
          <a:lstStyle/>
          <a:p>
            <a:r>
              <a:rPr lang="zh-CN" altLang="en-US" dirty="0"/>
              <a:t>流水优化</a:t>
            </a:r>
            <a:r>
              <a:rPr lang="en-US" altLang="zh-CN" dirty="0"/>
              <a:t>-</a:t>
            </a:r>
            <a:r>
              <a:rPr lang="en-US" altLang="zh-CN" dirty="0" err="1"/>
              <a:t>SIMD_Reduce+RMA_COL_PUT_MatC</a:t>
            </a:r>
            <a:endParaRPr lang="zh-CN" altLang="en-US" dirty="0"/>
          </a:p>
        </p:txBody>
      </p:sp>
      <p:sp>
        <p:nvSpPr>
          <p:cNvPr id="5" name="文本框 4">
            <a:extLst>
              <a:ext uri="{FF2B5EF4-FFF2-40B4-BE49-F238E27FC236}">
                <a16:creationId xmlns:a16="http://schemas.microsoft.com/office/drawing/2014/main" id="{1D37FC6C-D37F-4BF6-5D20-96BC32C8770C}"/>
              </a:ext>
            </a:extLst>
          </p:cNvPr>
          <p:cNvSpPr txBox="1"/>
          <p:nvPr/>
        </p:nvSpPr>
        <p:spPr>
          <a:xfrm>
            <a:off x="295274" y="800537"/>
            <a:ext cx="8951595" cy="1200329"/>
          </a:xfrm>
          <a:prstGeom prst="rect">
            <a:avLst/>
          </a:prstGeom>
          <a:noFill/>
        </p:spPr>
        <p:txBody>
          <a:bodyPr wrap="square" rtlCol="0">
            <a:spAutoFit/>
          </a:bodyPr>
          <a:lstStyle/>
          <a:p>
            <a:r>
              <a:rPr kumimoji="1" lang="zh-CN" altLang="en-US" dirty="0">
                <a:latin typeface="SimSun" panose="02010600030101010101" pitchFamily="2" charset="-122"/>
                <a:ea typeface="SimSun" panose="02010600030101010101" pitchFamily="2" charset="-122"/>
              </a:rPr>
              <a:t>这两个模块是为了将一列从核上的</a:t>
            </a:r>
            <a:r>
              <a:rPr kumimoji="1" lang="en-US" altLang="zh-CN" dirty="0">
                <a:latin typeface="SimSun" panose="02010600030101010101" pitchFamily="2" charset="-122"/>
                <a:ea typeface="SimSun" panose="02010600030101010101" pitchFamily="2" charset="-122"/>
              </a:rPr>
              <a:t>[M2,N2]</a:t>
            </a:r>
            <a:r>
              <a:rPr kumimoji="1" lang="zh-CN" altLang="en-US" dirty="0">
                <a:latin typeface="SimSun" panose="02010600030101010101" pitchFamily="2" charset="-122"/>
                <a:ea typeface="SimSun" panose="02010600030101010101" pitchFamily="2" charset="-122"/>
              </a:rPr>
              <a:t>的块进行</a:t>
            </a:r>
            <a:r>
              <a:rPr kumimoji="1" lang="en-US" altLang="zh-CN" dirty="0">
                <a:latin typeface="SimSun" panose="02010600030101010101" pitchFamily="2" charset="-122"/>
                <a:ea typeface="SimSun" panose="02010600030101010101" pitchFamily="2" charset="-122"/>
              </a:rPr>
              <a:t>reduce</a:t>
            </a:r>
            <a:r>
              <a:rPr kumimoji="1" lang="zh-CN" altLang="en-US" dirty="0">
                <a:latin typeface="SimSun" panose="02010600030101010101" pitchFamily="2" charset="-122"/>
                <a:ea typeface="SimSun" panose="02010600030101010101" pitchFamily="2" charset="-122"/>
              </a:rPr>
              <a:t>。得到</a:t>
            </a:r>
            <a:r>
              <a:rPr kumimoji="1" lang="en-US" altLang="zh-CN" dirty="0">
                <a:latin typeface="SimSun" panose="02010600030101010101" pitchFamily="2" charset="-122"/>
                <a:ea typeface="SimSun" panose="02010600030101010101" pitchFamily="2" charset="-122"/>
              </a:rPr>
              <a:t>K1</a:t>
            </a:r>
            <a:r>
              <a:rPr kumimoji="1" lang="zh-CN" altLang="en-US" dirty="0">
                <a:latin typeface="SimSun" panose="02010600030101010101" pitchFamily="2" charset="-122"/>
                <a:ea typeface="SimSun" panose="02010600030101010101" pitchFamily="2" charset="-122"/>
              </a:rPr>
              <a:t>维度上的累加结果。</a:t>
            </a:r>
            <a:endParaRPr kumimoji="1" lang="en-US" altLang="zh-CN" dirty="0">
              <a:latin typeface="SimSun" panose="02010600030101010101" pitchFamily="2" charset="-122"/>
              <a:ea typeface="SimSun" panose="02010600030101010101" pitchFamily="2" charset="-122"/>
            </a:endParaRPr>
          </a:p>
          <a:p>
            <a:r>
              <a:rPr kumimoji="1" lang="zh-CN" altLang="en-US" dirty="0">
                <a:latin typeface="SimSun" panose="02010600030101010101" pitchFamily="2" charset="-122"/>
                <a:ea typeface="SimSun" panose="02010600030101010101" pitchFamily="2" charset="-122"/>
              </a:rPr>
              <a:t>目前采用的是</a:t>
            </a:r>
            <a:r>
              <a:rPr kumimoji="1" lang="en-US" altLang="zh-CN" dirty="0" err="1">
                <a:latin typeface="SimSun" panose="02010600030101010101" pitchFamily="2" charset="-122"/>
                <a:ea typeface="SimSun" panose="02010600030101010101" pitchFamily="2" charset="-122"/>
              </a:rPr>
              <a:t>Reduce_Scatter</a:t>
            </a:r>
            <a:r>
              <a:rPr kumimoji="1" lang="zh-CN" altLang="en-US" dirty="0">
                <a:latin typeface="SimSun" panose="02010600030101010101" pitchFamily="2" charset="-122"/>
                <a:ea typeface="SimSun" panose="02010600030101010101" pitchFamily="2" charset="-122"/>
              </a:rPr>
              <a:t>的方式，每个从核先将自己</a:t>
            </a:r>
            <a:r>
              <a:rPr kumimoji="1" lang="en-US" altLang="zh-CN" dirty="0">
                <a:latin typeface="SimSun" panose="02010600030101010101" pitchFamily="2" charset="-122"/>
                <a:ea typeface="SimSun" panose="02010600030101010101" pitchFamily="2" charset="-122"/>
              </a:rPr>
              <a:t>[M2</a:t>
            </a:r>
            <a:r>
              <a:rPr kumimoji="1" lang="zh-CN" altLang="en-US" dirty="0">
                <a:latin typeface="SimSun" panose="02010600030101010101" pitchFamily="2" charset="-122"/>
                <a:ea typeface="SimSun" panose="02010600030101010101" pitchFamily="2" charset="-122"/>
              </a:rPr>
              <a:t>*</a:t>
            </a:r>
            <a:r>
              <a:rPr kumimoji="1" lang="en-US" altLang="zh-CN" dirty="0">
                <a:latin typeface="SimSun" panose="02010600030101010101" pitchFamily="2" charset="-122"/>
                <a:ea typeface="SimSun" panose="02010600030101010101" pitchFamily="2" charset="-122"/>
              </a:rPr>
              <a:t>3/4,N2]</a:t>
            </a:r>
            <a:r>
              <a:rPr kumimoji="1" lang="zh-CN" altLang="en-US" dirty="0">
                <a:latin typeface="SimSun" panose="02010600030101010101" pitchFamily="2" charset="-122"/>
                <a:ea typeface="SimSun" panose="02010600030101010101" pitchFamily="2" charset="-122"/>
              </a:rPr>
              <a:t>的块分别</a:t>
            </a:r>
            <a:r>
              <a:rPr kumimoji="1" lang="en-US" altLang="zh-CN" dirty="0">
                <a:latin typeface="SimSun" panose="02010600030101010101" pitchFamily="2" charset="-122"/>
                <a:ea typeface="SimSun" panose="02010600030101010101" pitchFamily="2" charset="-122"/>
              </a:rPr>
              <a:t>Put</a:t>
            </a:r>
            <a:r>
              <a:rPr kumimoji="1" lang="zh-CN" altLang="en-US" dirty="0">
                <a:latin typeface="SimSun" panose="02010600030101010101" pitchFamily="2" charset="-122"/>
                <a:ea typeface="SimSun" panose="02010600030101010101" pitchFamily="2" charset="-122"/>
              </a:rPr>
              <a:t>给列上的其余三个从核，并负责完成</a:t>
            </a:r>
            <a:r>
              <a:rPr kumimoji="1" lang="en-US" altLang="zh-CN" dirty="0">
                <a:latin typeface="SimSun" panose="02010600030101010101" pitchFamily="2" charset="-122"/>
                <a:ea typeface="SimSun" panose="02010600030101010101" pitchFamily="2" charset="-122"/>
              </a:rPr>
              <a:t>[M2/4,</a:t>
            </a:r>
            <a:r>
              <a:rPr kumimoji="1" lang="zh-CN" altLang="en-US" dirty="0">
                <a:latin typeface="SimSun" panose="02010600030101010101" pitchFamily="2" charset="-122"/>
                <a:ea typeface="SimSun" panose="02010600030101010101" pitchFamily="2" charset="-122"/>
              </a:rPr>
              <a:t> </a:t>
            </a:r>
            <a:r>
              <a:rPr kumimoji="1" lang="en-US" altLang="zh-CN" dirty="0">
                <a:latin typeface="SimSun" panose="02010600030101010101" pitchFamily="2" charset="-122"/>
                <a:ea typeface="SimSun" panose="02010600030101010101" pitchFamily="2" charset="-122"/>
              </a:rPr>
              <a:t>N2]</a:t>
            </a:r>
            <a:r>
              <a:rPr kumimoji="1" lang="zh-CN" altLang="en-US" dirty="0">
                <a:latin typeface="SimSun" panose="02010600030101010101" pitchFamily="2" charset="-122"/>
                <a:ea typeface="SimSun" panose="02010600030101010101" pitchFamily="2" charset="-122"/>
              </a:rPr>
              <a:t>的</a:t>
            </a:r>
            <a:r>
              <a:rPr kumimoji="1" lang="en-US" altLang="zh-CN" dirty="0">
                <a:latin typeface="SimSun" panose="02010600030101010101" pitchFamily="2" charset="-122"/>
                <a:ea typeface="SimSun" panose="02010600030101010101" pitchFamily="2" charset="-122"/>
              </a:rPr>
              <a:t>Reduce</a:t>
            </a:r>
            <a:r>
              <a:rPr kumimoji="1" lang="zh-CN" altLang="en-US" dirty="0">
                <a:latin typeface="SimSun" panose="02010600030101010101" pitchFamily="2" charset="-122"/>
                <a:ea typeface="SimSun" panose="02010600030101010101" pitchFamily="2" charset="-122"/>
              </a:rPr>
              <a:t>。</a:t>
            </a:r>
            <a:endParaRPr kumimoji="1" lang="en-US" altLang="zh-CN" dirty="0">
              <a:latin typeface="SimSun" panose="02010600030101010101" pitchFamily="2" charset="-122"/>
              <a:ea typeface="SimSun" panose="02010600030101010101" pitchFamily="2" charset="-122"/>
            </a:endParaRPr>
          </a:p>
          <a:p>
            <a:r>
              <a:rPr kumimoji="1" lang="zh-CN" altLang="en-US" dirty="0">
                <a:latin typeface="SimSun" panose="02010600030101010101" pitchFamily="2" charset="-122"/>
                <a:ea typeface="SimSun" panose="02010600030101010101" pitchFamily="2" charset="-122"/>
              </a:rPr>
              <a:t>所需要的</a:t>
            </a:r>
            <a:r>
              <a:rPr kumimoji="1" lang="en-US" altLang="zh-CN" dirty="0">
                <a:latin typeface="SimSun" panose="02010600030101010101" pitchFamily="2" charset="-122"/>
                <a:ea typeface="SimSun" panose="02010600030101010101" pitchFamily="2" charset="-122"/>
              </a:rPr>
              <a:t>LDM</a:t>
            </a:r>
            <a:r>
              <a:rPr kumimoji="1" lang="zh-CN" altLang="en-US" dirty="0">
                <a:latin typeface="SimSun" panose="02010600030101010101" pitchFamily="2" charset="-122"/>
                <a:ea typeface="SimSun" panose="02010600030101010101" pitchFamily="2" charset="-122"/>
              </a:rPr>
              <a:t>内存为</a:t>
            </a:r>
            <a:r>
              <a:rPr kumimoji="1" lang="en-US" altLang="zh-CN" dirty="0">
                <a:latin typeface="SimSun" panose="02010600030101010101" pitchFamily="2" charset="-122"/>
                <a:ea typeface="SimSun" panose="02010600030101010101" pitchFamily="2" charset="-122"/>
              </a:rPr>
              <a:t>:</a:t>
            </a:r>
            <a:r>
              <a:rPr kumimoji="1" lang="zh-CN" altLang="en-US" dirty="0">
                <a:latin typeface="SimSun" panose="02010600030101010101" pitchFamily="2" charset="-122"/>
                <a:ea typeface="SimSun" panose="02010600030101010101" pitchFamily="2" charset="-122"/>
              </a:rPr>
              <a:t> </a:t>
            </a:r>
            <a:r>
              <a:rPr kumimoji="1" lang="en-US" altLang="zh-CN" dirty="0">
                <a:latin typeface="SimSun" panose="02010600030101010101" pitchFamily="2" charset="-122"/>
                <a:ea typeface="SimSun" panose="02010600030101010101" pitchFamily="2" charset="-122"/>
              </a:rPr>
              <a:t>LDM_SIMD_REDUCE=3</a:t>
            </a:r>
            <a:r>
              <a:rPr kumimoji="1" lang="zh-CN" altLang="en-US" dirty="0">
                <a:latin typeface="SimSun" panose="02010600030101010101" pitchFamily="2" charset="-122"/>
                <a:ea typeface="SimSun" panose="02010600030101010101" pitchFamily="2" charset="-122"/>
              </a:rPr>
              <a:t>*</a:t>
            </a:r>
            <a:r>
              <a:rPr kumimoji="1" lang="en-US" altLang="zh-CN" dirty="0">
                <a:latin typeface="SimSun" panose="02010600030101010101" pitchFamily="2" charset="-122"/>
                <a:ea typeface="SimSun" panose="02010600030101010101" pitchFamily="2" charset="-122"/>
              </a:rPr>
              <a:t>M2/4</a:t>
            </a:r>
            <a:r>
              <a:rPr kumimoji="1" lang="zh-CN" altLang="en-US" dirty="0">
                <a:latin typeface="SimSun" panose="02010600030101010101" pitchFamily="2" charset="-122"/>
                <a:ea typeface="SimSun" panose="02010600030101010101" pitchFamily="2" charset="-122"/>
              </a:rPr>
              <a:t>*</a:t>
            </a:r>
            <a:r>
              <a:rPr kumimoji="1" lang="en-US" altLang="zh-CN" dirty="0">
                <a:latin typeface="SimSun" panose="02010600030101010101" pitchFamily="2" charset="-122"/>
                <a:ea typeface="SimSun" panose="02010600030101010101" pitchFamily="2" charset="-122"/>
              </a:rPr>
              <a:t>N2</a:t>
            </a:r>
            <a:r>
              <a:rPr kumimoji="1" lang="zh-CN" altLang="en-US" dirty="0">
                <a:latin typeface="SimSun" panose="02010600030101010101" pitchFamily="2" charset="-122"/>
                <a:ea typeface="SimSun" panose="02010600030101010101" pitchFamily="2" charset="-122"/>
              </a:rPr>
              <a:t>*</a:t>
            </a:r>
            <a:r>
              <a:rPr kumimoji="1" lang="en-US" altLang="zh-CN" dirty="0" err="1">
                <a:latin typeface="SimSun" panose="02010600030101010101" pitchFamily="2" charset="-122"/>
                <a:ea typeface="SimSun" panose="02010600030101010101" pitchFamily="2" charset="-122"/>
              </a:rPr>
              <a:t>sizeof</a:t>
            </a:r>
            <a:r>
              <a:rPr kumimoji="1" lang="en-US" altLang="zh-CN" dirty="0">
                <a:latin typeface="SimSun" panose="02010600030101010101" pitchFamily="2" charset="-122"/>
                <a:ea typeface="SimSun" panose="02010600030101010101" pitchFamily="2" charset="-122"/>
              </a:rPr>
              <a:t>(float)</a:t>
            </a:r>
          </a:p>
        </p:txBody>
      </p:sp>
      <p:sp>
        <p:nvSpPr>
          <p:cNvPr id="6" name="矩形 5">
            <a:extLst>
              <a:ext uri="{FF2B5EF4-FFF2-40B4-BE49-F238E27FC236}">
                <a16:creationId xmlns:a16="http://schemas.microsoft.com/office/drawing/2014/main" id="{47D68DCE-47C1-ED7D-9AFF-2B1E1C4200C7}"/>
              </a:ext>
            </a:extLst>
          </p:cNvPr>
          <p:cNvSpPr/>
          <p:nvPr/>
        </p:nvSpPr>
        <p:spPr>
          <a:xfrm>
            <a:off x="582930" y="2366010"/>
            <a:ext cx="1280160" cy="36576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0</a:t>
            </a:r>
            <a:endParaRPr kumimoji="1" lang="zh-CN" altLang="en-US" dirty="0"/>
          </a:p>
        </p:txBody>
      </p:sp>
      <p:sp>
        <p:nvSpPr>
          <p:cNvPr id="7" name="矩形 6">
            <a:extLst>
              <a:ext uri="{FF2B5EF4-FFF2-40B4-BE49-F238E27FC236}">
                <a16:creationId xmlns:a16="http://schemas.microsoft.com/office/drawing/2014/main" id="{4F90372C-ABFB-AFE8-DC31-2C0345D11AB3}"/>
              </a:ext>
            </a:extLst>
          </p:cNvPr>
          <p:cNvSpPr/>
          <p:nvPr/>
        </p:nvSpPr>
        <p:spPr>
          <a:xfrm>
            <a:off x="582930" y="2731770"/>
            <a:ext cx="1280160" cy="36576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8" name="矩形 7">
            <a:extLst>
              <a:ext uri="{FF2B5EF4-FFF2-40B4-BE49-F238E27FC236}">
                <a16:creationId xmlns:a16="http://schemas.microsoft.com/office/drawing/2014/main" id="{F742E682-EC3E-49B2-60E0-5D7050E82C18}"/>
              </a:ext>
            </a:extLst>
          </p:cNvPr>
          <p:cNvSpPr/>
          <p:nvPr/>
        </p:nvSpPr>
        <p:spPr>
          <a:xfrm>
            <a:off x="582930" y="3097530"/>
            <a:ext cx="1280160" cy="36576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9" name="矩形 8">
            <a:extLst>
              <a:ext uri="{FF2B5EF4-FFF2-40B4-BE49-F238E27FC236}">
                <a16:creationId xmlns:a16="http://schemas.microsoft.com/office/drawing/2014/main" id="{6DCA1E70-F8CA-744E-2795-E1999D617FE5}"/>
              </a:ext>
            </a:extLst>
          </p:cNvPr>
          <p:cNvSpPr/>
          <p:nvPr/>
        </p:nvSpPr>
        <p:spPr>
          <a:xfrm>
            <a:off x="582930" y="3463290"/>
            <a:ext cx="1280160" cy="36576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10" name="矩形 9">
            <a:extLst>
              <a:ext uri="{FF2B5EF4-FFF2-40B4-BE49-F238E27FC236}">
                <a16:creationId xmlns:a16="http://schemas.microsoft.com/office/drawing/2014/main" id="{1ECC3816-A5E4-D7E3-F46C-D7E5755B56EF}"/>
              </a:ext>
            </a:extLst>
          </p:cNvPr>
          <p:cNvSpPr/>
          <p:nvPr/>
        </p:nvSpPr>
        <p:spPr>
          <a:xfrm>
            <a:off x="2598420" y="2334220"/>
            <a:ext cx="1280160" cy="36576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0</a:t>
            </a:r>
            <a:endParaRPr kumimoji="1" lang="zh-CN" altLang="en-US" dirty="0"/>
          </a:p>
        </p:txBody>
      </p:sp>
      <p:sp>
        <p:nvSpPr>
          <p:cNvPr id="11" name="矩形 10">
            <a:extLst>
              <a:ext uri="{FF2B5EF4-FFF2-40B4-BE49-F238E27FC236}">
                <a16:creationId xmlns:a16="http://schemas.microsoft.com/office/drawing/2014/main" id="{851B6AC4-BC9C-E76E-204A-107327D279F3}"/>
              </a:ext>
            </a:extLst>
          </p:cNvPr>
          <p:cNvSpPr/>
          <p:nvPr/>
        </p:nvSpPr>
        <p:spPr>
          <a:xfrm>
            <a:off x="2598420" y="2699980"/>
            <a:ext cx="1280160" cy="36576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12" name="矩形 11">
            <a:extLst>
              <a:ext uri="{FF2B5EF4-FFF2-40B4-BE49-F238E27FC236}">
                <a16:creationId xmlns:a16="http://schemas.microsoft.com/office/drawing/2014/main" id="{598D9981-5EFB-AE40-8C2D-C16741FDDE0B}"/>
              </a:ext>
            </a:extLst>
          </p:cNvPr>
          <p:cNvSpPr/>
          <p:nvPr/>
        </p:nvSpPr>
        <p:spPr>
          <a:xfrm>
            <a:off x="2598420" y="3065740"/>
            <a:ext cx="1280160" cy="36576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13" name="矩形 12">
            <a:extLst>
              <a:ext uri="{FF2B5EF4-FFF2-40B4-BE49-F238E27FC236}">
                <a16:creationId xmlns:a16="http://schemas.microsoft.com/office/drawing/2014/main" id="{0CCF94BA-C958-540B-A22F-0AB5499E69C1}"/>
              </a:ext>
            </a:extLst>
          </p:cNvPr>
          <p:cNvSpPr/>
          <p:nvPr/>
        </p:nvSpPr>
        <p:spPr>
          <a:xfrm>
            <a:off x="2598420" y="3431500"/>
            <a:ext cx="1280160" cy="36576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14" name="矩形 13">
            <a:extLst>
              <a:ext uri="{FF2B5EF4-FFF2-40B4-BE49-F238E27FC236}">
                <a16:creationId xmlns:a16="http://schemas.microsoft.com/office/drawing/2014/main" id="{8610EEEC-5193-0381-8777-43E17896272C}"/>
              </a:ext>
            </a:extLst>
          </p:cNvPr>
          <p:cNvSpPr/>
          <p:nvPr/>
        </p:nvSpPr>
        <p:spPr>
          <a:xfrm>
            <a:off x="4815840" y="2334220"/>
            <a:ext cx="1280160" cy="365760"/>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0</a:t>
            </a:r>
            <a:endParaRPr kumimoji="1" lang="zh-CN" altLang="en-US" dirty="0"/>
          </a:p>
        </p:txBody>
      </p:sp>
      <p:sp>
        <p:nvSpPr>
          <p:cNvPr id="15" name="矩形 14">
            <a:extLst>
              <a:ext uri="{FF2B5EF4-FFF2-40B4-BE49-F238E27FC236}">
                <a16:creationId xmlns:a16="http://schemas.microsoft.com/office/drawing/2014/main" id="{E7C7021E-1A19-74E7-EBE7-1964097B769C}"/>
              </a:ext>
            </a:extLst>
          </p:cNvPr>
          <p:cNvSpPr/>
          <p:nvPr/>
        </p:nvSpPr>
        <p:spPr>
          <a:xfrm>
            <a:off x="4815840" y="2699980"/>
            <a:ext cx="1280160" cy="365760"/>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16" name="矩形 15">
            <a:extLst>
              <a:ext uri="{FF2B5EF4-FFF2-40B4-BE49-F238E27FC236}">
                <a16:creationId xmlns:a16="http://schemas.microsoft.com/office/drawing/2014/main" id="{7EBB20EC-A63D-3C1B-3E8D-FD496EF3DBA2}"/>
              </a:ext>
            </a:extLst>
          </p:cNvPr>
          <p:cNvSpPr/>
          <p:nvPr/>
        </p:nvSpPr>
        <p:spPr>
          <a:xfrm>
            <a:off x="4815840" y="3065740"/>
            <a:ext cx="1280160" cy="365760"/>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17" name="矩形 16">
            <a:extLst>
              <a:ext uri="{FF2B5EF4-FFF2-40B4-BE49-F238E27FC236}">
                <a16:creationId xmlns:a16="http://schemas.microsoft.com/office/drawing/2014/main" id="{3F0F9C09-4F43-7E59-FBAC-06698CAE0F22}"/>
              </a:ext>
            </a:extLst>
          </p:cNvPr>
          <p:cNvSpPr/>
          <p:nvPr/>
        </p:nvSpPr>
        <p:spPr>
          <a:xfrm>
            <a:off x="4815840" y="3431500"/>
            <a:ext cx="1280160" cy="365760"/>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18" name="矩形 17">
            <a:extLst>
              <a:ext uri="{FF2B5EF4-FFF2-40B4-BE49-F238E27FC236}">
                <a16:creationId xmlns:a16="http://schemas.microsoft.com/office/drawing/2014/main" id="{74237F18-D796-E346-0084-936AB27C5892}"/>
              </a:ext>
            </a:extLst>
          </p:cNvPr>
          <p:cNvSpPr/>
          <p:nvPr/>
        </p:nvSpPr>
        <p:spPr>
          <a:xfrm>
            <a:off x="6850380" y="2334220"/>
            <a:ext cx="1280160" cy="36576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0</a:t>
            </a:r>
            <a:endParaRPr kumimoji="1" lang="zh-CN" altLang="en-US" dirty="0"/>
          </a:p>
        </p:txBody>
      </p:sp>
      <p:sp>
        <p:nvSpPr>
          <p:cNvPr id="19" name="矩形 18">
            <a:extLst>
              <a:ext uri="{FF2B5EF4-FFF2-40B4-BE49-F238E27FC236}">
                <a16:creationId xmlns:a16="http://schemas.microsoft.com/office/drawing/2014/main" id="{EE993BA5-A07B-1DFC-DEBE-E18793857BE9}"/>
              </a:ext>
            </a:extLst>
          </p:cNvPr>
          <p:cNvSpPr/>
          <p:nvPr/>
        </p:nvSpPr>
        <p:spPr>
          <a:xfrm>
            <a:off x="6850380" y="2699980"/>
            <a:ext cx="1280160" cy="36576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20" name="矩形 19">
            <a:extLst>
              <a:ext uri="{FF2B5EF4-FFF2-40B4-BE49-F238E27FC236}">
                <a16:creationId xmlns:a16="http://schemas.microsoft.com/office/drawing/2014/main" id="{68461E36-A5E4-9A02-B11E-204D56048FB9}"/>
              </a:ext>
            </a:extLst>
          </p:cNvPr>
          <p:cNvSpPr/>
          <p:nvPr/>
        </p:nvSpPr>
        <p:spPr>
          <a:xfrm>
            <a:off x="6850380" y="3065740"/>
            <a:ext cx="1280160" cy="36576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21" name="矩形 20">
            <a:extLst>
              <a:ext uri="{FF2B5EF4-FFF2-40B4-BE49-F238E27FC236}">
                <a16:creationId xmlns:a16="http://schemas.microsoft.com/office/drawing/2014/main" id="{30B4341A-F427-7E1D-9860-8CCC2E392D03}"/>
              </a:ext>
            </a:extLst>
          </p:cNvPr>
          <p:cNvSpPr/>
          <p:nvPr/>
        </p:nvSpPr>
        <p:spPr>
          <a:xfrm>
            <a:off x="6850380" y="3431500"/>
            <a:ext cx="1280160" cy="36576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24" name="文本框 23">
            <a:extLst>
              <a:ext uri="{FF2B5EF4-FFF2-40B4-BE49-F238E27FC236}">
                <a16:creationId xmlns:a16="http://schemas.microsoft.com/office/drawing/2014/main" id="{13F226CE-880B-4413-2ADC-C07E45C0679B}"/>
              </a:ext>
            </a:extLst>
          </p:cNvPr>
          <p:cNvSpPr txBox="1"/>
          <p:nvPr/>
        </p:nvSpPr>
        <p:spPr>
          <a:xfrm>
            <a:off x="2598420" y="1962626"/>
            <a:ext cx="1200150" cy="369332"/>
          </a:xfrm>
          <a:prstGeom prst="rect">
            <a:avLst/>
          </a:prstGeom>
          <a:noFill/>
        </p:spPr>
        <p:txBody>
          <a:bodyPr wrap="square" rtlCol="0">
            <a:spAutoFit/>
          </a:bodyPr>
          <a:lstStyle/>
          <a:p>
            <a:r>
              <a:rPr kumimoji="1" lang="en-US" altLang="zh-CN" dirty="0"/>
              <a:t>8</a:t>
            </a:r>
            <a:r>
              <a:rPr kumimoji="1" lang="zh-CN" altLang="en-US" dirty="0"/>
              <a:t>号从核</a:t>
            </a:r>
          </a:p>
        </p:txBody>
      </p:sp>
      <p:sp>
        <p:nvSpPr>
          <p:cNvPr id="25" name="文本框 24">
            <a:extLst>
              <a:ext uri="{FF2B5EF4-FFF2-40B4-BE49-F238E27FC236}">
                <a16:creationId xmlns:a16="http://schemas.microsoft.com/office/drawing/2014/main" id="{17DD5E86-392D-F9F4-81FF-B76D58CFDF60}"/>
              </a:ext>
            </a:extLst>
          </p:cNvPr>
          <p:cNvSpPr txBox="1"/>
          <p:nvPr/>
        </p:nvSpPr>
        <p:spPr>
          <a:xfrm>
            <a:off x="702945" y="1974711"/>
            <a:ext cx="1200150" cy="369332"/>
          </a:xfrm>
          <a:prstGeom prst="rect">
            <a:avLst/>
          </a:prstGeom>
          <a:noFill/>
        </p:spPr>
        <p:txBody>
          <a:bodyPr wrap="square" rtlCol="0">
            <a:spAutoFit/>
          </a:bodyPr>
          <a:lstStyle/>
          <a:p>
            <a:r>
              <a:rPr kumimoji="1" lang="en-US" altLang="zh-CN" dirty="0"/>
              <a:t>0</a:t>
            </a:r>
            <a:r>
              <a:rPr kumimoji="1" lang="zh-CN" altLang="en-US" dirty="0"/>
              <a:t>号从核</a:t>
            </a:r>
          </a:p>
        </p:txBody>
      </p:sp>
      <p:sp>
        <p:nvSpPr>
          <p:cNvPr id="26" name="文本框 25">
            <a:extLst>
              <a:ext uri="{FF2B5EF4-FFF2-40B4-BE49-F238E27FC236}">
                <a16:creationId xmlns:a16="http://schemas.microsoft.com/office/drawing/2014/main" id="{BC1F4758-28E6-4B9D-26F0-68A0E7E0F367}"/>
              </a:ext>
            </a:extLst>
          </p:cNvPr>
          <p:cNvSpPr txBox="1"/>
          <p:nvPr/>
        </p:nvSpPr>
        <p:spPr>
          <a:xfrm>
            <a:off x="4953000" y="1912382"/>
            <a:ext cx="1200150" cy="369332"/>
          </a:xfrm>
          <a:prstGeom prst="rect">
            <a:avLst/>
          </a:prstGeom>
          <a:noFill/>
        </p:spPr>
        <p:txBody>
          <a:bodyPr wrap="square" rtlCol="0">
            <a:spAutoFit/>
          </a:bodyPr>
          <a:lstStyle/>
          <a:p>
            <a:r>
              <a:rPr kumimoji="1" lang="en-US" altLang="zh-CN" dirty="0"/>
              <a:t>16</a:t>
            </a:r>
            <a:r>
              <a:rPr kumimoji="1" lang="zh-CN" altLang="en-US" dirty="0"/>
              <a:t>号从核</a:t>
            </a:r>
          </a:p>
        </p:txBody>
      </p:sp>
      <p:sp>
        <p:nvSpPr>
          <p:cNvPr id="27" name="文本框 26">
            <a:extLst>
              <a:ext uri="{FF2B5EF4-FFF2-40B4-BE49-F238E27FC236}">
                <a16:creationId xmlns:a16="http://schemas.microsoft.com/office/drawing/2014/main" id="{427D06F9-6EDE-A5B8-4FC7-01164F2F6B53}"/>
              </a:ext>
            </a:extLst>
          </p:cNvPr>
          <p:cNvSpPr txBox="1"/>
          <p:nvPr/>
        </p:nvSpPr>
        <p:spPr>
          <a:xfrm>
            <a:off x="6890385" y="1904881"/>
            <a:ext cx="1200150" cy="369332"/>
          </a:xfrm>
          <a:prstGeom prst="rect">
            <a:avLst/>
          </a:prstGeom>
          <a:noFill/>
        </p:spPr>
        <p:txBody>
          <a:bodyPr wrap="square" rtlCol="0">
            <a:spAutoFit/>
          </a:bodyPr>
          <a:lstStyle/>
          <a:p>
            <a:r>
              <a:rPr kumimoji="1" lang="en-US" altLang="zh-CN" dirty="0"/>
              <a:t>24</a:t>
            </a:r>
            <a:r>
              <a:rPr kumimoji="1" lang="zh-CN" altLang="en-US" dirty="0"/>
              <a:t>号从核</a:t>
            </a:r>
          </a:p>
        </p:txBody>
      </p:sp>
      <p:sp>
        <p:nvSpPr>
          <p:cNvPr id="64" name="矩形 63">
            <a:extLst>
              <a:ext uri="{FF2B5EF4-FFF2-40B4-BE49-F238E27FC236}">
                <a16:creationId xmlns:a16="http://schemas.microsoft.com/office/drawing/2014/main" id="{DDB48198-A3E1-5083-0C2B-17D729293551}"/>
              </a:ext>
            </a:extLst>
          </p:cNvPr>
          <p:cNvSpPr/>
          <p:nvPr/>
        </p:nvSpPr>
        <p:spPr>
          <a:xfrm>
            <a:off x="491490" y="4091940"/>
            <a:ext cx="1280160" cy="36576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0</a:t>
            </a:r>
            <a:endParaRPr kumimoji="1" lang="zh-CN" altLang="en-US" dirty="0"/>
          </a:p>
        </p:txBody>
      </p:sp>
      <p:sp>
        <p:nvSpPr>
          <p:cNvPr id="131" name="矩形 130">
            <a:extLst>
              <a:ext uri="{FF2B5EF4-FFF2-40B4-BE49-F238E27FC236}">
                <a16:creationId xmlns:a16="http://schemas.microsoft.com/office/drawing/2014/main" id="{8B7EB19F-A84E-02C1-D7F8-A62E1053F587}"/>
              </a:ext>
            </a:extLst>
          </p:cNvPr>
          <p:cNvSpPr/>
          <p:nvPr/>
        </p:nvSpPr>
        <p:spPr>
          <a:xfrm>
            <a:off x="480060" y="4469130"/>
            <a:ext cx="1280160" cy="36576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0</a:t>
            </a:r>
            <a:endParaRPr kumimoji="1" lang="zh-CN" altLang="en-US" dirty="0"/>
          </a:p>
        </p:txBody>
      </p:sp>
      <p:sp>
        <p:nvSpPr>
          <p:cNvPr id="135" name="矩形 134">
            <a:extLst>
              <a:ext uri="{FF2B5EF4-FFF2-40B4-BE49-F238E27FC236}">
                <a16:creationId xmlns:a16="http://schemas.microsoft.com/office/drawing/2014/main" id="{E1E7DE3E-C974-9DFB-6330-78BB6428FB08}"/>
              </a:ext>
            </a:extLst>
          </p:cNvPr>
          <p:cNvSpPr/>
          <p:nvPr/>
        </p:nvSpPr>
        <p:spPr>
          <a:xfrm>
            <a:off x="464820" y="4860250"/>
            <a:ext cx="1280160" cy="365760"/>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0</a:t>
            </a:r>
            <a:endParaRPr kumimoji="1" lang="zh-CN" altLang="en-US" dirty="0"/>
          </a:p>
        </p:txBody>
      </p:sp>
      <p:sp>
        <p:nvSpPr>
          <p:cNvPr id="139" name="矩形 138">
            <a:extLst>
              <a:ext uri="{FF2B5EF4-FFF2-40B4-BE49-F238E27FC236}">
                <a16:creationId xmlns:a16="http://schemas.microsoft.com/office/drawing/2014/main" id="{7A40F197-6D34-94BA-3D47-EDEFA38404B8}"/>
              </a:ext>
            </a:extLst>
          </p:cNvPr>
          <p:cNvSpPr/>
          <p:nvPr/>
        </p:nvSpPr>
        <p:spPr>
          <a:xfrm>
            <a:off x="464820" y="5226010"/>
            <a:ext cx="1280160" cy="36576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0</a:t>
            </a:r>
            <a:endParaRPr kumimoji="1" lang="zh-CN" altLang="en-US" dirty="0"/>
          </a:p>
        </p:txBody>
      </p:sp>
      <p:sp>
        <p:nvSpPr>
          <p:cNvPr id="143" name="矩形 142">
            <a:extLst>
              <a:ext uri="{FF2B5EF4-FFF2-40B4-BE49-F238E27FC236}">
                <a16:creationId xmlns:a16="http://schemas.microsoft.com/office/drawing/2014/main" id="{755362F0-81F8-A325-954A-456930D7CD0C}"/>
              </a:ext>
            </a:extLst>
          </p:cNvPr>
          <p:cNvSpPr/>
          <p:nvPr/>
        </p:nvSpPr>
        <p:spPr>
          <a:xfrm>
            <a:off x="2449830" y="4069080"/>
            <a:ext cx="1280160" cy="36576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144" name="矩形 143">
            <a:extLst>
              <a:ext uri="{FF2B5EF4-FFF2-40B4-BE49-F238E27FC236}">
                <a16:creationId xmlns:a16="http://schemas.microsoft.com/office/drawing/2014/main" id="{60086625-394E-40BC-3557-247A96CAE825}"/>
              </a:ext>
            </a:extLst>
          </p:cNvPr>
          <p:cNvSpPr/>
          <p:nvPr/>
        </p:nvSpPr>
        <p:spPr>
          <a:xfrm>
            <a:off x="2438400" y="4446270"/>
            <a:ext cx="1280160" cy="36576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145" name="矩形 144">
            <a:extLst>
              <a:ext uri="{FF2B5EF4-FFF2-40B4-BE49-F238E27FC236}">
                <a16:creationId xmlns:a16="http://schemas.microsoft.com/office/drawing/2014/main" id="{48EC9F45-DD87-4C6E-AF7C-C92CDB326397}"/>
              </a:ext>
            </a:extLst>
          </p:cNvPr>
          <p:cNvSpPr/>
          <p:nvPr/>
        </p:nvSpPr>
        <p:spPr>
          <a:xfrm>
            <a:off x="2423160" y="4825960"/>
            <a:ext cx="1280160" cy="365760"/>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146" name="矩形 145">
            <a:extLst>
              <a:ext uri="{FF2B5EF4-FFF2-40B4-BE49-F238E27FC236}">
                <a16:creationId xmlns:a16="http://schemas.microsoft.com/office/drawing/2014/main" id="{A78FC01A-0EFF-787D-117D-14A9C903D5B2}"/>
              </a:ext>
            </a:extLst>
          </p:cNvPr>
          <p:cNvSpPr/>
          <p:nvPr/>
        </p:nvSpPr>
        <p:spPr>
          <a:xfrm>
            <a:off x="2423160" y="5191720"/>
            <a:ext cx="1280160" cy="36576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147" name="矩形 146">
            <a:extLst>
              <a:ext uri="{FF2B5EF4-FFF2-40B4-BE49-F238E27FC236}">
                <a16:creationId xmlns:a16="http://schemas.microsoft.com/office/drawing/2014/main" id="{2967A9C1-921E-7E72-149D-2CB1825563BA}"/>
              </a:ext>
            </a:extLst>
          </p:cNvPr>
          <p:cNvSpPr/>
          <p:nvPr/>
        </p:nvSpPr>
        <p:spPr>
          <a:xfrm>
            <a:off x="4804410" y="4080510"/>
            <a:ext cx="1280160" cy="36576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148" name="矩形 147">
            <a:extLst>
              <a:ext uri="{FF2B5EF4-FFF2-40B4-BE49-F238E27FC236}">
                <a16:creationId xmlns:a16="http://schemas.microsoft.com/office/drawing/2014/main" id="{0BD9E4BE-7A94-DCAE-BB1B-2B06B5DC8EEF}"/>
              </a:ext>
            </a:extLst>
          </p:cNvPr>
          <p:cNvSpPr/>
          <p:nvPr/>
        </p:nvSpPr>
        <p:spPr>
          <a:xfrm>
            <a:off x="4792980" y="4457700"/>
            <a:ext cx="1280160" cy="36576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149" name="矩形 148">
            <a:extLst>
              <a:ext uri="{FF2B5EF4-FFF2-40B4-BE49-F238E27FC236}">
                <a16:creationId xmlns:a16="http://schemas.microsoft.com/office/drawing/2014/main" id="{7E7CC7E4-644B-8F7E-2DFE-4ED080F1C630}"/>
              </a:ext>
            </a:extLst>
          </p:cNvPr>
          <p:cNvSpPr/>
          <p:nvPr/>
        </p:nvSpPr>
        <p:spPr>
          <a:xfrm>
            <a:off x="4777740" y="4848820"/>
            <a:ext cx="1280160" cy="365760"/>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150" name="矩形 149">
            <a:extLst>
              <a:ext uri="{FF2B5EF4-FFF2-40B4-BE49-F238E27FC236}">
                <a16:creationId xmlns:a16="http://schemas.microsoft.com/office/drawing/2014/main" id="{4F590596-DEAE-60E2-11EE-998F197AEE2F}"/>
              </a:ext>
            </a:extLst>
          </p:cNvPr>
          <p:cNvSpPr/>
          <p:nvPr/>
        </p:nvSpPr>
        <p:spPr>
          <a:xfrm>
            <a:off x="4777740" y="5214580"/>
            <a:ext cx="1280160" cy="36576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151" name="矩形 150">
            <a:extLst>
              <a:ext uri="{FF2B5EF4-FFF2-40B4-BE49-F238E27FC236}">
                <a16:creationId xmlns:a16="http://schemas.microsoft.com/office/drawing/2014/main" id="{AFB847F0-9EDC-7A24-1822-7C1CAFF4DE3D}"/>
              </a:ext>
            </a:extLst>
          </p:cNvPr>
          <p:cNvSpPr/>
          <p:nvPr/>
        </p:nvSpPr>
        <p:spPr>
          <a:xfrm>
            <a:off x="6899910" y="4014430"/>
            <a:ext cx="1280160" cy="36576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152" name="矩形 151">
            <a:extLst>
              <a:ext uri="{FF2B5EF4-FFF2-40B4-BE49-F238E27FC236}">
                <a16:creationId xmlns:a16="http://schemas.microsoft.com/office/drawing/2014/main" id="{00D28609-B8E9-262D-894E-EBBA90A6EA48}"/>
              </a:ext>
            </a:extLst>
          </p:cNvPr>
          <p:cNvSpPr/>
          <p:nvPr/>
        </p:nvSpPr>
        <p:spPr>
          <a:xfrm>
            <a:off x="6888480" y="4391620"/>
            <a:ext cx="1280160" cy="36576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153" name="矩形 152">
            <a:extLst>
              <a:ext uri="{FF2B5EF4-FFF2-40B4-BE49-F238E27FC236}">
                <a16:creationId xmlns:a16="http://schemas.microsoft.com/office/drawing/2014/main" id="{925CA276-AB36-F2D9-0ABB-7B4782D2FFF2}"/>
              </a:ext>
            </a:extLst>
          </p:cNvPr>
          <p:cNvSpPr/>
          <p:nvPr/>
        </p:nvSpPr>
        <p:spPr>
          <a:xfrm>
            <a:off x="6873240" y="4782740"/>
            <a:ext cx="1280160" cy="365760"/>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154" name="矩形 153">
            <a:extLst>
              <a:ext uri="{FF2B5EF4-FFF2-40B4-BE49-F238E27FC236}">
                <a16:creationId xmlns:a16="http://schemas.microsoft.com/office/drawing/2014/main" id="{0D798B02-B22D-EFFC-0F35-410615AE6B9C}"/>
              </a:ext>
            </a:extLst>
          </p:cNvPr>
          <p:cNvSpPr/>
          <p:nvPr/>
        </p:nvSpPr>
        <p:spPr>
          <a:xfrm>
            <a:off x="6873240" y="5148500"/>
            <a:ext cx="1280160" cy="36576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155" name="矩形 154">
            <a:extLst>
              <a:ext uri="{FF2B5EF4-FFF2-40B4-BE49-F238E27FC236}">
                <a16:creationId xmlns:a16="http://schemas.microsoft.com/office/drawing/2014/main" id="{1190AED9-92DD-8248-218A-8A6361C94032}"/>
              </a:ext>
            </a:extLst>
          </p:cNvPr>
          <p:cNvSpPr/>
          <p:nvPr/>
        </p:nvSpPr>
        <p:spPr>
          <a:xfrm>
            <a:off x="441960" y="6069488"/>
            <a:ext cx="1280160" cy="36576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0</a:t>
            </a:r>
            <a:endParaRPr kumimoji="1" lang="zh-CN" altLang="en-US" dirty="0"/>
          </a:p>
        </p:txBody>
      </p:sp>
      <p:sp>
        <p:nvSpPr>
          <p:cNvPr id="156" name="矩形 155">
            <a:extLst>
              <a:ext uri="{FF2B5EF4-FFF2-40B4-BE49-F238E27FC236}">
                <a16:creationId xmlns:a16="http://schemas.microsoft.com/office/drawing/2014/main" id="{47CC2BCE-5216-7BA6-4D58-431393B4CB7C}"/>
              </a:ext>
            </a:extLst>
          </p:cNvPr>
          <p:cNvSpPr/>
          <p:nvPr/>
        </p:nvSpPr>
        <p:spPr>
          <a:xfrm>
            <a:off x="2327910" y="6088299"/>
            <a:ext cx="1280160" cy="36576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157" name="矩形 156">
            <a:extLst>
              <a:ext uri="{FF2B5EF4-FFF2-40B4-BE49-F238E27FC236}">
                <a16:creationId xmlns:a16="http://schemas.microsoft.com/office/drawing/2014/main" id="{DEAAD1FB-92C9-A69A-8D1B-DB1CF735B896}"/>
              </a:ext>
            </a:extLst>
          </p:cNvPr>
          <p:cNvSpPr/>
          <p:nvPr/>
        </p:nvSpPr>
        <p:spPr>
          <a:xfrm>
            <a:off x="4771072" y="6085799"/>
            <a:ext cx="1280160" cy="36576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158" name="矩形 157">
            <a:extLst>
              <a:ext uri="{FF2B5EF4-FFF2-40B4-BE49-F238E27FC236}">
                <a16:creationId xmlns:a16="http://schemas.microsoft.com/office/drawing/2014/main" id="{F60EF9EE-9C3F-58F7-C2D9-B7D0CE6A7082}"/>
              </a:ext>
            </a:extLst>
          </p:cNvPr>
          <p:cNvSpPr/>
          <p:nvPr/>
        </p:nvSpPr>
        <p:spPr>
          <a:xfrm>
            <a:off x="6899910" y="6069488"/>
            <a:ext cx="1280160" cy="36576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159" name="下箭头 158">
            <a:extLst>
              <a:ext uri="{FF2B5EF4-FFF2-40B4-BE49-F238E27FC236}">
                <a16:creationId xmlns:a16="http://schemas.microsoft.com/office/drawing/2014/main" id="{6F69DC19-0074-F604-6B9C-8070EF6F6182}"/>
              </a:ext>
            </a:extLst>
          </p:cNvPr>
          <p:cNvSpPr/>
          <p:nvPr/>
        </p:nvSpPr>
        <p:spPr>
          <a:xfrm>
            <a:off x="8462010" y="3362920"/>
            <a:ext cx="422910" cy="92333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0" name="下箭头 159">
            <a:extLst>
              <a:ext uri="{FF2B5EF4-FFF2-40B4-BE49-F238E27FC236}">
                <a16:creationId xmlns:a16="http://schemas.microsoft.com/office/drawing/2014/main" id="{BBE95FDF-A51F-27D4-759C-C6A2AA37A800}"/>
              </a:ext>
            </a:extLst>
          </p:cNvPr>
          <p:cNvSpPr/>
          <p:nvPr/>
        </p:nvSpPr>
        <p:spPr>
          <a:xfrm>
            <a:off x="8509635" y="5429250"/>
            <a:ext cx="422910" cy="82296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1" name="文本框 160">
            <a:extLst>
              <a:ext uri="{FF2B5EF4-FFF2-40B4-BE49-F238E27FC236}">
                <a16:creationId xmlns:a16="http://schemas.microsoft.com/office/drawing/2014/main" id="{6223BC64-2D83-6383-665E-5A7EEB04E84D}"/>
              </a:ext>
            </a:extLst>
          </p:cNvPr>
          <p:cNvSpPr txBox="1"/>
          <p:nvPr/>
        </p:nvSpPr>
        <p:spPr>
          <a:xfrm>
            <a:off x="8907780" y="3508891"/>
            <a:ext cx="1954530" cy="338554"/>
          </a:xfrm>
          <a:prstGeom prst="rect">
            <a:avLst/>
          </a:prstGeom>
          <a:noFill/>
        </p:spPr>
        <p:txBody>
          <a:bodyPr wrap="square" rtlCol="0">
            <a:spAutoFit/>
          </a:bodyPr>
          <a:lstStyle/>
          <a:p>
            <a:r>
              <a:rPr kumimoji="1" lang="en-US" altLang="zh-CN" sz="1600" dirty="0" err="1">
                <a:latin typeface="SimSun" panose="02010600030101010101" pitchFamily="2" charset="-122"/>
                <a:ea typeface="SimSun" panose="02010600030101010101" pitchFamily="2" charset="-122"/>
              </a:rPr>
              <a:t>RMA_COL_PUT_MatC</a:t>
            </a:r>
            <a:endParaRPr kumimoji="1" lang="zh-CN" altLang="en-US" sz="1600" dirty="0">
              <a:latin typeface="SimSun" panose="02010600030101010101" pitchFamily="2" charset="-122"/>
              <a:ea typeface="SimSun" panose="02010600030101010101" pitchFamily="2" charset="-122"/>
            </a:endParaRPr>
          </a:p>
        </p:txBody>
      </p:sp>
      <p:sp>
        <p:nvSpPr>
          <p:cNvPr id="162" name="文本框 161">
            <a:extLst>
              <a:ext uri="{FF2B5EF4-FFF2-40B4-BE49-F238E27FC236}">
                <a16:creationId xmlns:a16="http://schemas.microsoft.com/office/drawing/2014/main" id="{ECB17664-5754-D48D-8C01-9F71C37CBD03}"/>
              </a:ext>
            </a:extLst>
          </p:cNvPr>
          <p:cNvSpPr txBox="1"/>
          <p:nvPr/>
        </p:nvSpPr>
        <p:spPr>
          <a:xfrm>
            <a:off x="9395460" y="5483780"/>
            <a:ext cx="1415415" cy="338554"/>
          </a:xfrm>
          <a:prstGeom prst="rect">
            <a:avLst/>
          </a:prstGeom>
          <a:noFill/>
        </p:spPr>
        <p:txBody>
          <a:bodyPr wrap="square" rtlCol="0">
            <a:spAutoFit/>
          </a:bodyPr>
          <a:lstStyle/>
          <a:p>
            <a:r>
              <a:rPr kumimoji="1" lang="en-US" altLang="zh-CN" sz="1600" dirty="0" err="1">
                <a:latin typeface="SimSun" panose="02010600030101010101" pitchFamily="2" charset="-122"/>
                <a:ea typeface="SimSun" panose="02010600030101010101" pitchFamily="2" charset="-122"/>
              </a:rPr>
              <a:t>SIMD_Reduce</a:t>
            </a:r>
            <a:endParaRPr kumimoji="1" lang="zh-CN" altLang="en-US" sz="1600" dirty="0">
              <a:latin typeface="SimSun" panose="02010600030101010101" pitchFamily="2" charset="-122"/>
              <a:ea typeface="SimSun" panose="02010600030101010101" pitchFamily="2" charset="-122"/>
            </a:endParaRPr>
          </a:p>
        </p:txBody>
      </p:sp>
    </p:spTree>
    <p:extLst>
      <p:ext uri="{BB962C8B-B14F-4D97-AF65-F5344CB8AC3E}">
        <p14:creationId xmlns:p14="http://schemas.microsoft.com/office/powerpoint/2010/main" val="34971963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295275" y="422752"/>
            <a:ext cx="10515600" cy="515184"/>
          </a:xfrm>
        </p:spPr>
        <p:txBody>
          <a:bodyPr/>
          <a:lstStyle/>
          <a:p>
            <a:r>
              <a:rPr lang="zh-CN" altLang="en-US" dirty="0"/>
              <a:t>流水优化</a:t>
            </a:r>
            <a:r>
              <a:rPr lang="en-US" altLang="zh-CN" dirty="0"/>
              <a:t>-</a:t>
            </a:r>
            <a:r>
              <a:rPr lang="en-US" altLang="zh-CN" dirty="0" err="1"/>
              <a:t>DMA_GET_PUT_MatC+ACE_COM</a:t>
            </a:r>
            <a:endParaRPr lang="zh-CN" altLang="en-US" dirty="0"/>
          </a:p>
        </p:txBody>
      </p:sp>
      <p:sp>
        <p:nvSpPr>
          <p:cNvPr id="5" name="文本框 4">
            <a:extLst>
              <a:ext uri="{FF2B5EF4-FFF2-40B4-BE49-F238E27FC236}">
                <a16:creationId xmlns:a16="http://schemas.microsoft.com/office/drawing/2014/main" id="{1D37FC6C-D37F-4BF6-5D20-96BC32C8770C}"/>
              </a:ext>
            </a:extLst>
          </p:cNvPr>
          <p:cNvSpPr txBox="1"/>
          <p:nvPr/>
        </p:nvSpPr>
        <p:spPr>
          <a:xfrm>
            <a:off x="375285" y="1623497"/>
            <a:ext cx="8951595" cy="2308324"/>
          </a:xfrm>
          <a:prstGeom prst="rect">
            <a:avLst/>
          </a:prstGeom>
          <a:noFill/>
        </p:spPr>
        <p:txBody>
          <a:bodyPr wrap="square" rtlCol="0">
            <a:spAutoFit/>
          </a:bodyPr>
          <a:lstStyle/>
          <a:p>
            <a:r>
              <a:rPr kumimoji="1" lang="zh-CN" altLang="en-US" dirty="0">
                <a:latin typeface="SimSun" panose="02010600030101010101" pitchFamily="2" charset="-122"/>
                <a:ea typeface="SimSun" panose="02010600030101010101" pitchFamily="2" charset="-122"/>
              </a:rPr>
              <a:t>根据上一页可得，每个从核最终值需要保存</a:t>
            </a:r>
            <a:r>
              <a:rPr kumimoji="1" lang="en-US" altLang="zh-CN" dirty="0">
                <a:latin typeface="SimSun" panose="02010600030101010101" pitchFamily="2" charset="-122"/>
                <a:ea typeface="SimSun" panose="02010600030101010101" pitchFamily="2" charset="-122"/>
              </a:rPr>
              <a:t>[M2/4,</a:t>
            </a:r>
            <a:r>
              <a:rPr kumimoji="1" lang="zh-CN" altLang="en-US" dirty="0">
                <a:latin typeface="SimSun" panose="02010600030101010101" pitchFamily="2" charset="-122"/>
                <a:ea typeface="SimSun" panose="02010600030101010101" pitchFamily="2" charset="-122"/>
              </a:rPr>
              <a:t> </a:t>
            </a:r>
            <a:r>
              <a:rPr kumimoji="1" lang="en-US" altLang="zh-CN" dirty="0">
                <a:latin typeface="SimSun" panose="02010600030101010101" pitchFamily="2" charset="-122"/>
                <a:ea typeface="SimSun" panose="02010600030101010101" pitchFamily="2" charset="-122"/>
              </a:rPr>
              <a:t>N2]</a:t>
            </a:r>
            <a:r>
              <a:rPr kumimoji="1" lang="zh-CN" altLang="en-US" dirty="0">
                <a:latin typeface="SimSun" panose="02010600030101010101" pitchFamily="2" charset="-122"/>
                <a:ea typeface="SimSun" panose="02010600030101010101" pitchFamily="2" charset="-122"/>
              </a:rPr>
              <a:t>的</a:t>
            </a:r>
            <a:r>
              <a:rPr kumimoji="1" lang="en-US" altLang="zh-CN" dirty="0" err="1">
                <a:latin typeface="SimSun" panose="02010600030101010101" pitchFamily="2" charset="-122"/>
                <a:ea typeface="SimSun" panose="02010600030101010101" pitchFamily="2" charset="-122"/>
              </a:rPr>
              <a:t>MatC</a:t>
            </a:r>
            <a:r>
              <a:rPr kumimoji="1" lang="zh-CN" altLang="en-US" dirty="0">
                <a:latin typeface="SimSun" panose="02010600030101010101" pitchFamily="2" charset="-122"/>
                <a:ea typeface="SimSun" panose="02010600030101010101" pitchFamily="2" charset="-122"/>
              </a:rPr>
              <a:t>的结果。需要三个</a:t>
            </a:r>
            <a:r>
              <a:rPr kumimoji="1" lang="en-US" altLang="zh-CN" dirty="0">
                <a:latin typeface="SimSun" panose="02010600030101010101" pitchFamily="2" charset="-122"/>
                <a:ea typeface="SimSun" panose="02010600030101010101" pitchFamily="2" charset="-122"/>
              </a:rPr>
              <a:t>Buffer</a:t>
            </a:r>
            <a:r>
              <a:rPr kumimoji="1" lang="zh-CN" altLang="en-US" dirty="0">
                <a:latin typeface="SimSun" panose="02010600030101010101" pitchFamily="2" charset="-122"/>
                <a:ea typeface="SimSun" panose="02010600030101010101" pitchFamily="2" charset="-122"/>
              </a:rPr>
              <a:t>同时进行</a:t>
            </a:r>
            <a:r>
              <a:rPr kumimoji="1" lang="en-US" altLang="zh-CN" dirty="0" err="1">
                <a:latin typeface="SimSun" panose="02010600030101010101" pitchFamily="2" charset="-122"/>
                <a:ea typeface="SimSun" panose="02010600030101010101" pitchFamily="2" charset="-122"/>
              </a:rPr>
              <a:t>DMA_PUT_MatC,DMA_GET_MatC</a:t>
            </a:r>
            <a:r>
              <a:rPr kumimoji="1" lang="zh-CN" altLang="en-US" dirty="0">
                <a:latin typeface="SimSun" panose="02010600030101010101" pitchFamily="2" charset="-122"/>
                <a:ea typeface="SimSun" panose="02010600030101010101" pitchFamily="2" charset="-122"/>
              </a:rPr>
              <a:t>以及</a:t>
            </a:r>
            <a:r>
              <a:rPr kumimoji="1" lang="en-US" altLang="zh-CN" dirty="0" err="1">
                <a:latin typeface="SimSun" panose="02010600030101010101" pitchFamily="2" charset="-122"/>
                <a:ea typeface="SimSun" panose="02010600030101010101" pitchFamily="2" charset="-122"/>
              </a:rPr>
              <a:t>SIMD_Reduce</a:t>
            </a:r>
            <a:r>
              <a:rPr kumimoji="1" lang="zh-CN" altLang="en-US" dirty="0">
                <a:latin typeface="SimSun" panose="02010600030101010101" pitchFamily="2" charset="-122"/>
                <a:ea typeface="SimSun" panose="02010600030101010101" pitchFamily="2" charset="-122"/>
              </a:rPr>
              <a:t>。</a:t>
            </a:r>
            <a:endParaRPr kumimoji="1" lang="en-US" altLang="zh-CN" dirty="0">
              <a:latin typeface="SimSun" panose="02010600030101010101" pitchFamily="2" charset="-122"/>
              <a:ea typeface="SimSun" panose="02010600030101010101" pitchFamily="2" charset="-122"/>
            </a:endParaRPr>
          </a:p>
          <a:p>
            <a:r>
              <a:rPr kumimoji="1" lang="en-US" altLang="zh-CN" dirty="0">
                <a:latin typeface="SimSun" panose="02010600030101010101" pitchFamily="2" charset="-122"/>
                <a:ea typeface="SimSun" panose="02010600030101010101" pitchFamily="2" charset="-122"/>
              </a:rPr>
              <a:t>DMAA_GET_PUT_MATC</a:t>
            </a:r>
            <a:r>
              <a:rPr kumimoji="1" lang="zh-CN" altLang="en-US" dirty="0">
                <a:latin typeface="SimSun" panose="02010600030101010101" pitchFamily="2" charset="-122"/>
                <a:ea typeface="SimSun" panose="02010600030101010101" pitchFamily="2" charset="-122"/>
              </a:rPr>
              <a:t> 所需要的</a:t>
            </a:r>
            <a:r>
              <a:rPr kumimoji="1" lang="en-US" altLang="zh-CN" dirty="0">
                <a:latin typeface="SimSun" panose="02010600030101010101" pitchFamily="2" charset="-122"/>
                <a:ea typeface="SimSun" panose="02010600030101010101" pitchFamily="2" charset="-122"/>
              </a:rPr>
              <a:t>LDM</a:t>
            </a:r>
            <a:r>
              <a:rPr kumimoji="1" lang="zh-CN" altLang="en-US" dirty="0">
                <a:latin typeface="SimSun" panose="02010600030101010101" pitchFamily="2" charset="-122"/>
                <a:ea typeface="SimSun" panose="02010600030101010101" pitchFamily="2" charset="-122"/>
              </a:rPr>
              <a:t>内存为</a:t>
            </a:r>
            <a:r>
              <a:rPr kumimoji="1" lang="en-US" altLang="zh-CN" dirty="0">
                <a:latin typeface="SimSun" panose="02010600030101010101" pitchFamily="2" charset="-122"/>
                <a:ea typeface="SimSun" panose="02010600030101010101" pitchFamily="2" charset="-122"/>
              </a:rPr>
              <a:t>:</a:t>
            </a:r>
            <a:r>
              <a:rPr kumimoji="1" lang="zh-CN" altLang="en-US" dirty="0">
                <a:latin typeface="SimSun" panose="02010600030101010101" pitchFamily="2" charset="-122"/>
                <a:ea typeface="SimSun" panose="02010600030101010101" pitchFamily="2" charset="-122"/>
              </a:rPr>
              <a:t> </a:t>
            </a:r>
            <a:r>
              <a:rPr kumimoji="1" lang="en-US" altLang="zh-CN" dirty="0" err="1">
                <a:latin typeface="SimSun" panose="02010600030101010101" pitchFamily="2" charset="-122"/>
                <a:ea typeface="SimSun" panose="02010600030101010101" pitchFamily="2" charset="-122"/>
              </a:rPr>
              <a:t>LDM_DMA_MatC</a:t>
            </a:r>
            <a:r>
              <a:rPr kumimoji="1" lang="zh-CN" altLang="en-US" dirty="0">
                <a:latin typeface="SimSun" panose="02010600030101010101" pitchFamily="2" charset="-122"/>
                <a:ea typeface="SimSun" panose="02010600030101010101" pitchFamily="2" charset="-122"/>
              </a:rPr>
              <a:t> </a:t>
            </a:r>
            <a:r>
              <a:rPr kumimoji="1" lang="en-US" altLang="zh-CN" dirty="0">
                <a:latin typeface="SimSun" panose="02010600030101010101" pitchFamily="2" charset="-122"/>
                <a:ea typeface="SimSun" panose="02010600030101010101" pitchFamily="2" charset="-122"/>
              </a:rPr>
              <a:t>=</a:t>
            </a:r>
            <a:r>
              <a:rPr kumimoji="1" lang="zh-CN" altLang="en-US" dirty="0">
                <a:latin typeface="SimSun" panose="02010600030101010101" pitchFamily="2" charset="-122"/>
                <a:ea typeface="SimSun" panose="02010600030101010101" pitchFamily="2" charset="-122"/>
              </a:rPr>
              <a:t> </a:t>
            </a:r>
            <a:r>
              <a:rPr kumimoji="1" lang="en-US" altLang="zh-CN" dirty="0">
                <a:latin typeface="SimSun" panose="02010600030101010101" pitchFamily="2" charset="-122"/>
                <a:ea typeface="SimSun" panose="02010600030101010101" pitchFamily="2" charset="-122"/>
              </a:rPr>
              <a:t>3</a:t>
            </a:r>
            <a:r>
              <a:rPr kumimoji="1" lang="zh-CN" altLang="en-US" dirty="0">
                <a:latin typeface="SimSun" panose="02010600030101010101" pitchFamily="2" charset="-122"/>
                <a:ea typeface="SimSun" panose="02010600030101010101" pitchFamily="2" charset="-122"/>
              </a:rPr>
              <a:t>*</a:t>
            </a:r>
            <a:r>
              <a:rPr kumimoji="1" lang="en-US" altLang="zh-CN" dirty="0">
                <a:latin typeface="SimSun" panose="02010600030101010101" pitchFamily="2" charset="-122"/>
                <a:ea typeface="SimSun" panose="02010600030101010101" pitchFamily="2" charset="-122"/>
              </a:rPr>
              <a:t>M2/4</a:t>
            </a:r>
            <a:r>
              <a:rPr kumimoji="1" lang="zh-CN" altLang="en-US" dirty="0">
                <a:latin typeface="SimSun" panose="02010600030101010101" pitchFamily="2" charset="-122"/>
                <a:ea typeface="SimSun" panose="02010600030101010101" pitchFamily="2" charset="-122"/>
              </a:rPr>
              <a:t>*</a:t>
            </a:r>
            <a:r>
              <a:rPr kumimoji="1" lang="en-US" altLang="zh-CN" dirty="0">
                <a:latin typeface="SimSun" panose="02010600030101010101" pitchFamily="2" charset="-122"/>
                <a:ea typeface="SimSun" panose="02010600030101010101" pitchFamily="2" charset="-122"/>
              </a:rPr>
              <a:t>N2</a:t>
            </a:r>
            <a:r>
              <a:rPr kumimoji="1" lang="zh-CN" altLang="en-US" dirty="0">
                <a:latin typeface="SimSun" panose="02010600030101010101" pitchFamily="2" charset="-122"/>
                <a:ea typeface="SimSun" panose="02010600030101010101" pitchFamily="2" charset="-122"/>
              </a:rPr>
              <a:t>*</a:t>
            </a:r>
            <a:r>
              <a:rPr kumimoji="1" lang="en-US" altLang="zh-CN" dirty="0" err="1">
                <a:latin typeface="SimSun" panose="02010600030101010101" pitchFamily="2" charset="-122"/>
                <a:ea typeface="SimSun" panose="02010600030101010101" pitchFamily="2" charset="-122"/>
              </a:rPr>
              <a:t>sizeof</a:t>
            </a:r>
            <a:r>
              <a:rPr kumimoji="1" lang="en-US" altLang="zh-CN" dirty="0">
                <a:latin typeface="SimSun" panose="02010600030101010101" pitchFamily="2" charset="-122"/>
                <a:ea typeface="SimSun" panose="02010600030101010101" pitchFamily="2" charset="-122"/>
              </a:rPr>
              <a:t>(float)</a:t>
            </a:r>
          </a:p>
          <a:p>
            <a:endParaRPr kumimoji="1" lang="en-US" altLang="zh-CN" dirty="0">
              <a:latin typeface="SimSun" panose="02010600030101010101" pitchFamily="2" charset="-122"/>
              <a:ea typeface="SimSun" panose="02010600030101010101" pitchFamily="2" charset="-122"/>
            </a:endParaRPr>
          </a:p>
          <a:p>
            <a:endParaRPr kumimoji="1" lang="en-US" altLang="zh-CN" dirty="0">
              <a:latin typeface="SimSun" panose="02010600030101010101" pitchFamily="2" charset="-122"/>
              <a:ea typeface="SimSun" panose="02010600030101010101" pitchFamily="2" charset="-122"/>
            </a:endParaRPr>
          </a:p>
          <a:p>
            <a:endParaRPr kumimoji="1" lang="en-US" altLang="zh-CN" dirty="0">
              <a:latin typeface="SimSun" panose="02010600030101010101" pitchFamily="2" charset="-122"/>
              <a:ea typeface="SimSun" panose="02010600030101010101" pitchFamily="2" charset="-122"/>
            </a:endParaRPr>
          </a:p>
          <a:p>
            <a:endParaRPr kumimoji="1" lang="en-US" altLang="zh-CN" dirty="0">
              <a:latin typeface="SimSun" panose="02010600030101010101" pitchFamily="2" charset="-122"/>
              <a:ea typeface="SimSun" panose="02010600030101010101" pitchFamily="2" charset="-122"/>
            </a:endParaRPr>
          </a:p>
          <a:p>
            <a:r>
              <a:rPr kumimoji="1" lang="en-US" altLang="zh-CN" dirty="0">
                <a:latin typeface="SimSun" panose="02010600030101010101" pitchFamily="2" charset="-122"/>
                <a:ea typeface="SimSun" panose="02010600030101010101" pitchFamily="2" charset="-122"/>
              </a:rPr>
              <a:t>ACE_COM</a:t>
            </a:r>
            <a:r>
              <a:rPr kumimoji="1" lang="zh-CN" altLang="en-US" dirty="0">
                <a:latin typeface="SimSun" panose="02010600030101010101" pitchFamily="2" charset="-122"/>
                <a:ea typeface="SimSun" panose="02010600030101010101" pitchFamily="2" charset="-122"/>
              </a:rPr>
              <a:t>写出需要双</a:t>
            </a:r>
            <a:r>
              <a:rPr kumimoji="1" lang="en-US" altLang="zh-CN" dirty="0">
                <a:latin typeface="SimSun" panose="02010600030101010101" pitchFamily="2" charset="-122"/>
                <a:ea typeface="SimSun" panose="02010600030101010101" pitchFamily="2" charset="-122"/>
              </a:rPr>
              <a:t>Buffer</a:t>
            </a:r>
            <a:r>
              <a:rPr kumimoji="1" lang="zh-CN" altLang="en-US" dirty="0">
                <a:latin typeface="SimSun" panose="02010600030101010101" pitchFamily="2" charset="-122"/>
                <a:ea typeface="SimSun" panose="02010600030101010101" pitchFamily="2" charset="-122"/>
              </a:rPr>
              <a:t>。</a:t>
            </a:r>
            <a:r>
              <a:rPr kumimoji="1" lang="en-US" altLang="zh-CN" dirty="0">
                <a:latin typeface="SimSun" panose="02010600030101010101" pitchFamily="2" charset="-122"/>
                <a:ea typeface="SimSun" panose="02010600030101010101" pitchFamily="2" charset="-122"/>
              </a:rPr>
              <a:t>LDM_ACE_COM=M2*N2</a:t>
            </a:r>
            <a:r>
              <a:rPr kumimoji="1" lang="zh-CN" altLang="en-US" dirty="0">
                <a:latin typeface="SimSun" panose="02010600030101010101" pitchFamily="2" charset="-122"/>
                <a:ea typeface="SimSun" panose="02010600030101010101" pitchFamily="2" charset="-122"/>
              </a:rPr>
              <a:t>*</a:t>
            </a:r>
            <a:r>
              <a:rPr kumimoji="1" lang="en-US" altLang="zh-CN" dirty="0" err="1">
                <a:latin typeface="SimSun" panose="02010600030101010101" pitchFamily="2" charset="-122"/>
                <a:ea typeface="SimSun" panose="02010600030101010101" pitchFamily="2" charset="-122"/>
              </a:rPr>
              <a:t>sizeof</a:t>
            </a:r>
            <a:r>
              <a:rPr kumimoji="1" lang="en-US" altLang="zh-CN" dirty="0">
                <a:latin typeface="SimSun" panose="02010600030101010101" pitchFamily="2" charset="-122"/>
                <a:ea typeface="SimSun" panose="02010600030101010101" pitchFamily="2" charset="-122"/>
              </a:rPr>
              <a:t>(float)</a:t>
            </a:r>
          </a:p>
        </p:txBody>
      </p:sp>
    </p:spTree>
    <p:extLst>
      <p:ext uri="{BB962C8B-B14F-4D97-AF65-F5344CB8AC3E}">
        <p14:creationId xmlns:p14="http://schemas.microsoft.com/office/powerpoint/2010/main" val="5555995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80430" y="425400"/>
            <a:ext cx="2646540" cy="1393875"/>
          </a:xfrm>
          <a:prstGeom prst="rect">
            <a:avLst/>
          </a:prstGeom>
        </p:spPr>
      </p:pic>
      <p:sp>
        <p:nvSpPr>
          <p:cNvPr id="2" name="标题 1"/>
          <p:cNvSpPr txBox="1"/>
          <p:nvPr/>
        </p:nvSpPr>
        <p:spPr>
          <a:xfrm>
            <a:off x="981075" y="4003675"/>
            <a:ext cx="8315325" cy="68262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4400" b="1" dirty="0">
                <a:solidFill>
                  <a:schemeClr val="bg1"/>
                </a:solidFill>
              </a:rPr>
              <a:t>04 | </a:t>
            </a:r>
            <a:r>
              <a:rPr lang="zh-CN" altLang="en-US" sz="4400" b="1" dirty="0">
                <a:solidFill>
                  <a:schemeClr val="bg1"/>
                </a:solidFill>
              </a:rPr>
              <a:t>瓶颈分析</a:t>
            </a:r>
            <a:endParaRPr lang="zh-CN" altLang="en-US" b="1" dirty="0">
              <a:solidFill>
                <a:schemeClr val="bg1"/>
              </a:solidFill>
            </a:endParaRPr>
          </a:p>
        </p:txBody>
      </p:sp>
    </p:spTree>
    <p:extLst>
      <p:ext uri="{BB962C8B-B14F-4D97-AF65-F5344CB8AC3E}">
        <p14:creationId xmlns:p14="http://schemas.microsoft.com/office/powerpoint/2010/main" val="27479531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295275" y="422752"/>
            <a:ext cx="10515600" cy="515184"/>
          </a:xfrm>
        </p:spPr>
        <p:txBody>
          <a:bodyPr/>
          <a:lstStyle/>
          <a:p>
            <a:r>
              <a:rPr lang="en-US" altLang="zh-CN" dirty="0"/>
              <a:t>DMA</a:t>
            </a:r>
            <a:r>
              <a:rPr lang="zh-CN" altLang="en-US" dirty="0"/>
              <a:t>瓶颈分析</a:t>
            </a:r>
          </a:p>
        </p:txBody>
      </p:sp>
      <p:sp>
        <p:nvSpPr>
          <p:cNvPr id="7" name="文本框 6">
            <a:extLst>
              <a:ext uri="{FF2B5EF4-FFF2-40B4-BE49-F238E27FC236}">
                <a16:creationId xmlns:a16="http://schemas.microsoft.com/office/drawing/2014/main" id="{F3A71DC8-BD25-1BE9-8B85-92BF716C8B5B}"/>
              </a:ext>
            </a:extLst>
          </p:cNvPr>
          <p:cNvSpPr txBox="1"/>
          <p:nvPr/>
        </p:nvSpPr>
        <p:spPr>
          <a:xfrm>
            <a:off x="146684" y="774036"/>
            <a:ext cx="4309110" cy="923330"/>
          </a:xfrm>
          <a:prstGeom prst="rect">
            <a:avLst/>
          </a:prstGeom>
          <a:noFill/>
        </p:spPr>
        <p:txBody>
          <a:bodyPr wrap="square" rtlCol="0">
            <a:spAutoFit/>
          </a:bodyPr>
          <a:lstStyle/>
          <a:p>
            <a:r>
              <a:rPr kumimoji="1" lang="en-US" altLang="zh-CN" dirty="0">
                <a:latin typeface="SimSun" panose="02010600030101010101" pitchFamily="2" charset="-122"/>
                <a:ea typeface="SimSun" panose="02010600030101010101" pitchFamily="2" charset="-122"/>
              </a:rPr>
              <a:t>DMA</a:t>
            </a:r>
            <a:r>
              <a:rPr kumimoji="1" lang="zh-CN" altLang="en-US" dirty="0">
                <a:latin typeface="SimSun" panose="02010600030101010101" pitchFamily="2" charset="-122"/>
                <a:ea typeface="SimSun" panose="02010600030101010101" pitchFamily="2" charset="-122"/>
              </a:rPr>
              <a:t>相关的四个模块对应的</a:t>
            </a:r>
            <a:r>
              <a:rPr kumimoji="1" lang="zh-CN" altLang="en-US" dirty="0">
                <a:solidFill>
                  <a:srgbClr val="FF0000"/>
                </a:solidFill>
                <a:latin typeface="SimSun" panose="02010600030101010101" pitchFamily="2" charset="-122"/>
                <a:ea typeface="SimSun" panose="02010600030101010101" pitchFamily="2" charset="-122"/>
              </a:rPr>
              <a:t>单核组</a:t>
            </a:r>
            <a:r>
              <a:rPr kumimoji="1" lang="zh-CN" altLang="en-US" dirty="0">
                <a:latin typeface="SimSun" panose="02010600030101010101" pitchFamily="2" charset="-122"/>
                <a:ea typeface="SimSun" panose="02010600030101010101" pitchFamily="2" charset="-122"/>
              </a:rPr>
              <a:t>访问数据量如下</a:t>
            </a:r>
            <a:r>
              <a:rPr kumimoji="1" lang="en-US" altLang="zh-CN" dirty="0">
                <a:latin typeface="SimSun" panose="02010600030101010101" pitchFamily="2" charset="-122"/>
                <a:ea typeface="SimSun" panose="02010600030101010101" pitchFamily="2" charset="-122"/>
              </a:rPr>
              <a:t>:</a:t>
            </a:r>
          </a:p>
          <a:p>
            <a:endParaRPr kumimoji="1" lang="zh-CN" altLang="en-US" dirty="0">
              <a:latin typeface="SimSun" panose="02010600030101010101" pitchFamily="2" charset="-122"/>
              <a:ea typeface="SimSun" panose="02010600030101010101" pitchFamily="2" charset="-122"/>
            </a:endParaRPr>
          </a:p>
        </p:txBody>
      </p:sp>
      <p:pic>
        <p:nvPicPr>
          <p:cNvPr id="9" name="图片 8">
            <a:extLst>
              <a:ext uri="{FF2B5EF4-FFF2-40B4-BE49-F238E27FC236}">
                <a16:creationId xmlns:a16="http://schemas.microsoft.com/office/drawing/2014/main" id="{B6F1046A-1C25-CF5F-7888-3FE7EA5D53B6}"/>
              </a:ext>
            </a:extLst>
          </p:cNvPr>
          <p:cNvPicPr>
            <a:picLocks noChangeAspect="1"/>
          </p:cNvPicPr>
          <p:nvPr/>
        </p:nvPicPr>
        <p:blipFill>
          <a:blip r:embed="rId3"/>
          <a:stretch>
            <a:fillRect/>
          </a:stretch>
        </p:blipFill>
        <p:spPr>
          <a:xfrm>
            <a:off x="295275" y="1392114"/>
            <a:ext cx="3765550" cy="1057322"/>
          </a:xfrm>
          <a:prstGeom prst="rect">
            <a:avLst/>
          </a:prstGeom>
        </p:spPr>
      </p:pic>
      <p:sp>
        <p:nvSpPr>
          <p:cNvPr id="10" name="文本框 9">
            <a:extLst>
              <a:ext uri="{FF2B5EF4-FFF2-40B4-BE49-F238E27FC236}">
                <a16:creationId xmlns:a16="http://schemas.microsoft.com/office/drawing/2014/main" id="{062B903E-948E-5395-8437-45B792A4ED0C}"/>
              </a:ext>
            </a:extLst>
          </p:cNvPr>
          <p:cNvSpPr txBox="1"/>
          <p:nvPr/>
        </p:nvSpPr>
        <p:spPr>
          <a:xfrm>
            <a:off x="146685" y="2456796"/>
            <a:ext cx="4062730" cy="369332"/>
          </a:xfrm>
          <a:prstGeom prst="rect">
            <a:avLst/>
          </a:prstGeom>
          <a:noFill/>
        </p:spPr>
        <p:txBody>
          <a:bodyPr wrap="square" rtlCol="0">
            <a:spAutoFit/>
          </a:bodyPr>
          <a:lstStyle/>
          <a:p>
            <a:r>
              <a:rPr kumimoji="1" lang="en-US" altLang="zh-CN" dirty="0">
                <a:latin typeface="SimSun" panose="02010600030101010101" pitchFamily="2" charset="-122"/>
                <a:ea typeface="SimSun" panose="02010600030101010101" pitchFamily="2" charset="-122"/>
              </a:rPr>
              <a:t>ACE</a:t>
            </a:r>
            <a:r>
              <a:rPr kumimoji="1" lang="zh-CN" altLang="en-US" dirty="0">
                <a:latin typeface="SimSun" panose="02010600030101010101" pitchFamily="2" charset="-122"/>
                <a:ea typeface="SimSun" panose="02010600030101010101" pitchFamily="2" charset="-122"/>
              </a:rPr>
              <a:t>的计算量为</a:t>
            </a:r>
            <a:r>
              <a:rPr kumimoji="1" lang="en-US" altLang="zh-CN" dirty="0">
                <a:latin typeface="SimSun" panose="02010600030101010101" pitchFamily="2" charset="-122"/>
                <a:ea typeface="SimSun" panose="02010600030101010101" pitchFamily="2" charset="-122"/>
              </a:rPr>
              <a:t>:</a:t>
            </a:r>
            <a:endParaRPr kumimoji="1" lang="zh-CN" altLang="en-US" dirty="0">
              <a:latin typeface="SimSun" panose="02010600030101010101" pitchFamily="2" charset="-122"/>
              <a:ea typeface="SimSun" panose="02010600030101010101" pitchFamily="2" charset="-122"/>
            </a:endParaRPr>
          </a:p>
        </p:txBody>
      </p:sp>
      <p:pic>
        <p:nvPicPr>
          <p:cNvPr id="12" name="图片 11">
            <a:extLst>
              <a:ext uri="{FF2B5EF4-FFF2-40B4-BE49-F238E27FC236}">
                <a16:creationId xmlns:a16="http://schemas.microsoft.com/office/drawing/2014/main" id="{DFA79D70-6D7B-AC52-2863-44803165A6C3}"/>
              </a:ext>
            </a:extLst>
          </p:cNvPr>
          <p:cNvPicPr>
            <a:picLocks noChangeAspect="1"/>
          </p:cNvPicPr>
          <p:nvPr/>
        </p:nvPicPr>
        <p:blipFill>
          <a:blip r:embed="rId4"/>
          <a:stretch>
            <a:fillRect/>
          </a:stretch>
        </p:blipFill>
        <p:spPr>
          <a:xfrm>
            <a:off x="1983358" y="2545799"/>
            <a:ext cx="1965960" cy="362517"/>
          </a:xfrm>
          <a:prstGeom prst="rect">
            <a:avLst/>
          </a:prstGeom>
        </p:spPr>
      </p:pic>
      <p:sp>
        <p:nvSpPr>
          <p:cNvPr id="14" name="文本框 13">
            <a:extLst>
              <a:ext uri="{FF2B5EF4-FFF2-40B4-BE49-F238E27FC236}">
                <a16:creationId xmlns:a16="http://schemas.microsoft.com/office/drawing/2014/main" id="{C7215E63-2232-92E0-19B0-2239588879C6}"/>
              </a:ext>
            </a:extLst>
          </p:cNvPr>
          <p:cNvSpPr txBox="1"/>
          <p:nvPr/>
        </p:nvSpPr>
        <p:spPr>
          <a:xfrm>
            <a:off x="148590" y="2979659"/>
            <a:ext cx="5406390" cy="923330"/>
          </a:xfrm>
          <a:prstGeom prst="rect">
            <a:avLst/>
          </a:prstGeom>
          <a:noFill/>
        </p:spPr>
        <p:txBody>
          <a:bodyPr wrap="square" rtlCol="0">
            <a:spAutoFit/>
          </a:bodyPr>
          <a:lstStyle/>
          <a:p>
            <a:r>
              <a:rPr kumimoji="1" lang="zh-CN" altLang="en-US" dirty="0">
                <a:latin typeface="SimSun" panose="02010600030101010101" pitchFamily="2" charset="-122"/>
                <a:ea typeface="SimSun" panose="02010600030101010101" pitchFamily="2" charset="-122"/>
              </a:rPr>
              <a:t>本身</a:t>
            </a:r>
            <a:r>
              <a:rPr kumimoji="1" lang="en-US" altLang="zh-CN" dirty="0">
                <a:latin typeface="SimSun" panose="02010600030101010101" pitchFamily="2" charset="-122"/>
                <a:ea typeface="SimSun" panose="02010600030101010101" pitchFamily="2" charset="-122"/>
              </a:rPr>
              <a:t>DMA</a:t>
            </a:r>
            <a:r>
              <a:rPr kumimoji="1" lang="zh-CN" altLang="en-US" dirty="0">
                <a:latin typeface="SimSun" panose="02010600030101010101" pitchFamily="2" charset="-122"/>
                <a:ea typeface="SimSun" panose="02010600030101010101" pitchFamily="2" charset="-122"/>
              </a:rPr>
              <a:t>读取</a:t>
            </a:r>
            <a:r>
              <a:rPr kumimoji="1" lang="en-US" altLang="zh-CN" dirty="0" err="1">
                <a:latin typeface="SimSun" panose="02010600030101010101" pitchFamily="2" charset="-122"/>
                <a:ea typeface="SimSun" panose="02010600030101010101" pitchFamily="2" charset="-122"/>
              </a:rPr>
              <a:t>MatA</a:t>
            </a:r>
            <a:r>
              <a:rPr kumimoji="1" lang="zh-CN" altLang="en-US" dirty="0">
                <a:latin typeface="SimSun" panose="02010600030101010101" pitchFamily="2" charset="-122"/>
                <a:ea typeface="SimSun" panose="02010600030101010101" pitchFamily="2" charset="-122"/>
              </a:rPr>
              <a:t>和其余模块是串行的，核心是</a:t>
            </a:r>
            <a:r>
              <a:rPr kumimoji="1" lang="en-US" altLang="zh-CN" dirty="0">
                <a:latin typeface="SimSun" panose="02010600030101010101" pitchFamily="2" charset="-122"/>
                <a:ea typeface="SimSun" panose="02010600030101010101" pitchFamily="2" charset="-122"/>
              </a:rPr>
              <a:t>DMA</a:t>
            </a:r>
            <a:r>
              <a:rPr kumimoji="1" lang="zh-CN" altLang="en-US" dirty="0">
                <a:latin typeface="SimSun" panose="02010600030101010101" pitchFamily="2" charset="-122"/>
                <a:ea typeface="SimSun" panose="02010600030101010101" pitchFamily="2" charset="-122"/>
              </a:rPr>
              <a:t>读写</a:t>
            </a:r>
            <a:r>
              <a:rPr kumimoji="1" lang="en-US" altLang="zh-CN" dirty="0" err="1">
                <a:latin typeface="SimSun" panose="02010600030101010101" pitchFamily="2" charset="-122"/>
                <a:ea typeface="SimSun" panose="02010600030101010101" pitchFamily="2" charset="-122"/>
              </a:rPr>
              <a:t>MatC</a:t>
            </a:r>
            <a:r>
              <a:rPr kumimoji="1" lang="zh-CN" altLang="en-US" dirty="0">
                <a:latin typeface="SimSun" panose="02010600030101010101" pitchFamily="2" charset="-122"/>
                <a:ea typeface="SimSun" panose="02010600030101010101" pitchFamily="2" charset="-122"/>
              </a:rPr>
              <a:t>和读</a:t>
            </a:r>
            <a:r>
              <a:rPr kumimoji="1" lang="en-US" altLang="zh-CN" dirty="0" err="1">
                <a:latin typeface="SimSun" panose="02010600030101010101" pitchFamily="2" charset="-122"/>
                <a:ea typeface="SimSun" panose="02010600030101010101" pitchFamily="2" charset="-122"/>
              </a:rPr>
              <a:t>MatB</a:t>
            </a:r>
            <a:r>
              <a:rPr kumimoji="1" lang="zh-CN" altLang="en-US" dirty="0">
                <a:latin typeface="SimSun" panose="02010600030101010101" pitchFamily="2" charset="-122"/>
                <a:ea typeface="SimSun" panose="02010600030101010101" pitchFamily="2" charset="-122"/>
              </a:rPr>
              <a:t>和</a:t>
            </a:r>
            <a:r>
              <a:rPr kumimoji="1" lang="en-US" altLang="zh-CN" dirty="0">
                <a:latin typeface="SimSun" panose="02010600030101010101" pitchFamily="2" charset="-122"/>
                <a:ea typeface="SimSun" panose="02010600030101010101" pitchFamily="2" charset="-122"/>
              </a:rPr>
              <a:t>ACE</a:t>
            </a:r>
            <a:r>
              <a:rPr kumimoji="1" lang="zh-CN" altLang="en-US" dirty="0">
                <a:latin typeface="SimSun" panose="02010600030101010101" pitchFamily="2" charset="-122"/>
                <a:ea typeface="SimSun" panose="02010600030101010101" pitchFamily="2" charset="-122"/>
              </a:rPr>
              <a:t>的双缓冲：根据计算访存比的公式可得</a:t>
            </a:r>
            <a:r>
              <a:rPr kumimoji="1" lang="en-US" altLang="zh-CN" dirty="0">
                <a:latin typeface="SimSun" panose="02010600030101010101" pitchFamily="2" charset="-122"/>
                <a:ea typeface="SimSun" panose="02010600030101010101" pitchFamily="2" charset="-122"/>
              </a:rPr>
              <a:t>:</a:t>
            </a:r>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54AAB90B-85C2-AB9E-6B4D-FF2517933777}"/>
                  </a:ext>
                </a:extLst>
              </p:cNvPr>
              <p:cNvSpPr txBox="1"/>
              <p:nvPr/>
            </p:nvSpPr>
            <p:spPr>
              <a:xfrm>
                <a:off x="360680" y="4067365"/>
                <a:ext cx="5005216" cy="5841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kumimoji="1" lang="en-US" altLang="zh-CN" i="1" smtClean="0">
                              <a:latin typeface="Cambria Math" panose="02040503050406030204" pitchFamily="18" charset="0"/>
                            </a:rPr>
                          </m:ctrlPr>
                        </m:fPr>
                        <m:num>
                          <m:d>
                            <m:dPr>
                              <m:ctrlPr>
                                <a:rPr kumimoji="1" lang="en-US" altLang="zh-CN" b="0" i="1" smtClean="0">
                                  <a:latin typeface="Cambria Math" panose="02040503050406030204" pitchFamily="18" charset="0"/>
                                </a:rPr>
                              </m:ctrlPr>
                            </m:dPr>
                            <m:e>
                              <m:r>
                                <a:rPr kumimoji="1" lang="en-US" altLang="zh-CN" b="0" i="1" smtClean="0">
                                  <a:latin typeface="Cambria Math" panose="02040503050406030204" pitchFamily="18" charset="0"/>
                                </a:rPr>
                                <m:t>8</m:t>
                              </m:r>
                              <m:r>
                                <a:rPr kumimoji="1" lang="zh-CN" altLang="en-US" b="0" i="1" smtClean="0">
                                  <a:latin typeface="Cambria Math" panose="02040503050406030204" pitchFamily="18" charset="0"/>
                                </a:rPr>
                                <m:t>∗</m:t>
                              </m:r>
                              <m:r>
                                <a:rPr kumimoji="1" lang="en-US" altLang="zh-CN" b="0" i="1" smtClean="0">
                                  <a:latin typeface="Cambria Math" panose="02040503050406030204" pitchFamily="18" charset="0"/>
                                </a:rPr>
                                <m:t>𝑀</m:t>
                              </m:r>
                              <m:r>
                                <a:rPr kumimoji="1" lang="en-US" altLang="zh-CN" b="0" i="1" smtClean="0">
                                  <a:latin typeface="Cambria Math" panose="02040503050406030204" pitchFamily="18" charset="0"/>
                                </a:rPr>
                                <m:t>1</m:t>
                              </m:r>
                              <m:r>
                                <a:rPr kumimoji="1" lang="zh-CN" altLang="en-US" b="0" i="1" smtClean="0">
                                  <a:latin typeface="Cambria Math" panose="02040503050406030204" pitchFamily="18" charset="0"/>
                                </a:rPr>
                                <m:t>∗</m:t>
                              </m:r>
                              <m:r>
                                <a:rPr kumimoji="1" lang="en-US" altLang="zh-CN" b="0" i="1" smtClean="0">
                                  <a:latin typeface="Cambria Math" panose="02040503050406030204" pitchFamily="18" charset="0"/>
                                </a:rPr>
                                <m:t>𝑁</m:t>
                              </m:r>
                              <m:r>
                                <a:rPr kumimoji="1" lang="en-US" altLang="zh-CN" b="0" i="1" smtClean="0">
                                  <a:latin typeface="Cambria Math" panose="02040503050406030204" pitchFamily="18" charset="0"/>
                                </a:rPr>
                                <m:t>1+</m:t>
                              </m:r>
                              <m:r>
                                <a:rPr kumimoji="1" lang="en-US" altLang="zh-CN" b="0" i="1" smtClean="0">
                                  <a:latin typeface="Cambria Math" panose="02040503050406030204" pitchFamily="18" charset="0"/>
                                </a:rPr>
                                <m:t>𝐾</m:t>
                              </m:r>
                              <m:r>
                                <a:rPr kumimoji="1" lang="en-US" altLang="zh-CN" b="0" i="1" smtClean="0">
                                  <a:latin typeface="Cambria Math" panose="02040503050406030204" pitchFamily="18" charset="0"/>
                                </a:rPr>
                                <m:t>1</m:t>
                              </m:r>
                              <m:r>
                                <a:rPr kumimoji="1" lang="zh-CN" altLang="en-US" b="0" i="1" smtClean="0">
                                  <a:latin typeface="Cambria Math" panose="02040503050406030204" pitchFamily="18" charset="0"/>
                                </a:rPr>
                                <m:t>∗</m:t>
                              </m:r>
                              <m:r>
                                <a:rPr kumimoji="1" lang="en-US" altLang="zh-CN" b="0" i="1" smtClean="0">
                                  <a:latin typeface="Cambria Math" panose="02040503050406030204" pitchFamily="18" charset="0"/>
                                </a:rPr>
                                <m:t>𝑁</m:t>
                              </m:r>
                              <m:r>
                                <a:rPr kumimoji="1" lang="en-US" altLang="zh-CN" b="0" i="1" smtClean="0">
                                  <a:latin typeface="Cambria Math" panose="02040503050406030204" pitchFamily="18" charset="0"/>
                                </a:rPr>
                                <m:t>1</m:t>
                              </m:r>
                              <m:r>
                                <a:rPr kumimoji="1" lang="zh-CN" altLang="en-US" b="0" i="1" smtClean="0">
                                  <a:latin typeface="Cambria Math" panose="02040503050406030204" pitchFamily="18" charset="0"/>
                                </a:rPr>
                                <m:t>∗</m:t>
                              </m:r>
                              <m:r>
                                <a:rPr kumimoji="1" lang="en-US" altLang="zh-CN" b="0" i="1" smtClean="0">
                                  <a:latin typeface="Cambria Math" panose="02040503050406030204" pitchFamily="18" charset="0"/>
                                </a:rPr>
                                <m:t>2</m:t>
                              </m:r>
                            </m:e>
                          </m:d>
                          <m:r>
                            <a:rPr kumimoji="1" lang="en-US" altLang="zh-CN" b="0" i="1" smtClean="0">
                              <a:latin typeface="Cambria Math" panose="02040503050406030204" pitchFamily="18" charset="0"/>
                            </a:rPr>
                            <m:t>𝐵</m:t>
                          </m:r>
                        </m:num>
                        <m:den>
                          <m:r>
                            <a:rPr kumimoji="1" lang="en-US" altLang="zh-CN" b="0" i="1" smtClean="0">
                              <a:latin typeface="Cambria Math" panose="02040503050406030204" pitchFamily="18" charset="0"/>
                            </a:rPr>
                            <m:t>250</m:t>
                          </m:r>
                          <m:r>
                            <a:rPr kumimoji="1" lang="en-US" altLang="zh-CN" b="0" i="1" smtClean="0">
                              <a:latin typeface="Cambria Math" panose="02040503050406030204" pitchFamily="18" charset="0"/>
                            </a:rPr>
                            <m:t>𝐺𝐵</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𝑠</m:t>
                          </m:r>
                        </m:den>
                      </m:f>
                      <m:r>
                        <a:rPr kumimoji="1" lang="en-US" altLang="zh-CN" b="0" i="0" smtClean="0">
                          <a:latin typeface="Cambria Math" panose="02040503050406030204" pitchFamily="18" charset="0"/>
                        </a:rPr>
                        <m:t>&lt;</m:t>
                      </m:r>
                      <m:f>
                        <m:fPr>
                          <m:ctrlPr>
                            <a:rPr kumimoji="1" lang="en-US" altLang="zh-CN" b="0" i="1" smtClean="0">
                              <a:latin typeface="Cambria Math" panose="02040503050406030204" pitchFamily="18" charset="0"/>
                            </a:rPr>
                          </m:ctrlPr>
                        </m:fPr>
                        <m:num>
                          <m:r>
                            <a:rPr kumimoji="1" lang="en-US" altLang="zh-CN" b="0" i="1" smtClean="0">
                              <a:latin typeface="Cambria Math" panose="02040503050406030204" pitchFamily="18" charset="0"/>
                            </a:rPr>
                            <m:t>𝑀</m:t>
                          </m:r>
                          <m:r>
                            <a:rPr kumimoji="1" lang="en-US" altLang="zh-CN" b="0" i="1" smtClean="0">
                              <a:latin typeface="Cambria Math" panose="02040503050406030204" pitchFamily="18" charset="0"/>
                            </a:rPr>
                            <m:t>1</m:t>
                          </m:r>
                          <m:r>
                            <a:rPr kumimoji="1" lang="zh-CN" altLang="en-US" b="0" i="1" smtClean="0">
                              <a:latin typeface="Cambria Math" panose="02040503050406030204" pitchFamily="18" charset="0"/>
                            </a:rPr>
                            <m:t>∗</m:t>
                          </m:r>
                          <m:r>
                            <a:rPr kumimoji="1" lang="en-US" altLang="zh-CN" b="0" i="1" smtClean="0">
                              <a:latin typeface="Cambria Math" panose="02040503050406030204" pitchFamily="18" charset="0"/>
                            </a:rPr>
                            <m:t>𝐾</m:t>
                          </m:r>
                          <m:r>
                            <a:rPr kumimoji="1" lang="en-US" altLang="zh-CN" b="0" i="1" smtClean="0">
                              <a:latin typeface="Cambria Math" panose="02040503050406030204" pitchFamily="18" charset="0"/>
                            </a:rPr>
                            <m:t>1</m:t>
                          </m:r>
                          <m:r>
                            <a:rPr kumimoji="1" lang="zh-CN" altLang="en-US" b="0" i="1" smtClean="0">
                              <a:latin typeface="Cambria Math" panose="02040503050406030204" pitchFamily="18" charset="0"/>
                            </a:rPr>
                            <m:t>∗</m:t>
                          </m:r>
                          <m:r>
                            <a:rPr kumimoji="1" lang="en-US" altLang="zh-CN" b="0" i="1" smtClean="0">
                              <a:latin typeface="Cambria Math" panose="02040503050406030204" pitchFamily="18" charset="0"/>
                            </a:rPr>
                            <m:t>𝑁</m:t>
                          </m:r>
                          <m:r>
                            <a:rPr kumimoji="1" lang="en-US" altLang="zh-CN" b="0" i="1" smtClean="0">
                              <a:latin typeface="Cambria Math" panose="02040503050406030204" pitchFamily="18" charset="0"/>
                            </a:rPr>
                            <m:t>1</m:t>
                          </m:r>
                          <m:r>
                            <a:rPr kumimoji="1" lang="zh-CN" altLang="en-US" b="0" i="1" smtClean="0">
                              <a:latin typeface="Cambria Math" panose="02040503050406030204" pitchFamily="18" charset="0"/>
                            </a:rPr>
                            <m:t>∗</m:t>
                          </m:r>
                          <m:r>
                            <a:rPr kumimoji="1" lang="en-US" altLang="zh-CN" b="0" i="1" smtClean="0">
                              <a:latin typeface="Cambria Math" panose="02040503050406030204" pitchFamily="18" charset="0"/>
                            </a:rPr>
                            <m:t>2</m:t>
                          </m:r>
                        </m:num>
                        <m:den>
                          <m:r>
                            <a:rPr kumimoji="1" lang="en-US" altLang="zh-CN" b="0" i="1" smtClean="0">
                              <a:latin typeface="Cambria Math" panose="02040503050406030204" pitchFamily="18" charset="0"/>
                            </a:rPr>
                            <m:t>80000</m:t>
                          </m:r>
                          <m:r>
                            <a:rPr kumimoji="1" lang="en-US" altLang="zh-CN" b="0" i="1" smtClean="0">
                              <a:latin typeface="Cambria Math" panose="02040503050406030204" pitchFamily="18" charset="0"/>
                            </a:rPr>
                            <m:t>𝐺𝐹𝐿𝑂𝑃𝑆</m:t>
                          </m:r>
                        </m:den>
                      </m:f>
                    </m:oMath>
                  </m:oMathPara>
                </a14:m>
                <a:endParaRPr kumimoji="1" lang="zh-CN" altLang="en-US" dirty="0"/>
              </a:p>
            </p:txBody>
          </p:sp>
        </mc:Choice>
        <mc:Fallback xmlns="">
          <p:sp>
            <p:nvSpPr>
              <p:cNvPr id="16" name="文本框 15">
                <a:extLst>
                  <a:ext uri="{FF2B5EF4-FFF2-40B4-BE49-F238E27FC236}">
                    <a16:creationId xmlns:a16="http://schemas.microsoft.com/office/drawing/2014/main" id="{54AAB90B-85C2-AB9E-6B4D-FF2517933777}"/>
                  </a:ext>
                </a:extLst>
              </p:cNvPr>
              <p:cNvSpPr txBox="1">
                <a:spLocks noRot="1" noChangeAspect="1" noMove="1" noResize="1" noEditPoints="1" noAdjustHandles="1" noChangeArrowheads="1" noChangeShapeType="1" noTextEdit="1"/>
              </p:cNvSpPr>
              <p:nvPr/>
            </p:nvSpPr>
            <p:spPr>
              <a:xfrm>
                <a:off x="360680" y="4067365"/>
                <a:ext cx="5005216" cy="584199"/>
              </a:xfrm>
              <a:prstGeom prst="rect">
                <a:avLst/>
              </a:prstGeom>
              <a:blipFill>
                <a:blip r:embed="rId5"/>
                <a:stretch>
                  <a:fillRect r="-506" b="-170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AD9C439B-269C-232A-E472-841E02F01064}"/>
                  </a:ext>
                </a:extLst>
              </p:cNvPr>
              <p:cNvSpPr txBox="1"/>
              <p:nvPr/>
            </p:nvSpPr>
            <p:spPr>
              <a:xfrm>
                <a:off x="634365" y="5011486"/>
                <a:ext cx="1989327" cy="5250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kumimoji="1" lang="en-US" altLang="zh-CN" i="1" smtClean="0">
                              <a:latin typeface="Cambria Math" panose="02040503050406030204" pitchFamily="18" charset="0"/>
                            </a:rPr>
                          </m:ctrlPr>
                        </m:fPr>
                        <m:num>
                          <m:r>
                            <a:rPr kumimoji="1" lang="en-US" altLang="zh-CN" b="0" i="1" smtClean="0">
                              <a:latin typeface="Cambria Math" panose="02040503050406030204" pitchFamily="18" charset="0"/>
                            </a:rPr>
                            <m:t>𝑀</m:t>
                          </m:r>
                          <m:r>
                            <a:rPr kumimoji="1" lang="en-US" altLang="zh-CN" b="0" i="1" smtClean="0">
                              <a:latin typeface="Cambria Math" panose="02040503050406030204" pitchFamily="18" charset="0"/>
                            </a:rPr>
                            <m:t>1</m:t>
                          </m:r>
                          <m:r>
                            <a:rPr kumimoji="1" lang="zh-CN" altLang="en-US" b="0" i="1" smtClean="0">
                              <a:latin typeface="Cambria Math" panose="02040503050406030204" pitchFamily="18" charset="0"/>
                            </a:rPr>
                            <m:t>∗</m:t>
                          </m:r>
                          <m:r>
                            <a:rPr kumimoji="1" lang="en-US" altLang="zh-CN" b="0" i="1" smtClean="0">
                              <a:latin typeface="Cambria Math" panose="02040503050406030204" pitchFamily="18" charset="0"/>
                            </a:rPr>
                            <m:t>𝐾</m:t>
                          </m:r>
                          <m:r>
                            <a:rPr kumimoji="1" lang="en-US" altLang="zh-CN" b="0" i="1" smtClean="0">
                              <a:latin typeface="Cambria Math" panose="02040503050406030204" pitchFamily="18" charset="0"/>
                            </a:rPr>
                            <m:t>1</m:t>
                          </m:r>
                        </m:num>
                        <m:den>
                          <m:r>
                            <a:rPr kumimoji="1" lang="en-US" altLang="zh-CN" b="0" i="1" smtClean="0">
                              <a:latin typeface="Cambria Math" panose="02040503050406030204" pitchFamily="18" charset="0"/>
                            </a:rPr>
                            <m:t>4</m:t>
                          </m:r>
                          <m:r>
                            <a:rPr kumimoji="1" lang="zh-CN" altLang="en-US" b="0" i="1" smtClean="0">
                              <a:latin typeface="Cambria Math" panose="02040503050406030204" pitchFamily="18" charset="0"/>
                            </a:rPr>
                            <m:t>∗</m:t>
                          </m:r>
                          <m:r>
                            <a:rPr kumimoji="1" lang="en-US" altLang="zh-CN" b="0" i="1" smtClean="0">
                              <a:latin typeface="Cambria Math" panose="02040503050406030204" pitchFamily="18" charset="0"/>
                            </a:rPr>
                            <m:t>𝑀</m:t>
                          </m:r>
                          <m:r>
                            <a:rPr kumimoji="1" lang="en-US" altLang="zh-CN" b="0" i="1" smtClean="0">
                              <a:latin typeface="Cambria Math" panose="02040503050406030204" pitchFamily="18" charset="0"/>
                            </a:rPr>
                            <m:t>1+</m:t>
                          </m:r>
                          <m:r>
                            <a:rPr kumimoji="1" lang="en-US" altLang="zh-CN" b="0" i="1" smtClean="0">
                              <a:latin typeface="Cambria Math" panose="02040503050406030204" pitchFamily="18" charset="0"/>
                            </a:rPr>
                            <m:t>𝐾</m:t>
                          </m:r>
                          <m:r>
                            <a:rPr kumimoji="1" lang="en-US" altLang="zh-CN" b="0" i="1" smtClean="0">
                              <a:latin typeface="Cambria Math" panose="02040503050406030204" pitchFamily="18" charset="0"/>
                            </a:rPr>
                            <m:t>1</m:t>
                          </m:r>
                        </m:den>
                      </m:f>
                      <m:r>
                        <a:rPr kumimoji="1" lang="en-US" altLang="zh-CN" b="0" i="1" smtClean="0">
                          <a:latin typeface="Cambria Math" panose="02040503050406030204" pitchFamily="18" charset="0"/>
                        </a:rPr>
                        <m:t>&gt;320</m:t>
                      </m:r>
                    </m:oMath>
                  </m:oMathPara>
                </a14:m>
                <a:endParaRPr kumimoji="1" lang="zh-CN" altLang="en-US" dirty="0"/>
              </a:p>
            </p:txBody>
          </p:sp>
        </mc:Choice>
        <mc:Fallback xmlns="">
          <p:sp>
            <p:nvSpPr>
              <p:cNvPr id="17" name="文本框 16">
                <a:extLst>
                  <a:ext uri="{FF2B5EF4-FFF2-40B4-BE49-F238E27FC236}">
                    <a16:creationId xmlns:a16="http://schemas.microsoft.com/office/drawing/2014/main" id="{AD9C439B-269C-232A-E472-841E02F01064}"/>
                  </a:ext>
                </a:extLst>
              </p:cNvPr>
              <p:cNvSpPr txBox="1">
                <a:spLocks noRot="1" noChangeAspect="1" noMove="1" noResize="1" noEditPoints="1" noAdjustHandles="1" noChangeArrowheads="1" noChangeShapeType="1" noTextEdit="1"/>
              </p:cNvSpPr>
              <p:nvPr/>
            </p:nvSpPr>
            <p:spPr>
              <a:xfrm>
                <a:off x="634365" y="5011486"/>
                <a:ext cx="1989327" cy="525016"/>
              </a:xfrm>
              <a:prstGeom prst="rect">
                <a:avLst/>
              </a:prstGeom>
              <a:blipFill>
                <a:blip r:embed="rId6"/>
                <a:stretch>
                  <a:fillRect l="-1266" t="-4762" r="-1899" b="-14286"/>
                </a:stretch>
              </a:blipFill>
            </p:spPr>
            <p:txBody>
              <a:bodyPr/>
              <a:lstStyle/>
              <a:p>
                <a:r>
                  <a:rPr lang="zh-CN" altLang="en-US">
                    <a:noFill/>
                  </a:rPr>
                  <a:t> </a:t>
                </a:r>
              </a:p>
            </p:txBody>
          </p:sp>
        </mc:Fallback>
      </mc:AlternateContent>
      <p:sp>
        <p:nvSpPr>
          <p:cNvPr id="18" name="文本框 17">
            <a:extLst>
              <a:ext uri="{FF2B5EF4-FFF2-40B4-BE49-F238E27FC236}">
                <a16:creationId xmlns:a16="http://schemas.microsoft.com/office/drawing/2014/main" id="{69B9A2C7-C982-9825-8E97-47B0EF2476BD}"/>
              </a:ext>
            </a:extLst>
          </p:cNvPr>
          <p:cNvSpPr txBox="1"/>
          <p:nvPr/>
        </p:nvSpPr>
        <p:spPr>
          <a:xfrm>
            <a:off x="146684" y="5804309"/>
            <a:ext cx="4528186" cy="923330"/>
          </a:xfrm>
          <a:prstGeom prst="rect">
            <a:avLst/>
          </a:prstGeom>
          <a:noFill/>
        </p:spPr>
        <p:txBody>
          <a:bodyPr wrap="square" rtlCol="0">
            <a:spAutoFit/>
          </a:bodyPr>
          <a:lstStyle/>
          <a:p>
            <a:r>
              <a:rPr kumimoji="1" lang="zh-CN" altLang="en-US" dirty="0">
                <a:latin typeface="SimSun" panose="02010600030101010101" pitchFamily="2" charset="-122"/>
                <a:ea typeface="SimSun" panose="02010600030101010101" pitchFamily="2" charset="-122"/>
              </a:rPr>
              <a:t>第二个模块的性能是和</a:t>
            </a:r>
            <a:r>
              <a:rPr kumimoji="1" lang="en-US" altLang="zh-CN" dirty="0">
                <a:latin typeface="SimSun" panose="02010600030101010101" pitchFamily="2" charset="-122"/>
                <a:ea typeface="SimSun" panose="02010600030101010101" pitchFamily="2" charset="-122"/>
              </a:rPr>
              <a:t>N1</a:t>
            </a:r>
            <a:r>
              <a:rPr kumimoji="1" lang="zh-CN" altLang="en-US" dirty="0">
                <a:latin typeface="SimSun" panose="02010600030101010101" pitchFamily="2" charset="-122"/>
                <a:ea typeface="SimSun" panose="02010600030101010101" pitchFamily="2" charset="-122"/>
              </a:rPr>
              <a:t>的取值无关。目前</a:t>
            </a:r>
            <a:r>
              <a:rPr kumimoji="1" lang="en-US" altLang="zh-CN" dirty="0">
                <a:latin typeface="SimSun" panose="02010600030101010101" pitchFamily="2" charset="-122"/>
                <a:ea typeface="SimSun" panose="02010600030101010101" pitchFamily="2" charset="-122"/>
              </a:rPr>
              <a:t>Demo</a:t>
            </a:r>
            <a:r>
              <a:rPr kumimoji="1" lang="zh-CN" altLang="en-US" dirty="0">
                <a:latin typeface="SimSun" panose="02010600030101010101" pitchFamily="2" charset="-122"/>
                <a:ea typeface="SimSun" panose="02010600030101010101" pitchFamily="2" charset="-122"/>
              </a:rPr>
              <a:t>中</a:t>
            </a:r>
            <a:r>
              <a:rPr kumimoji="1" lang="en-US" altLang="zh-CN" dirty="0">
                <a:latin typeface="SimSun" panose="02010600030101010101" pitchFamily="2" charset="-122"/>
                <a:ea typeface="SimSun" panose="02010600030101010101" pitchFamily="2" charset="-122"/>
              </a:rPr>
              <a:t>M1=1024</a:t>
            </a:r>
            <a:r>
              <a:rPr kumimoji="1" lang="zh-CN" altLang="en-US" dirty="0">
                <a:latin typeface="SimSun" panose="02010600030101010101" pitchFamily="2" charset="-122"/>
                <a:ea typeface="SimSun" panose="02010600030101010101" pitchFamily="2" charset="-122"/>
              </a:rPr>
              <a:t>，</a:t>
            </a:r>
            <a:r>
              <a:rPr kumimoji="1" lang="en-US" altLang="zh-CN" dirty="0">
                <a:latin typeface="SimSun" panose="02010600030101010101" pitchFamily="2" charset="-122"/>
                <a:ea typeface="SimSun" panose="02010600030101010101" pitchFamily="2" charset="-122"/>
              </a:rPr>
              <a:t>K1=1536.</a:t>
            </a:r>
            <a:r>
              <a:rPr kumimoji="1" lang="zh-CN" altLang="en-US" dirty="0">
                <a:latin typeface="SimSun" panose="02010600030101010101" pitchFamily="2" charset="-122"/>
                <a:ea typeface="SimSun" panose="02010600030101010101" pitchFamily="2" charset="-122"/>
              </a:rPr>
              <a:t>可得该方案的第二个模块的上界大概为</a:t>
            </a:r>
            <a:r>
              <a:rPr kumimoji="1" lang="en-US" altLang="zh-CN" dirty="0">
                <a:latin typeface="SimSun" panose="02010600030101010101" pitchFamily="2" charset="-122"/>
                <a:ea typeface="SimSun" panose="02010600030101010101" pitchFamily="2" charset="-122"/>
              </a:rPr>
              <a:t>70TFLOPS</a:t>
            </a:r>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B9362ECF-2018-00D2-CD7F-8D9CB0B024B0}"/>
                  </a:ext>
                </a:extLst>
              </p:cNvPr>
              <p:cNvSpPr txBox="1"/>
              <p:nvPr/>
            </p:nvSpPr>
            <p:spPr>
              <a:xfrm>
                <a:off x="5417584" y="919099"/>
                <a:ext cx="5406390" cy="1485087"/>
              </a:xfrm>
              <a:prstGeom prst="rect">
                <a:avLst/>
              </a:prstGeom>
              <a:noFill/>
            </p:spPr>
            <p:txBody>
              <a:bodyPr wrap="square" rtlCol="0">
                <a:spAutoFit/>
              </a:bodyPr>
              <a:lstStyle/>
              <a:p>
                <a:r>
                  <a:rPr kumimoji="1" lang="zh-CN" altLang="en-US" dirty="0">
                    <a:latin typeface="SimSun" panose="02010600030101010101" pitchFamily="2" charset="-122"/>
                    <a:ea typeface="SimSun" panose="02010600030101010101" pitchFamily="2" charset="-122"/>
                  </a:rPr>
                  <a:t>结合第一个模块可得整体的性能为</a:t>
                </a:r>
                <a:r>
                  <a:rPr kumimoji="1" lang="en-US" altLang="zh-CN" dirty="0">
                    <a:latin typeface="SimSun" panose="02010600030101010101" pitchFamily="2" charset="-122"/>
                    <a:ea typeface="SimSun" panose="02010600030101010101" pitchFamily="2" charset="-122"/>
                  </a:rPr>
                  <a:t>:</a:t>
                </a:r>
              </a:p>
              <a:p>
                <a:pPr/>
                <a14:m>
                  <m:oMathPara xmlns:m="http://schemas.openxmlformats.org/officeDocument/2006/math">
                    <m:oMathParaPr>
                      <m:jc m:val="centerGroup"/>
                    </m:oMathParaPr>
                    <m:oMath xmlns:m="http://schemas.openxmlformats.org/officeDocument/2006/math">
                      <m:sSub>
                        <m:sSubPr>
                          <m:ctrlPr>
                            <a:rPr kumimoji="1" lang="en-US" altLang="zh-CN" i="1" smtClean="0">
                              <a:latin typeface="Cambria Math" panose="02040503050406030204" pitchFamily="18" charset="0"/>
                              <a:ea typeface="SimSun" panose="02010600030101010101" pitchFamily="2" charset="-122"/>
                            </a:rPr>
                          </m:ctrlPr>
                        </m:sSubPr>
                        <m:e>
                          <m:r>
                            <a:rPr kumimoji="1" lang="en-US" altLang="zh-CN" b="0" i="1" smtClean="0">
                              <a:latin typeface="Cambria Math" panose="02040503050406030204" pitchFamily="18" charset="0"/>
                              <a:ea typeface="SimSun" panose="02010600030101010101" pitchFamily="2" charset="-122"/>
                            </a:rPr>
                            <m:t>𝑝𝑒𝑟𝑓𝑜𝑟𝑚𝑎𝑛𝑐𝑒</m:t>
                          </m:r>
                        </m:e>
                        <m:sub>
                          <m:r>
                            <a:rPr kumimoji="1" lang="en-US" altLang="zh-CN" b="0" i="1" smtClean="0">
                              <a:latin typeface="Cambria Math" panose="02040503050406030204" pitchFamily="18" charset="0"/>
                              <a:ea typeface="SimSun" panose="02010600030101010101" pitchFamily="2" charset="-122"/>
                            </a:rPr>
                            <m:t>𝑔𝑒𝑚𝑚</m:t>
                          </m:r>
                        </m:sub>
                      </m:sSub>
                      <m:r>
                        <a:rPr kumimoji="1" lang="en-US" altLang="zh-CN" b="0" i="1" smtClean="0">
                          <a:latin typeface="Cambria Math" panose="02040503050406030204" pitchFamily="18" charset="0"/>
                          <a:ea typeface="SimSun" panose="02010600030101010101" pitchFamily="2" charset="-122"/>
                        </a:rPr>
                        <m:t>=</m:t>
                      </m:r>
                      <m:f>
                        <m:fPr>
                          <m:ctrlPr>
                            <a:rPr kumimoji="1" lang="en-US" altLang="zh-CN" b="0" i="1" smtClean="0">
                              <a:latin typeface="Cambria Math" panose="02040503050406030204" pitchFamily="18" charset="0"/>
                              <a:ea typeface="SimSun" panose="02010600030101010101" pitchFamily="2" charset="-122"/>
                            </a:rPr>
                          </m:ctrlPr>
                        </m:fPr>
                        <m:num>
                          <m:r>
                            <a:rPr kumimoji="1" lang="en-US" altLang="zh-CN" b="0" i="1" smtClean="0">
                              <a:latin typeface="Cambria Math" panose="02040503050406030204" pitchFamily="18" charset="0"/>
                              <a:ea typeface="SimSun" panose="02010600030101010101" pitchFamily="2" charset="-122"/>
                            </a:rPr>
                            <m:t>𝑀</m:t>
                          </m:r>
                          <m:r>
                            <a:rPr kumimoji="1" lang="en-US" altLang="zh-CN" b="0" i="1" smtClean="0">
                              <a:latin typeface="Cambria Math" panose="02040503050406030204" pitchFamily="18" charset="0"/>
                              <a:ea typeface="SimSun" panose="02010600030101010101" pitchFamily="2" charset="-122"/>
                            </a:rPr>
                            <m:t>1</m:t>
                          </m:r>
                          <m:r>
                            <a:rPr kumimoji="1" lang="zh-CN" altLang="en-US" b="0" i="1" smtClean="0">
                              <a:latin typeface="Cambria Math" panose="02040503050406030204" pitchFamily="18" charset="0"/>
                              <a:ea typeface="SimSun" panose="02010600030101010101" pitchFamily="2" charset="-122"/>
                            </a:rPr>
                            <m:t>∗</m:t>
                          </m:r>
                          <m:r>
                            <a:rPr kumimoji="1" lang="en-US" altLang="zh-CN" b="0" i="1" smtClean="0">
                              <a:latin typeface="Cambria Math" panose="02040503050406030204" pitchFamily="18" charset="0"/>
                              <a:ea typeface="SimSun" panose="02010600030101010101" pitchFamily="2" charset="-122"/>
                            </a:rPr>
                            <m:t>𝐾</m:t>
                          </m:r>
                          <m:r>
                            <a:rPr kumimoji="1" lang="en-US" altLang="zh-CN" b="0" i="1" smtClean="0">
                              <a:latin typeface="Cambria Math" panose="02040503050406030204" pitchFamily="18" charset="0"/>
                              <a:ea typeface="SimSun" panose="02010600030101010101" pitchFamily="2" charset="-122"/>
                            </a:rPr>
                            <m:t>1</m:t>
                          </m:r>
                          <m:r>
                            <a:rPr kumimoji="1" lang="zh-CN" altLang="en-US" b="0" i="1" smtClean="0">
                              <a:latin typeface="Cambria Math" panose="02040503050406030204" pitchFamily="18" charset="0"/>
                              <a:ea typeface="SimSun" panose="02010600030101010101" pitchFamily="2" charset="-122"/>
                            </a:rPr>
                            <m:t>∗</m:t>
                          </m:r>
                          <m:r>
                            <a:rPr kumimoji="1" lang="en-US" altLang="zh-CN" b="0" i="1" smtClean="0">
                              <a:latin typeface="Cambria Math" panose="02040503050406030204" pitchFamily="18" charset="0"/>
                              <a:ea typeface="SimSun" panose="02010600030101010101" pitchFamily="2" charset="-122"/>
                            </a:rPr>
                            <m:t>𝑁</m:t>
                          </m:r>
                          <m:r>
                            <a:rPr kumimoji="1" lang="zh-CN" altLang="en-US" b="0" i="1" smtClean="0">
                              <a:latin typeface="Cambria Math" panose="02040503050406030204" pitchFamily="18" charset="0"/>
                              <a:ea typeface="SimSun" panose="02010600030101010101" pitchFamily="2" charset="-122"/>
                            </a:rPr>
                            <m:t>∗</m:t>
                          </m:r>
                          <m:r>
                            <a:rPr kumimoji="1" lang="en-US" altLang="zh-CN" b="0" i="1" smtClean="0">
                              <a:latin typeface="Cambria Math" panose="02040503050406030204" pitchFamily="18" charset="0"/>
                              <a:ea typeface="SimSun" panose="02010600030101010101" pitchFamily="2" charset="-122"/>
                            </a:rPr>
                            <m:t>2</m:t>
                          </m:r>
                        </m:num>
                        <m:den>
                          <m:f>
                            <m:fPr>
                              <m:ctrlPr>
                                <a:rPr kumimoji="1" lang="en-US" altLang="zh-CN" b="0" i="1" smtClean="0">
                                  <a:latin typeface="Cambria Math" panose="02040503050406030204" pitchFamily="18" charset="0"/>
                                  <a:ea typeface="SimSun" panose="02010600030101010101" pitchFamily="2" charset="-122"/>
                                </a:rPr>
                              </m:ctrlPr>
                            </m:fPr>
                            <m:num>
                              <m:r>
                                <a:rPr kumimoji="1" lang="en-US" altLang="zh-CN" b="0" i="1" smtClean="0">
                                  <a:latin typeface="Cambria Math" panose="02040503050406030204" pitchFamily="18" charset="0"/>
                                  <a:ea typeface="SimSun" panose="02010600030101010101" pitchFamily="2" charset="-122"/>
                                </a:rPr>
                                <m:t>(8</m:t>
                              </m:r>
                              <m:r>
                                <a:rPr kumimoji="1" lang="zh-CN" altLang="en-US" b="0" i="1" smtClean="0">
                                  <a:latin typeface="Cambria Math" panose="02040503050406030204" pitchFamily="18" charset="0"/>
                                  <a:ea typeface="SimSun" panose="02010600030101010101" pitchFamily="2" charset="-122"/>
                                </a:rPr>
                                <m:t>∗</m:t>
                              </m:r>
                              <m:r>
                                <a:rPr kumimoji="1" lang="en-US" altLang="zh-CN" b="0" i="1" smtClean="0">
                                  <a:latin typeface="Cambria Math" panose="02040503050406030204" pitchFamily="18" charset="0"/>
                                  <a:ea typeface="SimSun" panose="02010600030101010101" pitchFamily="2" charset="-122"/>
                                </a:rPr>
                                <m:t>𝑀</m:t>
                              </m:r>
                              <m:r>
                                <a:rPr kumimoji="1" lang="en-US" altLang="zh-CN" b="0" i="1" smtClean="0">
                                  <a:latin typeface="Cambria Math" panose="02040503050406030204" pitchFamily="18" charset="0"/>
                                  <a:ea typeface="SimSun" panose="02010600030101010101" pitchFamily="2" charset="-122"/>
                                </a:rPr>
                                <m:t>1</m:t>
                              </m:r>
                              <m:r>
                                <a:rPr kumimoji="1" lang="zh-CN" altLang="en-US" b="0" i="1" smtClean="0">
                                  <a:latin typeface="Cambria Math" panose="02040503050406030204" pitchFamily="18" charset="0"/>
                                  <a:ea typeface="SimSun" panose="02010600030101010101" pitchFamily="2" charset="-122"/>
                                </a:rPr>
                                <m:t>∗</m:t>
                              </m:r>
                              <m:r>
                                <a:rPr kumimoji="1" lang="en-US" altLang="zh-CN" b="0" i="1" smtClean="0">
                                  <a:latin typeface="Cambria Math" panose="02040503050406030204" pitchFamily="18" charset="0"/>
                                  <a:ea typeface="SimSun" panose="02010600030101010101" pitchFamily="2" charset="-122"/>
                                </a:rPr>
                                <m:t>𝑁</m:t>
                              </m:r>
                              <m:r>
                                <a:rPr kumimoji="1" lang="en-US" altLang="zh-CN" b="0" i="1" smtClean="0">
                                  <a:latin typeface="Cambria Math" panose="02040503050406030204" pitchFamily="18" charset="0"/>
                                  <a:ea typeface="SimSun" panose="02010600030101010101" pitchFamily="2" charset="-122"/>
                                </a:rPr>
                                <m:t>1+</m:t>
                              </m:r>
                              <m:r>
                                <a:rPr kumimoji="1" lang="en-US" altLang="zh-CN" b="0" i="1" smtClean="0">
                                  <a:latin typeface="Cambria Math" panose="02040503050406030204" pitchFamily="18" charset="0"/>
                                  <a:ea typeface="SimSun" panose="02010600030101010101" pitchFamily="2" charset="-122"/>
                                </a:rPr>
                                <m:t>𝐾</m:t>
                              </m:r>
                              <m:r>
                                <a:rPr kumimoji="1" lang="en-US" altLang="zh-CN" b="0" i="1" smtClean="0">
                                  <a:latin typeface="Cambria Math" panose="02040503050406030204" pitchFamily="18" charset="0"/>
                                  <a:ea typeface="SimSun" panose="02010600030101010101" pitchFamily="2" charset="-122"/>
                                </a:rPr>
                                <m:t>1</m:t>
                              </m:r>
                              <m:r>
                                <a:rPr kumimoji="1" lang="zh-CN" altLang="en-US" b="0" i="1" smtClean="0">
                                  <a:latin typeface="Cambria Math" panose="02040503050406030204" pitchFamily="18" charset="0"/>
                                  <a:ea typeface="SimSun" panose="02010600030101010101" pitchFamily="2" charset="-122"/>
                                </a:rPr>
                                <m:t>∗</m:t>
                              </m:r>
                              <m:r>
                                <a:rPr kumimoji="1" lang="en-US" altLang="zh-CN" b="0" i="1" smtClean="0">
                                  <a:latin typeface="Cambria Math" panose="02040503050406030204" pitchFamily="18" charset="0"/>
                                  <a:ea typeface="SimSun" panose="02010600030101010101" pitchFamily="2" charset="-122"/>
                                </a:rPr>
                                <m:t>𝑁</m:t>
                              </m:r>
                              <m:r>
                                <a:rPr kumimoji="1" lang="en-US" altLang="zh-CN" b="0" i="1" smtClean="0">
                                  <a:latin typeface="Cambria Math" panose="02040503050406030204" pitchFamily="18" charset="0"/>
                                  <a:ea typeface="SimSun" panose="02010600030101010101" pitchFamily="2" charset="-122"/>
                                </a:rPr>
                                <m:t>1</m:t>
                              </m:r>
                              <m:r>
                                <a:rPr kumimoji="1" lang="zh-CN" altLang="en-US" b="0" i="1" smtClean="0">
                                  <a:latin typeface="Cambria Math" panose="02040503050406030204" pitchFamily="18" charset="0"/>
                                  <a:ea typeface="SimSun" panose="02010600030101010101" pitchFamily="2" charset="-122"/>
                                </a:rPr>
                                <m:t>∗</m:t>
                              </m:r>
                              <m:r>
                                <a:rPr kumimoji="1" lang="en-US" altLang="zh-CN" b="0" i="1" smtClean="0">
                                  <a:latin typeface="Cambria Math" panose="02040503050406030204" pitchFamily="18" charset="0"/>
                                  <a:ea typeface="SimSun" panose="02010600030101010101" pitchFamily="2" charset="-122"/>
                                </a:rPr>
                                <m:t>2)</m:t>
                              </m:r>
                            </m:num>
                            <m:den>
                              <m:r>
                                <a:rPr kumimoji="1" lang="en-US" altLang="zh-CN" b="0" i="1" smtClean="0">
                                  <a:latin typeface="Cambria Math" panose="02040503050406030204" pitchFamily="18" charset="0"/>
                                  <a:ea typeface="SimSun" panose="02010600030101010101" pitchFamily="2" charset="-122"/>
                                </a:rPr>
                                <m:t>250</m:t>
                              </m:r>
                              <m:r>
                                <a:rPr kumimoji="1" lang="en-US" altLang="zh-CN" b="0" i="1" smtClean="0">
                                  <a:latin typeface="Cambria Math" panose="02040503050406030204" pitchFamily="18" charset="0"/>
                                  <a:ea typeface="SimSun" panose="02010600030101010101" pitchFamily="2" charset="-122"/>
                                </a:rPr>
                                <m:t>𝐺𝐵</m:t>
                              </m:r>
                              <m:r>
                                <a:rPr kumimoji="1" lang="en-US" altLang="zh-CN" b="0" i="1" smtClean="0">
                                  <a:latin typeface="Cambria Math" panose="02040503050406030204" pitchFamily="18" charset="0"/>
                                  <a:ea typeface="SimSun" panose="02010600030101010101" pitchFamily="2" charset="-122"/>
                                </a:rPr>
                                <m:t>/</m:t>
                              </m:r>
                              <m:r>
                                <a:rPr kumimoji="1" lang="en-US" altLang="zh-CN" b="0" i="1" smtClean="0">
                                  <a:latin typeface="Cambria Math" panose="02040503050406030204" pitchFamily="18" charset="0"/>
                                  <a:ea typeface="SimSun" panose="02010600030101010101" pitchFamily="2" charset="-122"/>
                                </a:rPr>
                                <m:t>𝑠</m:t>
                              </m:r>
                            </m:den>
                          </m:f>
                          <m:r>
                            <a:rPr kumimoji="1" lang="zh-CN" altLang="en-US" b="0" i="1" smtClean="0">
                              <a:latin typeface="Cambria Math" panose="02040503050406030204" pitchFamily="18" charset="0"/>
                              <a:ea typeface="SimSun" panose="02010600030101010101" pitchFamily="2" charset="-122"/>
                            </a:rPr>
                            <m:t>∗</m:t>
                          </m:r>
                          <m:f>
                            <m:fPr>
                              <m:ctrlPr>
                                <a:rPr kumimoji="1" lang="en-US" altLang="zh-CN" b="0" i="1" smtClean="0">
                                  <a:latin typeface="Cambria Math" panose="02040503050406030204" pitchFamily="18" charset="0"/>
                                  <a:ea typeface="SimSun" panose="02010600030101010101" pitchFamily="2" charset="-122"/>
                                </a:rPr>
                              </m:ctrlPr>
                            </m:fPr>
                            <m:num>
                              <m:r>
                                <a:rPr kumimoji="1" lang="en-US" altLang="zh-CN" b="0" i="1" smtClean="0">
                                  <a:latin typeface="Cambria Math" panose="02040503050406030204" pitchFamily="18" charset="0"/>
                                  <a:ea typeface="SimSun" panose="02010600030101010101" pitchFamily="2" charset="-122"/>
                                </a:rPr>
                                <m:t>𝑁</m:t>
                              </m:r>
                            </m:num>
                            <m:den>
                              <m:r>
                                <a:rPr kumimoji="1" lang="en-US" altLang="zh-CN" b="0" i="1" smtClean="0">
                                  <a:latin typeface="Cambria Math" panose="02040503050406030204" pitchFamily="18" charset="0"/>
                                  <a:ea typeface="SimSun" panose="02010600030101010101" pitchFamily="2" charset="-122"/>
                                </a:rPr>
                                <m:t>𝑁</m:t>
                              </m:r>
                              <m:r>
                                <a:rPr kumimoji="1" lang="en-US" altLang="zh-CN" b="0" i="1" smtClean="0">
                                  <a:latin typeface="Cambria Math" panose="02040503050406030204" pitchFamily="18" charset="0"/>
                                  <a:ea typeface="SimSun" panose="02010600030101010101" pitchFamily="2" charset="-122"/>
                                </a:rPr>
                                <m:t>1</m:t>
                              </m:r>
                            </m:den>
                          </m:f>
                          <m:r>
                            <a:rPr kumimoji="1" lang="en-US" altLang="zh-CN" b="0" i="1" smtClean="0">
                              <a:latin typeface="Cambria Math" panose="02040503050406030204" pitchFamily="18" charset="0"/>
                              <a:ea typeface="SimSun" panose="02010600030101010101" pitchFamily="2" charset="-122"/>
                            </a:rPr>
                            <m:t>+</m:t>
                          </m:r>
                          <m:f>
                            <m:fPr>
                              <m:ctrlPr>
                                <a:rPr kumimoji="1" lang="en-US" altLang="zh-CN" b="0" i="1" smtClean="0">
                                  <a:latin typeface="Cambria Math" panose="02040503050406030204" pitchFamily="18" charset="0"/>
                                  <a:ea typeface="SimSun" panose="02010600030101010101" pitchFamily="2" charset="-122"/>
                                </a:rPr>
                              </m:ctrlPr>
                            </m:fPr>
                            <m:num>
                              <m:r>
                                <a:rPr kumimoji="1" lang="en-US" altLang="zh-CN" b="0" i="1" smtClean="0">
                                  <a:latin typeface="Cambria Math" panose="02040503050406030204" pitchFamily="18" charset="0"/>
                                  <a:ea typeface="SimSun" panose="02010600030101010101" pitchFamily="2" charset="-122"/>
                                </a:rPr>
                                <m:t>𝑀</m:t>
                              </m:r>
                              <m:r>
                                <a:rPr kumimoji="1" lang="en-US" altLang="zh-CN" b="0" i="1" smtClean="0">
                                  <a:latin typeface="Cambria Math" panose="02040503050406030204" pitchFamily="18" charset="0"/>
                                  <a:ea typeface="SimSun" panose="02010600030101010101" pitchFamily="2" charset="-122"/>
                                </a:rPr>
                                <m:t>1</m:t>
                              </m:r>
                              <m:r>
                                <a:rPr kumimoji="1" lang="zh-CN" altLang="en-US" b="0" i="1" smtClean="0">
                                  <a:latin typeface="Cambria Math" panose="02040503050406030204" pitchFamily="18" charset="0"/>
                                  <a:ea typeface="SimSun" panose="02010600030101010101" pitchFamily="2" charset="-122"/>
                                </a:rPr>
                                <m:t>∗</m:t>
                              </m:r>
                              <m:r>
                                <a:rPr kumimoji="1" lang="en-US" altLang="zh-CN" b="0" i="1" smtClean="0">
                                  <a:latin typeface="Cambria Math" panose="02040503050406030204" pitchFamily="18" charset="0"/>
                                  <a:ea typeface="SimSun" panose="02010600030101010101" pitchFamily="2" charset="-122"/>
                                </a:rPr>
                                <m:t>𝐾</m:t>
                              </m:r>
                              <m:r>
                                <a:rPr kumimoji="1" lang="en-US" altLang="zh-CN" b="0" i="1" smtClean="0">
                                  <a:latin typeface="Cambria Math" panose="02040503050406030204" pitchFamily="18" charset="0"/>
                                  <a:ea typeface="SimSun" panose="02010600030101010101" pitchFamily="2" charset="-122"/>
                                </a:rPr>
                                <m:t>1</m:t>
                              </m:r>
                              <m:r>
                                <a:rPr kumimoji="1" lang="zh-CN" altLang="en-US" b="0" i="1" smtClean="0">
                                  <a:latin typeface="Cambria Math" panose="02040503050406030204" pitchFamily="18" charset="0"/>
                                  <a:ea typeface="SimSun" panose="02010600030101010101" pitchFamily="2" charset="-122"/>
                                </a:rPr>
                                <m:t>∗</m:t>
                              </m:r>
                              <m:r>
                                <a:rPr kumimoji="1" lang="en-US" altLang="zh-CN" b="0" i="1" smtClean="0">
                                  <a:latin typeface="Cambria Math" panose="02040503050406030204" pitchFamily="18" charset="0"/>
                                  <a:ea typeface="SimSun" panose="02010600030101010101" pitchFamily="2" charset="-122"/>
                                </a:rPr>
                                <m:t>2</m:t>
                              </m:r>
                              <m:r>
                                <a:rPr kumimoji="1" lang="en-US" altLang="zh-CN" b="0" i="1" smtClean="0">
                                  <a:latin typeface="Cambria Math" panose="02040503050406030204" pitchFamily="18" charset="0"/>
                                  <a:ea typeface="SimSun" panose="02010600030101010101" pitchFamily="2" charset="-122"/>
                                </a:rPr>
                                <m:t>𝐵</m:t>
                              </m:r>
                            </m:num>
                            <m:den>
                              <m:r>
                                <a:rPr kumimoji="1" lang="en-US" altLang="zh-CN" b="0" i="1" smtClean="0">
                                  <a:latin typeface="Cambria Math" panose="02040503050406030204" pitchFamily="18" charset="0"/>
                                  <a:ea typeface="SimSun" panose="02010600030101010101" pitchFamily="2" charset="-122"/>
                                </a:rPr>
                                <m:t>250</m:t>
                              </m:r>
                              <m:r>
                                <a:rPr kumimoji="1" lang="en-US" altLang="zh-CN" b="0" i="1" smtClean="0">
                                  <a:latin typeface="Cambria Math" panose="02040503050406030204" pitchFamily="18" charset="0"/>
                                  <a:ea typeface="SimSun" panose="02010600030101010101" pitchFamily="2" charset="-122"/>
                                </a:rPr>
                                <m:t>𝐺𝐵</m:t>
                              </m:r>
                              <m:r>
                                <a:rPr kumimoji="1" lang="en-US" altLang="zh-CN" b="0" i="1" smtClean="0">
                                  <a:latin typeface="Cambria Math" panose="02040503050406030204" pitchFamily="18" charset="0"/>
                                  <a:ea typeface="SimSun" panose="02010600030101010101" pitchFamily="2" charset="-122"/>
                                </a:rPr>
                                <m:t>/</m:t>
                              </m:r>
                              <m:r>
                                <a:rPr kumimoji="1" lang="en-US" altLang="zh-CN" b="0" i="1" smtClean="0">
                                  <a:latin typeface="Cambria Math" panose="02040503050406030204" pitchFamily="18" charset="0"/>
                                  <a:ea typeface="SimSun" panose="02010600030101010101" pitchFamily="2" charset="-122"/>
                                </a:rPr>
                                <m:t>𝑠</m:t>
                              </m:r>
                            </m:den>
                          </m:f>
                        </m:den>
                      </m:f>
                    </m:oMath>
                  </m:oMathPara>
                </a14:m>
                <a:endParaRPr kumimoji="1" lang="zh-CN" altLang="en-US" dirty="0">
                  <a:latin typeface="SimSun" panose="02010600030101010101" pitchFamily="2" charset="-122"/>
                  <a:ea typeface="SimSun" panose="02010600030101010101" pitchFamily="2" charset="-122"/>
                </a:endParaRPr>
              </a:p>
            </p:txBody>
          </p:sp>
        </mc:Choice>
        <mc:Fallback xmlns="">
          <p:sp>
            <p:nvSpPr>
              <p:cNvPr id="19" name="文本框 18">
                <a:extLst>
                  <a:ext uri="{FF2B5EF4-FFF2-40B4-BE49-F238E27FC236}">
                    <a16:creationId xmlns:a16="http://schemas.microsoft.com/office/drawing/2014/main" id="{B9362ECF-2018-00D2-CD7F-8D9CB0B024B0}"/>
                  </a:ext>
                </a:extLst>
              </p:cNvPr>
              <p:cNvSpPr txBox="1">
                <a:spLocks noRot="1" noChangeAspect="1" noMove="1" noResize="1" noEditPoints="1" noAdjustHandles="1" noChangeArrowheads="1" noChangeShapeType="1" noTextEdit="1"/>
              </p:cNvSpPr>
              <p:nvPr/>
            </p:nvSpPr>
            <p:spPr>
              <a:xfrm>
                <a:off x="5417584" y="919099"/>
                <a:ext cx="5406390" cy="1485087"/>
              </a:xfrm>
              <a:prstGeom prst="rect">
                <a:avLst/>
              </a:prstGeom>
              <a:blipFill>
                <a:blip r:embed="rId7"/>
                <a:stretch>
                  <a:fillRect l="-937" t="-1695" b="-8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87A0158B-614C-736C-75AA-8FF824A82AE1}"/>
                  </a:ext>
                </a:extLst>
              </p:cNvPr>
              <p:cNvSpPr txBox="1"/>
              <p:nvPr/>
            </p:nvSpPr>
            <p:spPr>
              <a:xfrm>
                <a:off x="5553075" y="2449436"/>
                <a:ext cx="4309110" cy="1195648"/>
              </a:xfrm>
              <a:prstGeom prst="rect">
                <a:avLst/>
              </a:prstGeom>
              <a:noFill/>
            </p:spPr>
            <p:txBody>
              <a:bodyPr wrap="square" rtlCol="0">
                <a:spAutoFit/>
              </a:bodyPr>
              <a:lstStyle/>
              <a:p>
                <a:r>
                  <a:rPr kumimoji="1" lang="zh-CN" altLang="en-US" dirty="0">
                    <a:latin typeface="SimSun" panose="02010600030101010101" pitchFamily="2" charset="-122"/>
                    <a:ea typeface="SimSun" panose="02010600030101010101" pitchFamily="2" charset="-122"/>
                  </a:rPr>
                  <a:t>化简后为</a:t>
                </a:r>
                <a:r>
                  <a:rPr kumimoji="1" lang="en-US" altLang="zh-CN" dirty="0">
                    <a:latin typeface="SimSun" panose="02010600030101010101" pitchFamily="2" charset="-122"/>
                    <a:ea typeface="SimSun" panose="02010600030101010101" pitchFamily="2" charset="-122"/>
                  </a:rPr>
                  <a:t>:</a:t>
                </a:r>
                <a14:m>
                  <m:oMath xmlns:m="http://schemas.openxmlformats.org/officeDocument/2006/math">
                    <m:sSub>
                      <m:sSubPr>
                        <m:ctrlPr>
                          <a:rPr kumimoji="1" lang="en-US" altLang="zh-CN" b="0" i="1" smtClean="0">
                            <a:latin typeface="Cambria Math" panose="02040503050406030204" pitchFamily="18" charset="0"/>
                            <a:ea typeface="SimSun" panose="02010600030101010101" pitchFamily="2" charset="-122"/>
                          </a:rPr>
                        </m:ctrlPr>
                      </m:sSubPr>
                      <m:e>
                        <m:r>
                          <a:rPr kumimoji="1" lang="en-US" altLang="zh-CN" b="0" i="1" smtClean="0">
                            <a:latin typeface="Cambria Math" panose="02040503050406030204" pitchFamily="18" charset="0"/>
                            <a:ea typeface="SimSun" panose="02010600030101010101" pitchFamily="2" charset="-122"/>
                          </a:rPr>
                          <m:t>𝑝𝑒𝑟𝑓𝑜𝑟𝑚𝑎𝑛𝑐𝑒</m:t>
                        </m:r>
                      </m:e>
                      <m:sub>
                        <m:r>
                          <a:rPr kumimoji="1" lang="en-US" altLang="zh-CN" b="0" i="1" smtClean="0">
                            <a:latin typeface="Cambria Math" panose="02040503050406030204" pitchFamily="18" charset="0"/>
                            <a:ea typeface="SimSun" panose="02010600030101010101" pitchFamily="2" charset="-122"/>
                          </a:rPr>
                          <m:t>𝑔𝑒𝑚𝑚</m:t>
                        </m:r>
                      </m:sub>
                    </m:sSub>
                    <m:r>
                      <a:rPr kumimoji="1" lang="en-US" altLang="zh-CN" b="0" i="1" smtClean="0">
                        <a:latin typeface="Cambria Math" panose="02040503050406030204" pitchFamily="18" charset="0"/>
                        <a:ea typeface="SimSun" panose="02010600030101010101" pitchFamily="2" charset="-122"/>
                      </a:rPr>
                      <m:t>=</m:t>
                    </m:r>
                    <m:f>
                      <m:fPr>
                        <m:ctrlPr>
                          <a:rPr kumimoji="1" lang="en-US" altLang="zh-CN" b="0" i="1" smtClean="0">
                            <a:latin typeface="Cambria Math" panose="02040503050406030204" pitchFamily="18" charset="0"/>
                            <a:ea typeface="SimSun" panose="02010600030101010101" pitchFamily="2" charset="-122"/>
                          </a:rPr>
                        </m:ctrlPr>
                      </m:fPr>
                      <m:num>
                        <m:r>
                          <a:rPr kumimoji="1" lang="en-US" altLang="zh-CN" b="0" i="1" smtClean="0">
                            <a:latin typeface="Cambria Math" panose="02040503050406030204" pitchFamily="18" charset="0"/>
                            <a:ea typeface="SimSun" panose="02010600030101010101" pitchFamily="2" charset="-122"/>
                          </a:rPr>
                          <m:t>250</m:t>
                        </m:r>
                        <m:r>
                          <a:rPr kumimoji="1" lang="zh-CN" altLang="en-US" b="0" i="1" smtClean="0">
                            <a:latin typeface="Cambria Math" panose="02040503050406030204" pitchFamily="18" charset="0"/>
                            <a:ea typeface="SimSun" panose="02010600030101010101" pitchFamily="2" charset="-122"/>
                          </a:rPr>
                          <m:t>∗</m:t>
                        </m:r>
                        <m:r>
                          <a:rPr kumimoji="1" lang="en-US" altLang="zh-CN" b="0" i="1" smtClean="0">
                            <a:latin typeface="Cambria Math" panose="02040503050406030204" pitchFamily="18" charset="0"/>
                            <a:ea typeface="SimSun" panose="02010600030101010101" pitchFamily="2" charset="-122"/>
                          </a:rPr>
                          <m:t>𝑀</m:t>
                        </m:r>
                        <m:r>
                          <a:rPr kumimoji="1" lang="en-US" altLang="zh-CN" b="0" i="1" smtClean="0">
                            <a:latin typeface="Cambria Math" panose="02040503050406030204" pitchFamily="18" charset="0"/>
                            <a:ea typeface="SimSun" panose="02010600030101010101" pitchFamily="2" charset="-122"/>
                          </a:rPr>
                          <m:t>1</m:t>
                        </m:r>
                        <m:r>
                          <a:rPr kumimoji="1" lang="zh-CN" altLang="en-US" b="0" i="1" smtClean="0">
                            <a:latin typeface="Cambria Math" panose="02040503050406030204" pitchFamily="18" charset="0"/>
                            <a:ea typeface="SimSun" panose="02010600030101010101" pitchFamily="2" charset="-122"/>
                          </a:rPr>
                          <m:t>∗</m:t>
                        </m:r>
                        <m:r>
                          <a:rPr kumimoji="1" lang="en-US" altLang="zh-CN" b="0" i="1" smtClean="0">
                            <a:latin typeface="Cambria Math" panose="02040503050406030204" pitchFamily="18" charset="0"/>
                            <a:ea typeface="SimSun" panose="02010600030101010101" pitchFamily="2" charset="-122"/>
                          </a:rPr>
                          <m:t>𝐾</m:t>
                        </m:r>
                        <m:r>
                          <a:rPr kumimoji="1" lang="en-US" altLang="zh-CN" b="0" i="1" smtClean="0">
                            <a:latin typeface="Cambria Math" panose="02040503050406030204" pitchFamily="18" charset="0"/>
                            <a:ea typeface="SimSun" panose="02010600030101010101" pitchFamily="2" charset="-122"/>
                          </a:rPr>
                          <m:t>1</m:t>
                        </m:r>
                        <m:r>
                          <a:rPr kumimoji="1" lang="zh-CN" altLang="en-US" b="0" i="1" smtClean="0">
                            <a:latin typeface="Cambria Math" panose="02040503050406030204" pitchFamily="18" charset="0"/>
                            <a:ea typeface="SimSun" panose="02010600030101010101" pitchFamily="2" charset="-122"/>
                          </a:rPr>
                          <m:t>∗</m:t>
                        </m:r>
                        <m:r>
                          <a:rPr kumimoji="1" lang="en-US" altLang="zh-CN" b="0" i="1" smtClean="0">
                            <a:latin typeface="Cambria Math" panose="02040503050406030204" pitchFamily="18" charset="0"/>
                            <a:ea typeface="SimSun" panose="02010600030101010101" pitchFamily="2" charset="-122"/>
                          </a:rPr>
                          <m:t>𝑁</m:t>
                        </m:r>
                      </m:num>
                      <m:den>
                        <m:r>
                          <a:rPr kumimoji="1" lang="en-US" altLang="zh-CN" b="0" i="1" smtClean="0">
                            <a:latin typeface="Cambria Math" panose="02040503050406030204" pitchFamily="18" charset="0"/>
                            <a:ea typeface="SimSun" panose="02010600030101010101" pitchFamily="2" charset="-122"/>
                          </a:rPr>
                          <m:t>4</m:t>
                        </m:r>
                        <m:r>
                          <a:rPr kumimoji="1" lang="zh-CN" altLang="en-US" b="0" i="1" smtClean="0">
                            <a:latin typeface="Cambria Math" panose="02040503050406030204" pitchFamily="18" charset="0"/>
                            <a:ea typeface="SimSun" panose="02010600030101010101" pitchFamily="2" charset="-122"/>
                          </a:rPr>
                          <m:t>∗</m:t>
                        </m:r>
                        <m:r>
                          <a:rPr kumimoji="1" lang="en-US" altLang="zh-CN" b="0" i="1" smtClean="0">
                            <a:latin typeface="Cambria Math" panose="02040503050406030204" pitchFamily="18" charset="0"/>
                            <a:ea typeface="SimSun" panose="02010600030101010101" pitchFamily="2" charset="-122"/>
                          </a:rPr>
                          <m:t>𝑀</m:t>
                        </m:r>
                        <m:r>
                          <a:rPr kumimoji="1" lang="en-US" altLang="zh-CN" b="0" i="1" smtClean="0">
                            <a:latin typeface="Cambria Math" panose="02040503050406030204" pitchFamily="18" charset="0"/>
                            <a:ea typeface="SimSun" panose="02010600030101010101" pitchFamily="2" charset="-122"/>
                          </a:rPr>
                          <m:t>1</m:t>
                        </m:r>
                        <m:r>
                          <a:rPr kumimoji="1" lang="zh-CN" altLang="en-US" b="0" i="1" smtClean="0">
                            <a:latin typeface="Cambria Math" panose="02040503050406030204" pitchFamily="18" charset="0"/>
                            <a:ea typeface="SimSun" panose="02010600030101010101" pitchFamily="2" charset="-122"/>
                          </a:rPr>
                          <m:t>∗</m:t>
                        </m:r>
                        <m:r>
                          <a:rPr kumimoji="1" lang="en-US" altLang="zh-CN" b="0" i="1" smtClean="0">
                            <a:latin typeface="Cambria Math" panose="02040503050406030204" pitchFamily="18" charset="0"/>
                            <a:ea typeface="SimSun" panose="02010600030101010101" pitchFamily="2" charset="-122"/>
                          </a:rPr>
                          <m:t>𝑁</m:t>
                        </m:r>
                        <m:r>
                          <a:rPr kumimoji="1" lang="en-US" altLang="zh-CN" b="0" i="1" smtClean="0">
                            <a:latin typeface="Cambria Math" panose="02040503050406030204" pitchFamily="18" charset="0"/>
                            <a:ea typeface="SimSun" panose="02010600030101010101" pitchFamily="2" charset="-122"/>
                          </a:rPr>
                          <m:t>+</m:t>
                        </m:r>
                        <m:r>
                          <a:rPr kumimoji="1" lang="en-US" altLang="zh-CN" b="0" i="1" smtClean="0">
                            <a:latin typeface="Cambria Math" panose="02040503050406030204" pitchFamily="18" charset="0"/>
                            <a:ea typeface="SimSun" panose="02010600030101010101" pitchFamily="2" charset="-122"/>
                          </a:rPr>
                          <m:t>𝐾</m:t>
                        </m:r>
                        <m:r>
                          <a:rPr kumimoji="1" lang="en-US" altLang="zh-CN" b="0" i="1" smtClean="0">
                            <a:latin typeface="Cambria Math" panose="02040503050406030204" pitchFamily="18" charset="0"/>
                            <a:ea typeface="SimSun" panose="02010600030101010101" pitchFamily="2" charset="-122"/>
                          </a:rPr>
                          <m:t>1</m:t>
                        </m:r>
                        <m:r>
                          <a:rPr kumimoji="1" lang="zh-CN" altLang="en-US" b="0" i="1" smtClean="0">
                            <a:latin typeface="Cambria Math" panose="02040503050406030204" pitchFamily="18" charset="0"/>
                            <a:ea typeface="SimSun" panose="02010600030101010101" pitchFamily="2" charset="-122"/>
                          </a:rPr>
                          <m:t>∗</m:t>
                        </m:r>
                        <m:r>
                          <a:rPr kumimoji="1" lang="en-US" altLang="zh-CN" b="0" i="1" smtClean="0">
                            <a:latin typeface="Cambria Math" panose="02040503050406030204" pitchFamily="18" charset="0"/>
                            <a:ea typeface="SimSun" panose="02010600030101010101" pitchFamily="2" charset="-122"/>
                          </a:rPr>
                          <m:t>𝑁</m:t>
                        </m:r>
                        <m:r>
                          <a:rPr kumimoji="1" lang="en-US" altLang="zh-CN" b="0" i="1" smtClean="0">
                            <a:latin typeface="Cambria Math" panose="02040503050406030204" pitchFamily="18" charset="0"/>
                            <a:ea typeface="SimSun" panose="02010600030101010101" pitchFamily="2" charset="-122"/>
                          </a:rPr>
                          <m:t>+</m:t>
                        </m:r>
                        <m:r>
                          <a:rPr kumimoji="1" lang="en-US" altLang="zh-CN" b="0" i="1" smtClean="0">
                            <a:latin typeface="Cambria Math" panose="02040503050406030204" pitchFamily="18" charset="0"/>
                            <a:ea typeface="SimSun" panose="02010600030101010101" pitchFamily="2" charset="-122"/>
                          </a:rPr>
                          <m:t>𝑀</m:t>
                        </m:r>
                        <m:r>
                          <a:rPr kumimoji="1" lang="en-US" altLang="zh-CN" b="0" i="1" smtClean="0">
                            <a:latin typeface="Cambria Math" panose="02040503050406030204" pitchFamily="18" charset="0"/>
                            <a:ea typeface="SimSun" panose="02010600030101010101" pitchFamily="2" charset="-122"/>
                          </a:rPr>
                          <m:t>1</m:t>
                        </m:r>
                        <m:r>
                          <a:rPr kumimoji="1" lang="zh-CN" altLang="en-US" b="0" i="1" smtClean="0">
                            <a:latin typeface="Cambria Math" panose="02040503050406030204" pitchFamily="18" charset="0"/>
                            <a:ea typeface="SimSun" panose="02010600030101010101" pitchFamily="2" charset="-122"/>
                          </a:rPr>
                          <m:t>∗</m:t>
                        </m:r>
                        <m:r>
                          <a:rPr kumimoji="1" lang="en-US" altLang="zh-CN" b="0" i="1" smtClean="0">
                            <a:latin typeface="Cambria Math" panose="02040503050406030204" pitchFamily="18" charset="0"/>
                            <a:ea typeface="SimSun" panose="02010600030101010101" pitchFamily="2" charset="-122"/>
                          </a:rPr>
                          <m:t>𝐾</m:t>
                        </m:r>
                        <m:r>
                          <a:rPr kumimoji="1" lang="en-US" altLang="zh-CN" b="0" i="1" smtClean="0">
                            <a:latin typeface="Cambria Math" panose="02040503050406030204" pitchFamily="18" charset="0"/>
                            <a:ea typeface="SimSun" panose="02010600030101010101" pitchFamily="2" charset="-122"/>
                          </a:rPr>
                          <m:t>1</m:t>
                        </m:r>
                      </m:den>
                    </m:f>
                    <m:r>
                      <a:rPr kumimoji="1" lang="en-US" altLang="zh-CN" b="0" i="1" smtClean="0">
                        <a:latin typeface="Cambria Math" panose="02040503050406030204" pitchFamily="18" charset="0"/>
                        <a:ea typeface="SimSun" panose="02010600030101010101" pitchFamily="2" charset="-122"/>
                      </a:rPr>
                      <m:t>=</m:t>
                    </m:r>
                    <m:f>
                      <m:fPr>
                        <m:ctrlPr>
                          <a:rPr kumimoji="1" lang="en-US" altLang="zh-CN" i="1" smtClean="0">
                            <a:latin typeface="Cambria Math" panose="02040503050406030204" pitchFamily="18" charset="0"/>
                            <a:ea typeface="SimSun" panose="02010600030101010101" pitchFamily="2" charset="-122"/>
                          </a:rPr>
                        </m:ctrlPr>
                      </m:fPr>
                      <m:num>
                        <m:r>
                          <a:rPr kumimoji="1" lang="en-US" altLang="zh-CN" i="1">
                            <a:latin typeface="Cambria Math" panose="02040503050406030204" pitchFamily="18" charset="0"/>
                            <a:ea typeface="SimSun" panose="02010600030101010101" pitchFamily="2" charset="-122"/>
                          </a:rPr>
                          <m:t>25</m:t>
                        </m:r>
                        <m:r>
                          <a:rPr kumimoji="1" lang="en-US" altLang="zh-CN" b="0" i="1" smtClean="0">
                            <a:latin typeface="Cambria Math" panose="02040503050406030204" pitchFamily="18" charset="0"/>
                            <a:ea typeface="SimSun" panose="02010600030101010101" pitchFamily="2" charset="-122"/>
                          </a:rPr>
                          <m:t>0</m:t>
                        </m:r>
                      </m:num>
                      <m:den>
                        <m:f>
                          <m:fPr>
                            <m:ctrlPr>
                              <a:rPr kumimoji="1" lang="en-US" altLang="zh-CN" i="1" smtClean="0">
                                <a:latin typeface="Cambria Math" panose="02040503050406030204" pitchFamily="18" charset="0"/>
                                <a:ea typeface="SimSun" panose="02010600030101010101" pitchFamily="2" charset="-122"/>
                              </a:rPr>
                            </m:ctrlPr>
                          </m:fPr>
                          <m:num>
                            <m:r>
                              <a:rPr kumimoji="1" lang="en-US" altLang="zh-CN" b="0" i="1" smtClean="0">
                                <a:latin typeface="Cambria Math" panose="02040503050406030204" pitchFamily="18" charset="0"/>
                                <a:ea typeface="SimSun" panose="02010600030101010101" pitchFamily="2" charset="-122"/>
                              </a:rPr>
                              <m:t>4</m:t>
                            </m:r>
                          </m:num>
                          <m:den>
                            <m:r>
                              <a:rPr kumimoji="1" lang="en-US" altLang="zh-CN" b="0" i="1" smtClean="0">
                                <a:latin typeface="Cambria Math" panose="02040503050406030204" pitchFamily="18" charset="0"/>
                                <a:ea typeface="SimSun" panose="02010600030101010101" pitchFamily="2" charset="-122"/>
                              </a:rPr>
                              <m:t>𝐾</m:t>
                            </m:r>
                            <m:r>
                              <a:rPr kumimoji="1" lang="en-US" altLang="zh-CN" b="0" i="1" smtClean="0">
                                <a:latin typeface="Cambria Math" panose="02040503050406030204" pitchFamily="18" charset="0"/>
                                <a:ea typeface="SimSun" panose="02010600030101010101" pitchFamily="2" charset="-122"/>
                              </a:rPr>
                              <m:t>1</m:t>
                            </m:r>
                          </m:den>
                        </m:f>
                        <m:r>
                          <a:rPr kumimoji="1" lang="en-US" altLang="zh-CN" i="1">
                            <a:latin typeface="Cambria Math" panose="02040503050406030204" pitchFamily="18" charset="0"/>
                            <a:ea typeface="SimSun" panose="02010600030101010101" pitchFamily="2" charset="-122"/>
                          </a:rPr>
                          <m:t>+</m:t>
                        </m:r>
                        <m:f>
                          <m:fPr>
                            <m:ctrlPr>
                              <a:rPr kumimoji="1" lang="en-US" altLang="zh-CN" i="1" smtClean="0">
                                <a:latin typeface="Cambria Math" panose="02040503050406030204" pitchFamily="18" charset="0"/>
                                <a:ea typeface="SimSun" panose="02010600030101010101" pitchFamily="2" charset="-122"/>
                              </a:rPr>
                            </m:ctrlPr>
                          </m:fPr>
                          <m:num>
                            <m:r>
                              <a:rPr kumimoji="1" lang="en-US" altLang="zh-CN" b="0" i="1" smtClean="0">
                                <a:latin typeface="Cambria Math" panose="02040503050406030204" pitchFamily="18" charset="0"/>
                                <a:ea typeface="SimSun" panose="02010600030101010101" pitchFamily="2" charset="-122"/>
                              </a:rPr>
                              <m:t>1</m:t>
                            </m:r>
                          </m:num>
                          <m:den>
                            <m:r>
                              <a:rPr kumimoji="1" lang="en-US" altLang="zh-CN" b="0" i="1" smtClean="0">
                                <a:latin typeface="Cambria Math" panose="02040503050406030204" pitchFamily="18" charset="0"/>
                                <a:ea typeface="SimSun" panose="02010600030101010101" pitchFamily="2" charset="-122"/>
                              </a:rPr>
                              <m:t>𝑀</m:t>
                            </m:r>
                            <m:r>
                              <a:rPr kumimoji="1" lang="en-US" altLang="zh-CN" b="0" i="1" smtClean="0">
                                <a:latin typeface="Cambria Math" panose="02040503050406030204" pitchFamily="18" charset="0"/>
                                <a:ea typeface="SimSun" panose="02010600030101010101" pitchFamily="2" charset="-122"/>
                              </a:rPr>
                              <m:t>1</m:t>
                            </m:r>
                          </m:den>
                        </m:f>
                        <m:r>
                          <a:rPr kumimoji="1" lang="en-US" altLang="zh-CN" i="1">
                            <a:latin typeface="Cambria Math" panose="02040503050406030204" pitchFamily="18" charset="0"/>
                            <a:ea typeface="SimSun" panose="02010600030101010101" pitchFamily="2" charset="-122"/>
                          </a:rPr>
                          <m:t>+</m:t>
                        </m:r>
                        <m:f>
                          <m:fPr>
                            <m:ctrlPr>
                              <a:rPr kumimoji="1" lang="en-US" altLang="zh-CN" i="1" smtClean="0">
                                <a:latin typeface="Cambria Math" panose="02040503050406030204" pitchFamily="18" charset="0"/>
                                <a:ea typeface="SimSun" panose="02010600030101010101" pitchFamily="2" charset="-122"/>
                              </a:rPr>
                            </m:ctrlPr>
                          </m:fPr>
                          <m:num>
                            <m:r>
                              <a:rPr kumimoji="1" lang="en-US" altLang="zh-CN" b="0" i="1" smtClean="0">
                                <a:latin typeface="Cambria Math" panose="02040503050406030204" pitchFamily="18" charset="0"/>
                                <a:ea typeface="SimSun" panose="02010600030101010101" pitchFamily="2" charset="-122"/>
                              </a:rPr>
                              <m:t>1</m:t>
                            </m:r>
                          </m:num>
                          <m:den>
                            <m:r>
                              <a:rPr kumimoji="1" lang="en-US" altLang="zh-CN" b="0" i="1" smtClean="0">
                                <a:latin typeface="Cambria Math" panose="02040503050406030204" pitchFamily="18" charset="0"/>
                                <a:ea typeface="SimSun" panose="02010600030101010101" pitchFamily="2" charset="-122"/>
                              </a:rPr>
                              <m:t>𝑁</m:t>
                            </m:r>
                          </m:den>
                        </m:f>
                      </m:den>
                    </m:f>
                    <m:r>
                      <a:rPr kumimoji="1" lang="en-US" altLang="zh-CN" b="0" i="1" smtClean="0">
                        <a:latin typeface="Cambria Math" panose="02040503050406030204" pitchFamily="18" charset="0"/>
                        <a:ea typeface="SimSun" panose="02010600030101010101" pitchFamily="2" charset="-122"/>
                      </a:rPr>
                      <m:t>𝐺𝐹𝐿𝑂𝑃𝑆</m:t>
                    </m:r>
                  </m:oMath>
                </a14:m>
                <a:endParaRPr kumimoji="1" lang="en-US" altLang="zh-CN" dirty="0">
                  <a:latin typeface="SimSun" panose="02010600030101010101" pitchFamily="2" charset="-122"/>
                  <a:ea typeface="SimSun" panose="02010600030101010101" pitchFamily="2" charset="-122"/>
                </a:endParaRPr>
              </a:p>
              <a:p>
                <a:endParaRPr kumimoji="1" lang="zh-CN" altLang="en-US" dirty="0">
                  <a:latin typeface="SimSun" panose="02010600030101010101" pitchFamily="2" charset="-122"/>
                  <a:ea typeface="SimSun" panose="02010600030101010101" pitchFamily="2" charset="-122"/>
                </a:endParaRPr>
              </a:p>
            </p:txBody>
          </p:sp>
        </mc:Choice>
        <mc:Fallback xmlns="">
          <p:sp>
            <p:nvSpPr>
              <p:cNvPr id="20" name="文本框 19">
                <a:extLst>
                  <a:ext uri="{FF2B5EF4-FFF2-40B4-BE49-F238E27FC236}">
                    <a16:creationId xmlns:a16="http://schemas.microsoft.com/office/drawing/2014/main" id="{87A0158B-614C-736C-75AA-8FF824A82AE1}"/>
                  </a:ext>
                </a:extLst>
              </p:cNvPr>
              <p:cNvSpPr txBox="1">
                <a:spLocks noRot="1" noChangeAspect="1" noMove="1" noResize="1" noEditPoints="1" noAdjustHandles="1" noChangeArrowheads="1" noChangeShapeType="1" noTextEdit="1"/>
              </p:cNvSpPr>
              <p:nvPr/>
            </p:nvSpPr>
            <p:spPr>
              <a:xfrm>
                <a:off x="5553075" y="2449436"/>
                <a:ext cx="4309110" cy="1195648"/>
              </a:xfrm>
              <a:prstGeom prst="rect">
                <a:avLst/>
              </a:prstGeom>
              <a:blipFill>
                <a:blip r:embed="rId8"/>
                <a:stretch>
                  <a:fillRect l="-1176" t="-4167"/>
                </a:stretch>
              </a:blipFill>
            </p:spPr>
            <p:txBody>
              <a:bodyPr/>
              <a:lstStyle/>
              <a:p>
                <a:r>
                  <a:rPr lang="zh-CN" altLang="en-US">
                    <a:noFill/>
                  </a:rPr>
                  <a:t> </a:t>
                </a:r>
              </a:p>
            </p:txBody>
          </p:sp>
        </mc:Fallback>
      </mc:AlternateContent>
      <p:sp>
        <p:nvSpPr>
          <p:cNvPr id="21" name="文本框 20">
            <a:extLst>
              <a:ext uri="{FF2B5EF4-FFF2-40B4-BE49-F238E27FC236}">
                <a16:creationId xmlns:a16="http://schemas.microsoft.com/office/drawing/2014/main" id="{48C2B1B9-FC11-C789-14C5-4B3789CF9C79}"/>
              </a:ext>
            </a:extLst>
          </p:cNvPr>
          <p:cNvSpPr txBox="1"/>
          <p:nvPr/>
        </p:nvSpPr>
        <p:spPr>
          <a:xfrm>
            <a:off x="5760720" y="3817620"/>
            <a:ext cx="5063254" cy="2031325"/>
          </a:xfrm>
          <a:prstGeom prst="rect">
            <a:avLst/>
          </a:prstGeom>
          <a:noFill/>
        </p:spPr>
        <p:txBody>
          <a:bodyPr wrap="square" rtlCol="0">
            <a:spAutoFit/>
          </a:bodyPr>
          <a:lstStyle/>
          <a:p>
            <a:r>
              <a:rPr kumimoji="1" lang="zh-CN" altLang="en-US" dirty="0">
                <a:latin typeface="SimSun" panose="02010600030101010101" pitchFamily="2" charset="-122"/>
                <a:ea typeface="SimSun" panose="02010600030101010101" pitchFamily="2" charset="-122"/>
              </a:rPr>
              <a:t>由上式可得，从</a:t>
            </a:r>
            <a:r>
              <a:rPr kumimoji="1" lang="en-US" altLang="zh-CN" dirty="0">
                <a:latin typeface="SimSun" panose="02010600030101010101" pitchFamily="2" charset="-122"/>
                <a:ea typeface="SimSun" panose="02010600030101010101" pitchFamily="2" charset="-122"/>
              </a:rPr>
              <a:t>DMA</a:t>
            </a:r>
            <a:r>
              <a:rPr kumimoji="1" lang="zh-CN" altLang="en-US" dirty="0">
                <a:latin typeface="SimSun" panose="02010600030101010101" pitchFamily="2" charset="-122"/>
                <a:ea typeface="SimSun" panose="02010600030101010101" pitchFamily="2" charset="-122"/>
              </a:rPr>
              <a:t>层面分析，整个</a:t>
            </a:r>
            <a:r>
              <a:rPr kumimoji="1" lang="en-US" altLang="zh-CN" dirty="0" err="1">
                <a:latin typeface="SimSun" panose="02010600030101010101" pitchFamily="2" charset="-122"/>
                <a:ea typeface="SimSun" panose="02010600030101010101" pitchFamily="2" charset="-122"/>
              </a:rPr>
              <a:t>Gemm</a:t>
            </a:r>
            <a:r>
              <a:rPr kumimoji="1" lang="zh-CN" altLang="en-US" dirty="0">
                <a:latin typeface="SimSun" panose="02010600030101010101" pitchFamily="2" charset="-122"/>
                <a:ea typeface="SimSun" panose="02010600030101010101" pitchFamily="2" charset="-122"/>
              </a:rPr>
              <a:t>的性能和</a:t>
            </a:r>
            <a:r>
              <a:rPr kumimoji="1" lang="en-US" altLang="zh-CN" dirty="0">
                <a:latin typeface="SimSun" panose="02010600030101010101" pitchFamily="2" charset="-122"/>
                <a:ea typeface="SimSun" panose="02010600030101010101" pitchFamily="2" charset="-122"/>
              </a:rPr>
              <a:t>K1,M1,N</a:t>
            </a:r>
            <a:r>
              <a:rPr kumimoji="1" lang="zh-CN" altLang="en-US" dirty="0">
                <a:latin typeface="SimSun" panose="02010600030101010101" pitchFamily="2" charset="-122"/>
                <a:ea typeface="SimSun" panose="02010600030101010101" pitchFamily="2" charset="-122"/>
              </a:rPr>
              <a:t>的值成反比。</a:t>
            </a:r>
            <a:endParaRPr kumimoji="1" lang="en-US" altLang="zh-CN" dirty="0">
              <a:latin typeface="SimSun" panose="02010600030101010101" pitchFamily="2" charset="-122"/>
              <a:ea typeface="SimSun" panose="02010600030101010101" pitchFamily="2" charset="-122"/>
            </a:endParaRPr>
          </a:p>
          <a:p>
            <a:r>
              <a:rPr kumimoji="1" lang="zh-CN" altLang="en-US" dirty="0">
                <a:latin typeface="SimSun" panose="02010600030101010101" pitchFamily="2" charset="-122"/>
                <a:ea typeface="SimSun" panose="02010600030101010101" pitchFamily="2" charset="-122"/>
              </a:rPr>
              <a:t>这个比较直观的理解为</a:t>
            </a:r>
            <a:r>
              <a:rPr kumimoji="1" lang="en-US" altLang="zh-CN" dirty="0">
                <a:latin typeface="SimSun" panose="02010600030101010101" pitchFamily="2" charset="-122"/>
                <a:ea typeface="SimSun" panose="02010600030101010101" pitchFamily="2" charset="-122"/>
              </a:rPr>
              <a:t>:</a:t>
            </a:r>
          </a:p>
          <a:p>
            <a:r>
              <a:rPr kumimoji="1" lang="en-US" altLang="zh-CN" dirty="0" err="1">
                <a:latin typeface="SimSun" panose="02010600030101010101" pitchFamily="2" charset="-122"/>
                <a:ea typeface="SimSun" panose="02010600030101010101" pitchFamily="2" charset="-122"/>
              </a:rPr>
              <a:t>MatC</a:t>
            </a:r>
            <a:r>
              <a:rPr kumimoji="1" lang="zh-CN" altLang="en-US" dirty="0">
                <a:latin typeface="SimSun" panose="02010600030101010101" pitchFamily="2" charset="-122"/>
                <a:ea typeface="SimSun" panose="02010600030101010101" pitchFamily="2" charset="-122"/>
              </a:rPr>
              <a:t>的读写次数和</a:t>
            </a:r>
            <a:r>
              <a:rPr kumimoji="1" lang="en-US" altLang="zh-CN" dirty="0">
                <a:latin typeface="SimSun" panose="02010600030101010101" pitchFamily="2" charset="-122"/>
                <a:ea typeface="SimSun" panose="02010600030101010101" pitchFamily="2" charset="-122"/>
              </a:rPr>
              <a:t>K1</a:t>
            </a:r>
            <a:r>
              <a:rPr kumimoji="1" lang="zh-CN" altLang="en-US" dirty="0">
                <a:latin typeface="SimSun" panose="02010600030101010101" pitchFamily="2" charset="-122"/>
                <a:ea typeface="SimSun" panose="02010600030101010101" pitchFamily="2" charset="-122"/>
              </a:rPr>
              <a:t>成反比。</a:t>
            </a:r>
            <a:endParaRPr kumimoji="1" lang="en-US" altLang="zh-CN" dirty="0">
              <a:latin typeface="SimSun" panose="02010600030101010101" pitchFamily="2" charset="-122"/>
              <a:ea typeface="SimSun" panose="02010600030101010101" pitchFamily="2" charset="-122"/>
            </a:endParaRPr>
          </a:p>
          <a:p>
            <a:r>
              <a:rPr kumimoji="1" lang="en-US" altLang="zh-CN" dirty="0" err="1">
                <a:latin typeface="SimSun" panose="02010600030101010101" pitchFamily="2" charset="-122"/>
                <a:ea typeface="SimSun" panose="02010600030101010101" pitchFamily="2" charset="-122"/>
              </a:rPr>
              <a:t>MatB</a:t>
            </a:r>
            <a:r>
              <a:rPr kumimoji="1" lang="zh-CN" altLang="en-US" dirty="0">
                <a:latin typeface="SimSun" panose="02010600030101010101" pitchFamily="2" charset="-122"/>
                <a:ea typeface="SimSun" panose="02010600030101010101" pitchFamily="2" charset="-122"/>
              </a:rPr>
              <a:t>的读取次数和</a:t>
            </a:r>
            <a:r>
              <a:rPr kumimoji="1" lang="en-US" altLang="zh-CN" dirty="0">
                <a:latin typeface="SimSun" panose="02010600030101010101" pitchFamily="2" charset="-122"/>
                <a:ea typeface="SimSun" panose="02010600030101010101" pitchFamily="2" charset="-122"/>
              </a:rPr>
              <a:t>K1</a:t>
            </a:r>
            <a:r>
              <a:rPr kumimoji="1" lang="zh-CN" altLang="en-US" dirty="0">
                <a:latin typeface="SimSun" panose="02010600030101010101" pitchFamily="2" charset="-122"/>
                <a:ea typeface="SimSun" panose="02010600030101010101" pitchFamily="2" charset="-122"/>
              </a:rPr>
              <a:t>成反比。</a:t>
            </a:r>
            <a:endParaRPr kumimoji="1" lang="en-US" altLang="zh-CN" dirty="0">
              <a:latin typeface="SimSun" panose="02010600030101010101" pitchFamily="2" charset="-122"/>
              <a:ea typeface="SimSun" panose="02010600030101010101" pitchFamily="2" charset="-122"/>
            </a:endParaRPr>
          </a:p>
          <a:p>
            <a:r>
              <a:rPr kumimoji="1" lang="en-US" altLang="zh-CN" dirty="0">
                <a:latin typeface="SimSun" panose="02010600030101010101" pitchFamily="2" charset="-122"/>
                <a:ea typeface="SimSun" panose="02010600030101010101" pitchFamily="2" charset="-122"/>
              </a:rPr>
              <a:t>N</a:t>
            </a:r>
            <a:r>
              <a:rPr kumimoji="1" lang="zh-CN" altLang="en-US" dirty="0">
                <a:latin typeface="SimSun" panose="02010600030101010101" pitchFamily="2" charset="-122"/>
                <a:ea typeface="SimSun" panose="02010600030101010101" pitchFamily="2" charset="-122"/>
              </a:rPr>
              <a:t>越大则代表读取一个</a:t>
            </a:r>
            <a:r>
              <a:rPr kumimoji="1" lang="en-US" altLang="zh-CN" dirty="0">
                <a:latin typeface="SimSun" panose="02010600030101010101" pitchFamily="2" charset="-122"/>
                <a:ea typeface="SimSun" panose="02010600030101010101" pitchFamily="2" charset="-122"/>
              </a:rPr>
              <a:t>M1*K1</a:t>
            </a:r>
            <a:r>
              <a:rPr kumimoji="1" lang="zh-CN" altLang="en-US" dirty="0">
                <a:latin typeface="SimSun" panose="02010600030101010101" pitchFamily="2" charset="-122"/>
                <a:ea typeface="SimSun" panose="02010600030101010101" pitchFamily="2" charset="-122"/>
              </a:rPr>
              <a:t>的</a:t>
            </a:r>
            <a:r>
              <a:rPr kumimoji="1" lang="en-US" altLang="zh-CN" dirty="0" err="1">
                <a:latin typeface="SimSun" panose="02010600030101010101" pitchFamily="2" charset="-122"/>
                <a:ea typeface="SimSun" panose="02010600030101010101" pitchFamily="2" charset="-122"/>
              </a:rPr>
              <a:t>MatA</a:t>
            </a:r>
            <a:r>
              <a:rPr kumimoji="1" lang="zh-CN" altLang="en-US" dirty="0">
                <a:latin typeface="SimSun" panose="02010600030101010101" pitchFamily="2" charset="-122"/>
                <a:ea typeface="SimSun" panose="02010600030101010101" pitchFamily="2" charset="-122"/>
              </a:rPr>
              <a:t>就能计算更多的</a:t>
            </a:r>
            <a:r>
              <a:rPr kumimoji="1" lang="en-US" altLang="zh-CN" dirty="0" err="1">
                <a:latin typeface="SimSun" panose="02010600030101010101" pitchFamily="2" charset="-122"/>
                <a:ea typeface="SimSun" panose="02010600030101010101" pitchFamily="2" charset="-122"/>
              </a:rPr>
              <a:t>MatB</a:t>
            </a:r>
            <a:endParaRPr kumimoji="1" lang="zh-CN" altLang="en-US" dirty="0">
              <a:latin typeface="SimSun" panose="02010600030101010101" pitchFamily="2" charset="-122"/>
              <a:ea typeface="SimSun" panose="02010600030101010101" pitchFamily="2" charset="-122"/>
            </a:endParaRPr>
          </a:p>
        </p:txBody>
      </p:sp>
    </p:spTree>
    <p:extLst>
      <p:ext uri="{BB962C8B-B14F-4D97-AF65-F5344CB8AC3E}">
        <p14:creationId xmlns:p14="http://schemas.microsoft.com/office/powerpoint/2010/main" val="4059339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295275" y="422752"/>
            <a:ext cx="10515600" cy="515184"/>
          </a:xfrm>
        </p:spPr>
        <p:txBody>
          <a:bodyPr/>
          <a:lstStyle/>
          <a:p>
            <a:r>
              <a:rPr lang="en-US" altLang="zh-CN" dirty="0"/>
              <a:t>RMA</a:t>
            </a:r>
            <a:r>
              <a:rPr lang="zh-CN" altLang="en-US" dirty="0"/>
              <a:t>瓶颈分析</a:t>
            </a:r>
          </a:p>
        </p:txBody>
      </p:sp>
      <p:sp>
        <p:nvSpPr>
          <p:cNvPr id="7" name="文本框 6">
            <a:extLst>
              <a:ext uri="{FF2B5EF4-FFF2-40B4-BE49-F238E27FC236}">
                <a16:creationId xmlns:a16="http://schemas.microsoft.com/office/drawing/2014/main" id="{F3A71DC8-BD25-1BE9-8B85-92BF716C8B5B}"/>
              </a:ext>
            </a:extLst>
          </p:cNvPr>
          <p:cNvSpPr txBox="1"/>
          <p:nvPr/>
        </p:nvSpPr>
        <p:spPr>
          <a:xfrm>
            <a:off x="171450" y="983655"/>
            <a:ext cx="4309110" cy="646331"/>
          </a:xfrm>
          <a:prstGeom prst="rect">
            <a:avLst/>
          </a:prstGeom>
          <a:noFill/>
        </p:spPr>
        <p:txBody>
          <a:bodyPr wrap="square" rtlCol="0">
            <a:spAutoFit/>
          </a:bodyPr>
          <a:lstStyle/>
          <a:p>
            <a:r>
              <a:rPr kumimoji="1" lang="en-US" altLang="zh-CN" dirty="0">
                <a:latin typeface="SimSun" panose="02010600030101010101" pitchFamily="2" charset="-122"/>
                <a:ea typeface="SimSun" panose="02010600030101010101" pitchFamily="2" charset="-122"/>
              </a:rPr>
              <a:t>RMA</a:t>
            </a:r>
            <a:r>
              <a:rPr kumimoji="1" lang="zh-CN" altLang="en-US" dirty="0">
                <a:latin typeface="SimSun" panose="02010600030101010101" pitchFamily="2" charset="-122"/>
                <a:ea typeface="SimSun" panose="02010600030101010101" pitchFamily="2" charset="-122"/>
              </a:rPr>
              <a:t>相关模块的</a:t>
            </a:r>
            <a:r>
              <a:rPr kumimoji="1" lang="zh-CN" altLang="en-US" dirty="0">
                <a:solidFill>
                  <a:srgbClr val="FF0000"/>
                </a:solidFill>
                <a:latin typeface="SimSun" panose="02010600030101010101" pitchFamily="2" charset="-122"/>
                <a:ea typeface="SimSun" panose="02010600030101010101" pitchFamily="2" charset="-122"/>
              </a:rPr>
              <a:t>单核访</a:t>
            </a:r>
            <a:r>
              <a:rPr kumimoji="1" lang="zh-CN" altLang="en-US" dirty="0">
                <a:latin typeface="SimSun" panose="02010600030101010101" pitchFamily="2" charset="-122"/>
                <a:ea typeface="SimSun" panose="02010600030101010101" pitchFamily="2" charset="-122"/>
              </a:rPr>
              <a:t>问数据量如下</a:t>
            </a:r>
            <a:r>
              <a:rPr kumimoji="1" lang="en-US" altLang="zh-CN" dirty="0">
                <a:latin typeface="SimSun" panose="02010600030101010101" pitchFamily="2" charset="-122"/>
                <a:ea typeface="SimSun" panose="02010600030101010101" pitchFamily="2" charset="-122"/>
              </a:rPr>
              <a:t>:</a:t>
            </a:r>
          </a:p>
          <a:p>
            <a:endParaRPr kumimoji="1" lang="zh-CN" altLang="en-US" dirty="0">
              <a:latin typeface="SimSun" panose="02010600030101010101" pitchFamily="2" charset="-122"/>
              <a:ea typeface="SimSun" panose="02010600030101010101" pitchFamily="2" charset="-122"/>
            </a:endParaRPr>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54AAB90B-85C2-AB9E-6B4D-FF2517933777}"/>
                  </a:ext>
                </a:extLst>
              </p:cNvPr>
              <p:cNvSpPr txBox="1"/>
              <p:nvPr/>
            </p:nvSpPr>
            <p:spPr>
              <a:xfrm>
                <a:off x="6528438" y="1427583"/>
                <a:ext cx="5310947" cy="1275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kumimoji="1" lang="en-US" altLang="zh-CN" i="1" smtClean="0">
                              <a:latin typeface="Cambria Math" panose="02040503050406030204" pitchFamily="18" charset="0"/>
                            </a:rPr>
                          </m:ctrlPr>
                        </m:fPr>
                        <m:num>
                          <m:d>
                            <m:dPr>
                              <m:ctrlPr>
                                <a:rPr kumimoji="1" lang="en-US" altLang="zh-CN" b="0" i="1" smtClean="0">
                                  <a:latin typeface="Cambria Math" panose="02040503050406030204" pitchFamily="18" charset="0"/>
                                </a:rPr>
                              </m:ctrlPr>
                            </m:dPr>
                            <m:e>
                              <m:r>
                                <a:rPr kumimoji="1" lang="en-US" altLang="zh-CN" b="0" i="1" smtClean="0">
                                  <a:latin typeface="Cambria Math" panose="02040503050406030204" pitchFamily="18" charset="0"/>
                                </a:rPr>
                                <m:t>3</m:t>
                              </m:r>
                              <m:r>
                                <a:rPr kumimoji="1" lang="zh-CN" altLang="en-US" b="0" i="1" smtClean="0">
                                  <a:latin typeface="Cambria Math" panose="02040503050406030204" pitchFamily="18" charset="0"/>
                                </a:rPr>
                                <m:t>∗</m:t>
                              </m:r>
                              <m:r>
                                <m:rPr>
                                  <m:sty m:val="p"/>
                                </m:rPr>
                                <a:rPr kumimoji="1" lang="en-US" altLang="zh-CN" i="1">
                                  <a:latin typeface="Cambria Math" panose="02040503050406030204" pitchFamily="18" charset="0"/>
                                </a:rPr>
                                <m:t>M</m:t>
                              </m:r>
                              <m:r>
                                <a:rPr kumimoji="1" lang="en-US" altLang="zh-CN" i="1">
                                  <a:latin typeface="Cambria Math" panose="02040503050406030204" pitchFamily="18" charset="0"/>
                                </a:rPr>
                                <m:t>2∗</m:t>
                              </m:r>
                              <m:r>
                                <m:rPr>
                                  <m:sty m:val="p"/>
                                </m:rPr>
                                <a:rPr kumimoji="1" lang="en-US" altLang="zh-CN" i="1">
                                  <a:latin typeface="Cambria Math" panose="02040503050406030204" pitchFamily="18" charset="0"/>
                                </a:rPr>
                                <m:t>N</m:t>
                              </m:r>
                              <m:r>
                                <a:rPr kumimoji="1" lang="en-US" altLang="zh-CN" i="1">
                                  <a:latin typeface="Cambria Math" panose="02040503050406030204" pitchFamily="18" charset="0"/>
                                </a:rPr>
                                <m:t>2+2</m:t>
                              </m:r>
                              <m:r>
                                <a:rPr kumimoji="1" lang="zh-CN" altLang="en-US" b="0" i="1" smtClean="0">
                                  <a:latin typeface="Cambria Math" panose="02040503050406030204" pitchFamily="18" charset="0"/>
                                </a:rPr>
                                <m:t>∗</m:t>
                              </m:r>
                              <m:r>
                                <a:rPr kumimoji="1" lang="en-US" altLang="zh-CN" b="0" i="1" smtClean="0">
                                  <a:latin typeface="Cambria Math" panose="02040503050406030204" pitchFamily="18" charset="0"/>
                                </a:rPr>
                                <m:t>𝑁</m:t>
                              </m:r>
                              <m:r>
                                <a:rPr kumimoji="1" lang="en-US" altLang="zh-CN" b="0" i="1" smtClean="0">
                                  <a:latin typeface="Cambria Math" panose="02040503050406030204" pitchFamily="18" charset="0"/>
                                </a:rPr>
                                <m:t>2</m:t>
                              </m:r>
                              <m:r>
                                <a:rPr kumimoji="1" lang="zh-CN" altLang="en-US" b="0" i="1" smtClean="0">
                                  <a:latin typeface="Cambria Math" panose="02040503050406030204" pitchFamily="18" charset="0"/>
                                </a:rPr>
                                <m:t>∗</m:t>
                              </m:r>
                              <m:r>
                                <a:rPr kumimoji="1" lang="en-US" altLang="zh-CN" b="0" i="1" smtClean="0">
                                  <a:latin typeface="Cambria Math" panose="02040503050406030204" pitchFamily="18" charset="0"/>
                                </a:rPr>
                                <m:t>𝐾</m:t>
                              </m:r>
                              <m:r>
                                <a:rPr kumimoji="1" lang="en-US" altLang="zh-CN" b="0" i="1" smtClean="0">
                                  <a:latin typeface="Cambria Math" panose="02040503050406030204" pitchFamily="18" charset="0"/>
                                </a:rPr>
                                <m:t>2+</m:t>
                              </m:r>
                              <m:r>
                                <m:rPr>
                                  <m:sty m:val="p"/>
                                </m:rPr>
                                <a:rPr kumimoji="1" lang="en-US" altLang="zh-CN" i="1">
                                  <a:latin typeface="Cambria Math" panose="02040503050406030204" pitchFamily="18" charset="0"/>
                                </a:rPr>
                                <m:t>M</m:t>
                              </m:r>
                              <m:r>
                                <a:rPr kumimoji="1" lang="en-US" altLang="zh-CN" i="1">
                                  <a:latin typeface="Cambria Math" panose="02040503050406030204" pitchFamily="18" charset="0"/>
                                </a:rPr>
                                <m:t>2∗</m:t>
                              </m:r>
                              <m:r>
                                <a:rPr kumimoji="1" lang="en-US" altLang="zh-CN" b="0" i="1" smtClean="0">
                                  <a:latin typeface="Cambria Math" panose="02040503050406030204" pitchFamily="18" charset="0"/>
                                </a:rPr>
                                <m:t>𝑁</m:t>
                              </m:r>
                              <m:r>
                                <a:rPr kumimoji="1" lang="en-US" altLang="zh-CN" b="0" i="1" smtClean="0">
                                  <a:latin typeface="Cambria Math" panose="02040503050406030204" pitchFamily="18" charset="0"/>
                                </a:rPr>
                                <m:t>2+</m:t>
                              </m:r>
                              <m:f>
                                <m:fPr>
                                  <m:ctrlPr>
                                    <a:rPr kumimoji="1" lang="en-US" altLang="zh-CN" b="0" i="1" smtClean="0">
                                      <a:latin typeface="Cambria Math" panose="02040503050406030204" pitchFamily="18" charset="0"/>
                                    </a:rPr>
                                  </m:ctrlPr>
                                </m:fPr>
                                <m:num>
                                  <m:r>
                                    <a:rPr kumimoji="1" lang="en-US" altLang="zh-CN" b="0" i="1" smtClean="0">
                                      <a:latin typeface="Cambria Math" panose="02040503050406030204" pitchFamily="18" charset="0"/>
                                    </a:rPr>
                                    <m:t>𝐾</m:t>
                                  </m:r>
                                  <m:r>
                                    <a:rPr kumimoji="1" lang="en-US" altLang="zh-CN" b="0" i="1" smtClean="0">
                                      <a:latin typeface="Cambria Math" panose="02040503050406030204" pitchFamily="18" charset="0"/>
                                    </a:rPr>
                                    <m:t>2</m:t>
                                  </m:r>
                                </m:num>
                                <m:den>
                                  <m:r>
                                    <a:rPr kumimoji="1" lang="en-US" altLang="zh-CN" b="0" i="1" smtClean="0">
                                      <a:latin typeface="Cambria Math" panose="02040503050406030204" pitchFamily="18" charset="0"/>
                                    </a:rPr>
                                    <m:t>4</m:t>
                                  </m:r>
                                </m:den>
                              </m:f>
                              <m:r>
                                <a:rPr kumimoji="1" lang="zh-CN" altLang="en-US" b="0" i="1" smtClean="0">
                                  <a:latin typeface="Cambria Math" panose="02040503050406030204" pitchFamily="18" charset="0"/>
                                </a:rPr>
                                <m:t>∗</m:t>
                              </m:r>
                              <m:r>
                                <a:rPr kumimoji="1" lang="en-US" altLang="zh-CN" b="0" i="1" smtClean="0">
                                  <a:latin typeface="Cambria Math" panose="02040503050406030204" pitchFamily="18" charset="0"/>
                                </a:rPr>
                                <m:t>𝑁</m:t>
                              </m:r>
                              <m:r>
                                <a:rPr kumimoji="1" lang="en-US" altLang="zh-CN" b="0" i="1" smtClean="0">
                                  <a:latin typeface="Cambria Math" panose="02040503050406030204" pitchFamily="18" charset="0"/>
                                </a:rPr>
                                <m:t>2</m:t>
                              </m:r>
                            </m:e>
                          </m:d>
                          <m:r>
                            <a:rPr kumimoji="1" lang="en-US" altLang="zh-CN" b="0" i="1" smtClean="0">
                              <a:latin typeface="Cambria Math" panose="02040503050406030204" pitchFamily="18" charset="0"/>
                            </a:rPr>
                            <m:t>𝐵</m:t>
                          </m:r>
                        </m:num>
                        <m:den>
                          <m:r>
                            <a:rPr kumimoji="1" lang="en-US" altLang="zh-CN" b="0" i="1" smtClean="0">
                              <a:latin typeface="Cambria Math" panose="02040503050406030204" pitchFamily="18" charset="0"/>
                            </a:rPr>
                            <m:t>64</m:t>
                          </m:r>
                          <m:r>
                            <a:rPr kumimoji="1" lang="en-US" altLang="zh-CN" b="0" i="1" smtClean="0">
                              <a:latin typeface="Cambria Math" panose="02040503050406030204" pitchFamily="18" charset="0"/>
                            </a:rPr>
                            <m:t>𝐺𝐵</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𝑠</m:t>
                          </m:r>
                        </m:den>
                      </m:f>
                      <m:r>
                        <a:rPr kumimoji="1" lang="en-US" altLang="zh-CN" b="0" i="0" smtClean="0">
                          <a:latin typeface="Cambria Math" panose="02040503050406030204" pitchFamily="18" charset="0"/>
                        </a:rPr>
                        <m:t>&lt;</m:t>
                      </m:r>
                      <m:f>
                        <m:fPr>
                          <m:ctrlPr>
                            <a:rPr kumimoji="1" lang="en-US" altLang="zh-CN" b="0" i="1" smtClean="0">
                              <a:latin typeface="Cambria Math" panose="02040503050406030204" pitchFamily="18" charset="0"/>
                            </a:rPr>
                          </m:ctrlPr>
                        </m:fPr>
                        <m:num>
                          <m:r>
                            <a:rPr kumimoji="1" lang="en-US" altLang="zh-CN" b="0" i="1" smtClean="0">
                              <a:latin typeface="Cambria Math" panose="02040503050406030204" pitchFamily="18" charset="0"/>
                            </a:rPr>
                            <m:t>𝑀</m:t>
                          </m:r>
                          <m:r>
                            <a:rPr kumimoji="1" lang="en-US" altLang="zh-CN" b="0" i="1" smtClean="0">
                              <a:latin typeface="Cambria Math" panose="02040503050406030204" pitchFamily="18" charset="0"/>
                            </a:rPr>
                            <m:t>2</m:t>
                          </m:r>
                          <m:r>
                            <a:rPr kumimoji="1" lang="zh-CN" altLang="en-US" b="0" i="1" smtClean="0">
                              <a:latin typeface="Cambria Math" panose="02040503050406030204" pitchFamily="18" charset="0"/>
                            </a:rPr>
                            <m:t>∗</m:t>
                          </m:r>
                          <m:r>
                            <a:rPr kumimoji="1" lang="en-US" altLang="zh-CN" b="0" i="1" smtClean="0">
                              <a:latin typeface="Cambria Math" panose="02040503050406030204" pitchFamily="18" charset="0"/>
                            </a:rPr>
                            <m:t>𝐾</m:t>
                          </m:r>
                          <m:r>
                            <a:rPr kumimoji="1" lang="en-US" altLang="zh-CN" b="0" i="1" smtClean="0">
                              <a:latin typeface="Cambria Math" panose="02040503050406030204" pitchFamily="18" charset="0"/>
                            </a:rPr>
                            <m:t>2</m:t>
                          </m:r>
                          <m:r>
                            <a:rPr kumimoji="1" lang="zh-CN" altLang="en-US" b="0" i="1" smtClean="0">
                              <a:latin typeface="Cambria Math" panose="02040503050406030204" pitchFamily="18" charset="0"/>
                            </a:rPr>
                            <m:t>∗</m:t>
                          </m:r>
                          <m:r>
                            <a:rPr kumimoji="1" lang="en-US" altLang="zh-CN" b="0" i="1" smtClean="0">
                              <a:latin typeface="Cambria Math" panose="02040503050406030204" pitchFamily="18" charset="0"/>
                            </a:rPr>
                            <m:t>𝑁</m:t>
                          </m:r>
                          <m:r>
                            <a:rPr kumimoji="1" lang="en-US" altLang="zh-CN" b="0" i="1" smtClean="0">
                              <a:latin typeface="Cambria Math" panose="02040503050406030204" pitchFamily="18" charset="0"/>
                            </a:rPr>
                            <m:t>2</m:t>
                          </m:r>
                          <m:r>
                            <a:rPr kumimoji="1" lang="zh-CN" altLang="en-US" b="0" i="1" smtClean="0">
                              <a:latin typeface="Cambria Math" panose="02040503050406030204" pitchFamily="18" charset="0"/>
                            </a:rPr>
                            <m:t>∗</m:t>
                          </m:r>
                          <m:r>
                            <a:rPr kumimoji="1" lang="en-US" altLang="zh-CN" b="0" i="1" smtClean="0">
                              <a:latin typeface="Cambria Math" panose="02040503050406030204" pitchFamily="18" charset="0"/>
                            </a:rPr>
                            <m:t>2</m:t>
                          </m:r>
                        </m:num>
                        <m:den>
                          <m:r>
                            <a:rPr kumimoji="1" lang="en-US" altLang="zh-CN" b="0" i="1" smtClean="0">
                              <a:latin typeface="Cambria Math" panose="02040503050406030204" pitchFamily="18" charset="0"/>
                            </a:rPr>
                            <m:t>2500</m:t>
                          </m:r>
                          <m:r>
                            <a:rPr kumimoji="1" lang="en-US" altLang="zh-CN" b="0" i="1" smtClean="0">
                              <a:latin typeface="Cambria Math" panose="02040503050406030204" pitchFamily="18" charset="0"/>
                            </a:rPr>
                            <m:t>𝐺𝐹𝐿𝑂𝑃𝑆</m:t>
                          </m:r>
                        </m:den>
                      </m:f>
                    </m:oMath>
                  </m:oMathPara>
                </a14:m>
                <a:endParaRPr kumimoji="1" lang="zh-CN" altLang="en-US" dirty="0"/>
              </a:p>
            </p:txBody>
          </p:sp>
        </mc:Choice>
        <mc:Fallback xmlns="">
          <p:sp>
            <p:nvSpPr>
              <p:cNvPr id="16" name="文本框 15">
                <a:extLst>
                  <a:ext uri="{FF2B5EF4-FFF2-40B4-BE49-F238E27FC236}">
                    <a16:creationId xmlns:a16="http://schemas.microsoft.com/office/drawing/2014/main" id="{54AAB90B-85C2-AB9E-6B4D-FF2517933777}"/>
                  </a:ext>
                </a:extLst>
              </p:cNvPr>
              <p:cNvSpPr txBox="1">
                <a:spLocks noRot="1" noChangeAspect="1" noMove="1" noResize="1" noEditPoints="1" noAdjustHandles="1" noChangeArrowheads="1" noChangeShapeType="1" noTextEdit="1"/>
              </p:cNvSpPr>
              <p:nvPr/>
            </p:nvSpPr>
            <p:spPr>
              <a:xfrm>
                <a:off x="6528438" y="1427583"/>
                <a:ext cx="5310947" cy="1275221"/>
              </a:xfrm>
              <a:prstGeom prst="rect">
                <a:avLst/>
              </a:prstGeom>
              <a:blipFill>
                <a:blip r:embed="rId3"/>
                <a:stretch>
                  <a:fillRect t="-990" b="-5941"/>
                </a:stretch>
              </a:blipFill>
            </p:spPr>
            <p:txBody>
              <a:bodyPr/>
              <a:lstStyle/>
              <a:p>
                <a:r>
                  <a:rPr lang="zh-CN" altLang="en-US">
                    <a:noFill/>
                  </a:rPr>
                  <a:t> </a:t>
                </a:r>
              </a:p>
            </p:txBody>
          </p:sp>
        </mc:Fallback>
      </mc:AlternateContent>
      <p:sp>
        <p:nvSpPr>
          <p:cNvPr id="18" name="文本框 17">
            <a:extLst>
              <a:ext uri="{FF2B5EF4-FFF2-40B4-BE49-F238E27FC236}">
                <a16:creationId xmlns:a16="http://schemas.microsoft.com/office/drawing/2014/main" id="{69B9A2C7-C982-9825-8E97-47B0EF2476BD}"/>
              </a:ext>
            </a:extLst>
          </p:cNvPr>
          <p:cNvSpPr txBox="1"/>
          <p:nvPr/>
        </p:nvSpPr>
        <p:spPr>
          <a:xfrm>
            <a:off x="6597130" y="4642009"/>
            <a:ext cx="4733926" cy="2031325"/>
          </a:xfrm>
          <a:prstGeom prst="rect">
            <a:avLst/>
          </a:prstGeom>
          <a:noFill/>
        </p:spPr>
        <p:txBody>
          <a:bodyPr wrap="square" rtlCol="0">
            <a:spAutoFit/>
          </a:bodyPr>
          <a:lstStyle/>
          <a:p>
            <a:r>
              <a:rPr kumimoji="1" lang="zh-CN" altLang="en-US" dirty="0">
                <a:latin typeface="SimSun" panose="02010600030101010101" pitchFamily="2" charset="-122"/>
                <a:ea typeface="SimSun" panose="02010600030101010101" pitchFamily="2" charset="-122"/>
              </a:rPr>
              <a:t>第二个模块的性能是和</a:t>
            </a:r>
            <a:r>
              <a:rPr kumimoji="1" lang="en-US" altLang="zh-CN" dirty="0">
                <a:latin typeface="SimSun" panose="02010600030101010101" pitchFamily="2" charset="-122"/>
                <a:ea typeface="SimSun" panose="02010600030101010101" pitchFamily="2" charset="-122"/>
              </a:rPr>
              <a:t>N1</a:t>
            </a:r>
            <a:r>
              <a:rPr kumimoji="1" lang="zh-CN" altLang="en-US" dirty="0">
                <a:latin typeface="SimSun" panose="02010600030101010101" pitchFamily="2" charset="-122"/>
                <a:ea typeface="SimSun" panose="02010600030101010101" pitchFamily="2" charset="-122"/>
              </a:rPr>
              <a:t>的取值无关。目前</a:t>
            </a:r>
            <a:r>
              <a:rPr kumimoji="1" lang="en-US" altLang="zh-CN" dirty="0">
                <a:latin typeface="SimSun" panose="02010600030101010101" pitchFamily="2" charset="-122"/>
                <a:ea typeface="SimSun" panose="02010600030101010101" pitchFamily="2" charset="-122"/>
              </a:rPr>
              <a:t>Demo</a:t>
            </a:r>
            <a:r>
              <a:rPr kumimoji="1" lang="zh-CN" altLang="en-US" dirty="0">
                <a:latin typeface="SimSun" panose="02010600030101010101" pitchFamily="2" charset="-122"/>
                <a:ea typeface="SimSun" panose="02010600030101010101" pitchFamily="2" charset="-122"/>
              </a:rPr>
              <a:t>中</a:t>
            </a:r>
            <a:r>
              <a:rPr kumimoji="1" lang="en-US" altLang="zh-CN" dirty="0">
                <a:latin typeface="SimSun" panose="02010600030101010101" pitchFamily="2" charset="-122"/>
                <a:ea typeface="SimSun" panose="02010600030101010101" pitchFamily="2" charset="-122"/>
              </a:rPr>
              <a:t>M2=128</a:t>
            </a:r>
            <a:r>
              <a:rPr kumimoji="1" lang="zh-CN" altLang="en-US" dirty="0">
                <a:latin typeface="SimSun" panose="02010600030101010101" pitchFamily="2" charset="-122"/>
                <a:ea typeface="SimSun" panose="02010600030101010101" pitchFamily="2" charset="-122"/>
              </a:rPr>
              <a:t>，</a:t>
            </a:r>
            <a:r>
              <a:rPr kumimoji="1" lang="en-US" altLang="zh-CN" dirty="0">
                <a:latin typeface="SimSun" panose="02010600030101010101" pitchFamily="2" charset="-122"/>
                <a:ea typeface="SimSun" panose="02010600030101010101" pitchFamily="2" charset="-122"/>
              </a:rPr>
              <a:t>K2=384</a:t>
            </a:r>
            <a:r>
              <a:rPr kumimoji="1" lang="zh-CN" altLang="en-US" dirty="0">
                <a:latin typeface="SimSun" panose="02010600030101010101" pitchFamily="2" charset="-122"/>
                <a:ea typeface="SimSun" panose="02010600030101010101" pitchFamily="2" charset="-122"/>
              </a:rPr>
              <a:t>，</a:t>
            </a:r>
            <a:r>
              <a:rPr kumimoji="1" lang="en-US" altLang="zh-CN" dirty="0">
                <a:latin typeface="SimSun" panose="02010600030101010101" pitchFamily="2" charset="-122"/>
                <a:ea typeface="SimSun" panose="02010600030101010101" pitchFamily="2" charset="-122"/>
              </a:rPr>
              <a:t>N2=32.</a:t>
            </a:r>
          </a:p>
          <a:p>
            <a:r>
              <a:rPr kumimoji="1" lang="zh-CN" altLang="en-US" dirty="0">
                <a:latin typeface="SimSun" panose="02010600030101010101" pitchFamily="2" charset="-122"/>
                <a:ea typeface="SimSun" panose="02010600030101010101" pitchFamily="2" charset="-122"/>
              </a:rPr>
              <a:t>直接带入计算的话，</a:t>
            </a:r>
            <a:r>
              <a:rPr kumimoji="1" lang="en-US" altLang="zh-CN" dirty="0">
                <a:latin typeface="SimSun" panose="02010600030101010101" pitchFamily="2" charset="-122"/>
                <a:ea typeface="SimSun" panose="02010600030101010101" pitchFamily="2" charset="-122"/>
              </a:rPr>
              <a:t>RMA</a:t>
            </a:r>
            <a:r>
              <a:rPr kumimoji="1" lang="zh-CN" altLang="en-US" dirty="0">
                <a:latin typeface="SimSun" panose="02010600030101010101" pitchFamily="2" charset="-122"/>
                <a:ea typeface="SimSun" panose="02010600030101010101" pitchFamily="2" charset="-122"/>
              </a:rPr>
              <a:t>本身并不会成为瓶颈。</a:t>
            </a:r>
            <a:endParaRPr kumimoji="1" lang="en-US" altLang="zh-CN" dirty="0">
              <a:latin typeface="SimSun" panose="02010600030101010101" pitchFamily="2" charset="-122"/>
              <a:ea typeface="SimSun" panose="02010600030101010101" pitchFamily="2" charset="-122"/>
            </a:endParaRPr>
          </a:p>
          <a:p>
            <a:r>
              <a:rPr kumimoji="1" lang="zh-CN" altLang="en-US" dirty="0">
                <a:latin typeface="SimSun" panose="02010600030101010101" pitchFamily="2" charset="-122"/>
                <a:ea typeface="SimSun" panose="02010600030101010101" pitchFamily="2" charset="-122"/>
              </a:rPr>
              <a:t>但实际由于</a:t>
            </a:r>
            <a:r>
              <a:rPr kumimoji="1" lang="en-US" altLang="zh-CN" dirty="0">
                <a:latin typeface="SimSun" panose="02010600030101010101" pitchFamily="2" charset="-122"/>
                <a:ea typeface="SimSun" panose="02010600030101010101" pitchFamily="2" charset="-122"/>
              </a:rPr>
              <a:t>RMA</a:t>
            </a:r>
            <a:r>
              <a:rPr kumimoji="1" lang="zh-CN" altLang="en-US" dirty="0">
                <a:latin typeface="SimSun" panose="02010600030101010101" pitchFamily="2" charset="-122"/>
                <a:ea typeface="SimSun" panose="02010600030101010101" pitchFamily="2" charset="-122"/>
              </a:rPr>
              <a:t>通信之间各个从核性能的</a:t>
            </a:r>
            <a:r>
              <a:rPr kumimoji="1" lang="en-US" altLang="zh-CN" dirty="0">
                <a:latin typeface="SimSun" panose="02010600030101010101" pitchFamily="2" charset="-122"/>
                <a:ea typeface="SimSun" panose="02010600030101010101" pitchFamily="2" charset="-122"/>
              </a:rPr>
              <a:t>unbalance</a:t>
            </a:r>
            <a:r>
              <a:rPr kumimoji="1" lang="zh-CN" altLang="en-US" dirty="0">
                <a:latin typeface="SimSun" panose="02010600030101010101" pitchFamily="2" charset="-122"/>
                <a:ea typeface="SimSun" panose="02010600030101010101" pitchFamily="2" charset="-122"/>
              </a:rPr>
              <a:t>现象</a:t>
            </a:r>
            <a:r>
              <a:rPr kumimoji="1" lang="en-US" altLang="zh-CN" dirty="0">
                <a:latin typeface="SimSun" panose="02010600030101010101" pitchFamily="2" charset="-122"/>
                <a:ea typeface="SimSun" panose="02010600030101010101" pitchFamily="2" charset="-122"/>
              </a:rPr>
              <a:t>+</a:t>
            </a:r>
            <a:r>
              <a:rPr kumimoji="1" lang="zh-CN" altLang="en-US" dirty="0">
                <a:latin typeface="SimSun" panose="02010600030101010101" pitchFamily="2" charset="-122"/>
                <a:ea typeface="SimSun" panose="02010600030101010101" pitchFamily="2" charset="-122"/>
              </a:rPr>
              <a:t>需要进行</a:t>
            </a:r>
            <a:r>
              <a:rPr kumimoji="1" lang="en-US" altLang="zh-CN" dirty="0">
                <a:latin typeface="SimSun" panose="02010600030101010101" pitchFamily="2" charset="-122"/>
                <a:ea typeface="SimSun" panose="02010600030101010101" pitchFamily="2" charset="-122"/>
              </a:rPr>
              <a:t>col/</a:t>
            </a:r>
            <a:r>
              <a:rPr kumimoji="1" lang="en-US" altLang="zh-CN">
                <a:latin typeface="SimSun" panose="02010600030101010101" pitchFamily="2" charset="-122"/>
                <a:ea typeface="SimSun" panose="02010600030101010101" pitchFamily="2" charset="-122"/>
              </a:rPr>
              <a:t>row_sync,</a:t>
            </a:r>
            <a:r>
              <a:rPr kumimoji="1" lang="zh-CN" altLang="en-US" dirty="0">
                <a:latin typeface="SimSun" panose="02010600030101010101" pitchFamily="2" charset="-122"/>
                <a:ea typeface="SimSun" panose="02010600030101010101" pitchFamily="2" charset="-122"/>
              </a:rPr>
              <a:t>导致整体的性能会下降</a:t>
            </a:r>
            <a:r>
              <a:rPr kumimoji="1" lang="en-US" altLang="zh-CN" dirty="0">
                <a:latin typeface="SimSun" panose="02010600030101010101" pitchFamily="2" charset="-122"/>
                <a:ea typeface="SimSun" panose="02010600030101010101" pitchFamily="2" charset="-122"/>
              </a:rPr>
              <a:t>3-5TFLOPS</a:t>
            </a:r>
          </a:p>
          <a:p>
            <a:endParaRPr kumimoji="1" lang="en-US" altLang="zh-CN" dirty="0">
              <a:latin typeface="SimSun" panose="02010600030101010101" pitchFamily="2" charset="-122"/>
              <a:ea typeface="SimSun" panose="02010600030101010101" pitchFamily="2" charset="-122"/>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5EC3C181-87CC-59E8-AA71-00DFE66D3251}"/>
                  </a:ext>
                </a:extLst>
              </p:cNvPr>
              <p:cNvSpPr txBox="1"/>
              <p:nvPr/>
            </p:nvSpPr>
            <p:spPr>
              <a:xfrm>
                <a:off x="171450" y="1520343"/>
                <a:ext cx="324710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i="1" smtClean="0">
                              <a:latin typeface="Cambria Math" panose="02040503050406030204" pitchFamily="18" charset="0"/>
                            </a:rPr>
                          </m:ctrlPr>
                        </m:sSubPr>
                        <m:e>
                          <m:r>
                            <m:rPr>
                              <m:sty m:val="p"/>
                            </m:rPr>
                            <a:rPr kumimoji="1" lang="en-US" altLang="zh-CN" i="1">
                              <a:latin typeface="Cambria Math" panose="02040503050406030204" pitchFamily="18" charset="0"/>
                            </a:rPr>
                            <m:t>data</m:t>
                          </m:r>
                        </m:e>
                        <m:sub>
                          <m:r>
                            <m:rPr>
                              <m:sty m:val="p"/>
                            </m:rPr>
                            <a:rPr kumimoji="1" lang="en-US" altLang="zh-CN" i="1">
                              <a:latin typeface="Cambria Math" panose="02040503050406030204" pitchFamily="18" charset="0"/>
                            </a:rPr>
                            <m:t>RMA</m:t>
                          </m:r>
                          <m:r>
                            <a:rPr kumimoji="1" lang="en-US" altLang="zh-CN" i="1">
                              <a:latin typeface="Cambria Math" panose="02040503050406030204" pitchFamily="18" charset="0"/>
                            </a:rPr>
                            <m:t>_</m:t>
                          </m:r>
                          <m:r>
                            <m:rPr>
                              <m:sty m:val="p"/>
                            </m:rPr>
                            <a:rPr kumimoji="1" lang="en-US" altLang="zh-CN" i="1">
                              <a:latin typeface="Cambria Math" panose="02040503050406030204" pitchFamily="18" charset="0"/>
                            </a:rPr>
                            <m:t>PUT</m:t>
                          </m:r>
                          <m:r>
                            <a:rPr kumimoji="1" lang="en-US" altLang="zh-CN" i="1">
                              <a:latin typeface="Cambria Math" panose="02040503050406030204" pitchFamily="18" charset="0"/>
                            </a:rPr>
                            <m:t>_</m:t>
                          </m:r>
                          <m:r>
                            <m:rPr>
                              <m:sty m:val="p"/>
                            </m:rPr>
                            <a:rPr kumimoji="1" lang="en-US" altLang="zh-CN" i="1">
                              <a:latin typeface="Cambria Math" panose="02040503050406030204" pitchFamily="18" charset="0"/>
                            </a:rPr>
                            <m:t>MatB</m:t>
                          </m:r>
                        </m:sub>
                      </m:sSub>
                      <m:r>
                        <a:rPr kumimoji="1" lang="en-US" altLang="zh-CN" b="0" i="1" smtClean="0">
                          <a:latin typeface="Cambria Math" panose="02040503050406030204" pitchFamily="18" charset="0"/>
                        </a:rPr>
                        <m:t>=</m:t>
                      </m:r>
                      <m:r>
                        <m:rPr>
                          <m:sty m:val="p"/>
                        </m:rPr>
                        <a:rPr kumimoji="1" lang="en-US" altLang="zh-CN" i="1">
                          <a:latin typeface="Cambria Math" panose="02040503050406030204" pitchFamily="18" charset="0"/>
                        </a:rPr>
                        <m:t>N</m:t>
                      </m:r>
                      <m:r>
                        <a:rPr kumimoji="1" lang="en-US" altLang="zh-CN" i="1">
                          <a:latin typeface="Cambria Math" panose="02040503050406030204" pitchFamily="18" charset="0"/>
                        </a:rPr>
                        <m:t>2∗</m:t>
                      </m:r>
                      <m:r>
                        <m:rPr>
                          <m:sty m:val="p"/>
                        </m:rPr>
                        <a:rPr kumimoji="1" lang="en-US" altLang="zh-CN" i="1">
                          <a:latin typeface="Cambria Math" panose="02040503050406030204" pitchFamily="18" charset="0"/>
                        </a:rPr>
                        <m:t>K</m:t>
                      </m:r>
                      <m:r>
                        <a:rPr kumimoji="1" lang="en-US" altLang="zh-CN" i="1">
                          <a:latin typeface="Cambria Math" panose="02040503050406030204" pitchFamily="18" charset="0"/>
                        </a:rPr>
                        <m:t>2</m:t>
                      </m:r>
                      <m:r>
                        <a:rPr kumimoji="1" lang="zh-CN" altLang="en-US" b="0" i="1" smtClean="0">
                          <a:latin typeface="Cambria Math" panose="02040503050406030204" pitchFamily="18" charset="0"/>
                        </a:rPr>
                        <m:t>∗</m:t>
                      </m:r>
                      <m:r>
                        <a:rPr kumimoji="1" lang="en-US" altLang="zh-CN" b="0" i="1" smtClean="0">
                          <a:latin typeface="Cambria Math" panose="02040503050406030204" pitchFamily="18" charset="0"/>
                        </a:rPr>
                        <m:t>2</m:t>
                      </m:r>
                      <m:r>
                        <a:rPr kumimoji="1" lang="en-US" altLang="zh-CN" b="0" i="1" smtClean="0">
                          <a:latin typeface="Cambria Math" panose="02040503050406030204" pitchFamily="18" charset="0"/>
                        </a:rPr>
                        <m:t>𝐵</m:t>
                      </m:r>
                    </m:oMath>
                  </m:oMathPara>
                </a14:m>
                <a:endParaRPr kumimoji="1" lang="zh-CN" altLang="en-US" dirty="0"/>
              </a:p>
            </p:txBody>
          </p:sp>
        </mc:Choice>
        <mc:Fallback xmlns="">
          <p:sp>
            <p:nvSpPr>
              <p:cNvPr id="3" name="文本框 2">
                <a:extLst>
                  <a:ext uri="{FF2B5EF4-FFF2-40B4-BE49-F238E27FC236}">
                    <a16:creationId xmlns:a16="http://schemas.microsoft.com/office/drawing/2014/main" id="{5EC3C181-87CC-59E8-AA71-00DFE66D3251}"/>
                  </a:ext>
                </a:extLst>
              </p:cNvPr>
              <p:cNvSpPr txBox="1">
                <a:spLocks noRot="1" noChangeAspect="1" noMove="1" noResize="1" noEditPoints="1" noAdjustHandles="1" noChangeArrowheads="1" noChangeShapeType="1" noTextEdit="1"/>
              </p:cNvSpPr>
              <p:nvPr/>
            </p:nvSpPr>
            <p:spPr>
              <a:xfrm>
                <a:off x="171450" y="1520343"/>
                <a:ext cx="3247107" cy="276999"/>
              </a:xfrm>
              <a:prstGeom prst="rect">
                <a:avLst/>
              </a:prstGeom>
              <a:blipFill>
                <a:blip r:embed="rId5"/>
                <a:stretch>
                  <a:fillRect l="-1167" r="-778" b="-391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F7797E4E-D941-234C-DC75-076B689AB9AA}"/>
                  </a:ext>
                </a:extLst>
              </p:cNvPr>
              <p:cNvSpPr txBox="1"/>
              <p:nvPr/>
            </p:nvSpPr>
            <p:spPr>
              <a:xfrm>
                <a:off x="198119" y="1950340"/>
                <a:ext cx="5376665" cy="5186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i="1" smtClean="0">
                              <a:latin typeface="Cambria Math" panose="02040503050406030204" pitchFamily="18" charset="0"/>
                            </a:rPr>
                          </m:ctrlPr>
                        </m:sSubPr>
                        <m:e>
                          <m:r>
                            <m:rPr>
                              <m:sty m:val="p"/>
                            </m:rPr>
                            <a:rPr kumimoji="1" lang="en-US" altLang="zh-CN" i="1">
                              <a:latin typeface="Cambria Math" panose="02040503050406030204" pitchFamily="18" charset="0"/>
                            </a:rPr>
                            <m:t>data</m:t>
                          </m:r>
                        </m:e>
                        <m:sub>
                          <m:r>
                            <m:rPr>
                              <m:sty m:val="p"/>
                            </m:rPr>
                            <a:rPr kumimoji="1" lang="en-US" altLang="zh-CN" i="1">
                              <a:latin typeface="Cambria Math" panose="02040503050406030204" pitchFamily="18" charset="0"/>
                            </a:rPr>
                            <m:t>RMA</m:t>
                          </m:r>
                          <m:r>
                            <a:rPr kumimoji="1" lang="en-US" altLang="zh-CN" i="1">
                              <a:latin typeface="Cambria Math" panose="02040503050406030204" pitchFamily="18" charset="0"/>
                            </a:rPr>
                            <m:t>_</m:t>
                          </m:r>
                          <m:r>
                            <m:rPr>
                              <m:sty m:val="p"/>
                            </m:rPr>
                            <a:rPr kumimoji="1" lang="en-US" altLang="zh-CN" i="1">
                              <a:latin typeface="Cambria Math" panose="02040503050406030204" pitchFamily="18" charset="0"/>
                            </a:rPr>
                            <m:t>PUT</m:t>
                          </m:r>
                          <m:r>
                            <a:rPr kumimoji="1" lang="en-US" altLang="zh-CN" i="1">
                              <a:latin typeface="Cambria Math" panose="02040503050406030204" pitchFamily="18" charset="0"/>
                            </a:rPr>
                            <m:t>_</m:t>
                          </m:r>
                          <m:r>
                            <m:rPr>
                              <m:sty m:val="p"/>
                            </m:rPr>
                            <a:rPr kumimoji="1" lang="en-US" altLang="zh-CN" i="1">
                              <a:latin typeface="Cambria Math" panose="02040503050406030204" pitchFamily="18" charset="0"/>
                            </a:rPr>
                            <m:t>Mat</m:t>
                          </m:r>
                          <m:r>
                            <a:rPr kumimoji="1" lang="en-US" altLang="zh-CN" b="0" i="1" smtClean="0">
                              <a:latin typeface="Cambria Math" panose="02040503050406030204" pitchFamily="18" charset="0"/>
                            </a:rPr>
                            <m:t>𝐶</m:t>
                          </m:r>
                        </m:sub>
                      </m:sSub>
                      <m:r>
                        <a:rPr kumimoji="1" lang="en-US" altLang="zh-CN" b="0" i="1" smtClean="0">
                          <a:latin typeface="Cambria Math" panose="02040503050406030204" pitchFamily="18" charset="0"/>
                        </a:rPr>
                        <m:t>=3</m:t>
                      </m:r>
                      <m:r>
                        <a:rPr kumimoji="1" lang="zh-CN" altLang="en-US" b="0" i="1" smtClean="0">
                          <a:latin typeface="Cambria Math" panose="02040503050406030204" pitchFamily="18" charset="0"/>
                        </a:rPr>
                        <m:t> ∗</m:t>
                      </m:r>
                      <m:f>
                        <m:fPr>
                          <m:ctrlPr>
                            <a:rPr kumimoji="1" lang="en-US" altLang="zh-CN" b="0" i="1" smtClean="0">
                              <a:latin typeface="Cambria Math" panose="02040503050406030204" pitchFamily="18" charset="0"/>
                            </a:rPr>
                          </m:ctrlPr>
                        </m:fPr>
                        <m:num>
                          <m:r>
                            <a:rPr kumimoji="1" lang="en-US" altLang="zh-CN" b="0" i="1" smtClean="0">
                              <a:latin typeface="Cambria Math" panose="02040503050406030204" pitchFamily="18" charset="0"/>
                            </a:rPr>
                            <m:t>𝑀</m:t>
                          </m:r>
                          <m:r>
                            <a:rPr kumimoji="1" lang="en-US" altLang="zh-CN" b="0" i="1" smtClean="0">
                              <a:latin typeface="Cambria Math" panose="02040503050406030204" pitchFamily="18" charset="0"/>
                            </a:rPr>
                            <m:t>2</m:t>
                          </m:r>
                        </m:num>
                        <m:den>
                          <m:r>
                            <a:rPr kumimoji="1" lang="en-US" altLang="zh-CN" b="0" i="1" smtClean="0">
                              <a:latin typeface="Cambria Math" panose="02040503050406030204" pitchFamily="18" charset="0"/>
                            </a:rPr>
                            <m:t>4</m:t>
                          </m:r>
                        </m:den>
                      </m:f>
                      <m:r>
                        <a:rPr kumimoji="1" lang="en-US" altLang="zh-CN" i="1">
                          <a:latin typeface="Cambria Math" panose="02040503050406030204" pitchFamily="18" charset="0"/>
                        </a:rPr>
                        <m:t>∗</m:t>
                      </m:r>
                      <m:r>
                        <a:rPr kumimoji="1" lang="en-US" altLang="zh-CN" b="0" i="1" smtClean="0">
                          <a:latin typeface="Cambria Math" panose="02040503050406030204" pitchFamily="18" charset="0"/>
                        </a:rPr>
                        <m:t>𝑁</m:t>
                      </m:r>
                      <m:r>
                        <a:rPr kumimoji="1" lang="en-US" altLang="zh-CN" b="0" i="1" smtClean="0">
                          <a:latin typeface="Cambria Math" panose="02040503050406030204" pitchFamily="18" charset="0"/>
                        </a:rPr>
                        <m:t>2</m:t>
                      </m:r>
                      <m:r>
                        <a:rPr kumimoji="1" lang="zh-CN" altLang="en-US" b="0" i="1" smtClean="0">
                          <a:latin typeface="Cambria Math" panose="02040503050406030204" pitchFamily="18" charset="0"/>
                        </a:rPr>
                        <m:t>∗</m:t>
                      </m:r>
                      <m:r>
                        <a:rPr kumimoji="1" lang="en-US" altLang="zh-CN" b="0" i="1" smtClean="0">
                          <a:latin typeface="Cambria Math" panose="02040503050406030204" pitchFamily="18" charset="0"/>
                        </a:rPr>
                        <m:t>4</m:t>
                      </m:r>
                      <m:r>
                        <a:rPr kumimoji="1" lang="en-US" altLang="zh-CN" b="0" i="1" smtClean="0">
                          <a:latin typeface="Cambria Math" panose="02040503050406030204" pitchFamily="18" charset="0"/>
                        </a:rPr>
                        <m:t>𝐵</m:t>
                      </m:r>
                      <m:r>
                        <a:rPr kumimoji="1" lang="en-US" altLang="zh-CN" b="0" i="1" smtClean="0">
                          <a:latin typeface="Cambria Math" panose="02040503050406030204" pitchFamily="18" charset="0"/>
                        </a:rPr>
                        <m:t>=3</m:t>
                      </m:r>
                      <m:r>
                        <a:rPr kumimoji="1" lang="zh-CN" altLang="en-US" b="0" i="1" smtClean="0">
                          <a:latin typeface="Cambria Math" panose="02040503050406030204" pitchFamily="18" charset="0"/>
                        </a:rPr>
                        <m:t>∗</m:t>
                      </m:r>
                      <m:r>
                        <a:rPr kumimoji="1" lang="en-US" altLang="zh-CN" b="0" i="1" smtClean="0">
                          <a:latin typeface="Cambria Math" panose="02040503050406030204" pitchFamily="18" charset="0"/>
                        </a:rPr>
                        <m:t>𝑀</m:t>
                      </m:r>
                      <m:r>
                        <a:rPr kumimoji="1" lang="en-US" altLang="zh-CN" b="0" i="1" smtClean="0">
                          <a:latin typeface="Cambria Math" panose="02040503050406030204" pitchFamily="18" charset="0"/>
                        </a:rPr>
                        <m:t>2</m:t>
                      </m:r>
                      <m:r>
                        <a:rPr kumimoji="1" lang="zh-CN" altLang="en-US" b="0" i="1" smtClean="0">
                          <a:latin typeface="Cambria Math" panose="02040503050406030204" pitchFamily="18" charset="0"/>
                        </a:rPr>
                        <m:t>∗</m:t>
                      </m:r>
                      <m:r>
                        <a:rPr kumimoji="1" lang="en-US" altLang="zh-CN" b="0" i="1" smtClean="0">
                          <a:latin typeface="Cambria Math" panose="02040503050406030204" pitchFamily="18" charset="0"/>
                        </a:rPr>
                        <m:t>𝑁</m:t>
                      </m:r>
                      <m:r>
                        <a:rPr kumimoji="1" lang="en-US" altLang="zh-CN" b="0" i="1" smtClean="0">
                          <a:latin typeface="Cambria Math" panose="02040503050406030204" pitchFamily="18" charset="0"/>
                        </a:rPr>
                        <m:t>2</m:t>
                      </m:r>
                      <m:r>
                        <a:rPr kumimoji="1" lang="zh-CN" altLang="en-US" b="0" i="1" smtClean="0">
                          <a:latin typeface="Cambria Math" panose="02040503050406030204" pitchFamily="18" charset="0"/>
                        </a:rPr>
                        <m:t> </m:t>
                      </m:r>
                      <m:r>
                        <a:rPr kumimoji="1" lang="en-US" altLang="zh-CN" b="0" i="1" smtClean="0">
                          <a:latin typeface="Cambria Math" panose="02040503050406030204" pitchFamily="18" charset="0"/>
                        </a:rPr>
                        <m:t>𝐵</m:t>
                      </m:r>
                    </m:oMath>
                  </m:oMathPara>
                </a14:m>
                <a:endParaRPr kumimoji="1" lang="zh-CN" altLang="en-US" dirty="0"/>
              </a:p>
            </p:txBody>
          </p:sp>
        </mc:Choice>
        <mc:Fallback xmlns="">
          <p:sp>
            <p:nvSpPr>
              <p:cNvPr id="6" name="文本框 5">
                <a:extLst>
                  <a:ext uri="{FF2B5EF4-FFF2-40B4-BE49-F238E27FC236}">
                    <a16:creationId xmlns:a16="http://schemas.microsoft.com/office/drawing/2014/main" id="{F7797E4E-D941-234C-DC75-076B689AB9AA}"/>
                  </a:ext>
                </a:extLst>
              </p:cNvPr>
              <p:cNvSpPr txBox="1">
                <a:spLocks noRot="1" noChangeAspect="1" noMove="1" noResize="1" noEditPoints="1" noAdjustHandles="1" noChangeArrowheads="1" noChangeShapeType="1" noTextEdit="1"/>
              </p:cNvSpPr>
              <p:nvPr/>
            </p:nvSpPr>
            <p:spPr>
              <a:xfrm>
                <a:off x="198119" y="1950340"/>
                <a:ext cx="5376665" cy="518604"/>
              </a:xfrm>
              <a:prstGeom prst="rect">
                <a:avLst/>
              </a:prstGeom>
              <a:blipFill>
                <a:blip r:embed="rId6"/>
                <a:stretch>
                  <a:fillRect l="-943" t="-4762" r="-943" b="-11905"/>
                </a:stretch>
              </a:blipFill>
            </p:spPr>
            <p:txBody>
              <a:bodyPr/>
              <a:lstStyle/>
              <a:p>
                <a:r>
                  <a:rPr lang="zh-CN" altLang="en-US">
                    <a:noFill/>
                  </a:rPr>
                  <a:t> </a:t>
                </a:r>
              </a:p>
            </p:txBody>
          </p:sp>
        </mc:Fallback>
      </mc:AlternateContent>
      <p:sp>
        <p:nvSpPr>
          <p:cNvPr id="5" name="椭圆 4">
            <a:extLst>
              <a:ext uri="{FF2B5EF4-FFF2-40B4-BE49-F238E27FC236}">
                <a16:creationId xmlns:a16="http://schemas.microsoft.com/office/drawing/2014/main" id="{19D0179F-E595-81DA-F730-533AFCDD6503}"/>
              </a:ext>
            </a:extLst>
          </p:cNvPr>
          <p:cNvSpPr/>
          <p:nvPr/>
        </p:nvSpPr>
        <p:spPr>
          <a:xfrm>
            <a:off x="4859770" y="5627489"/>
            <a:ext cx="640080" cy="69723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1" name="直线连接符 10">
            <a:extLst>
              <a:ext uri="{FF2B5EF4-FFF2-40B4-BE49-F238E27FC236}">
                <a16:creationId xmlns:a16="http://schemas.microsoft.com/office/drawing/2014/main" id="{8CB00F0B-CD52-631D-AFCF-62D48E7E62E3}"/>
              </a:ext>
            </a:extLst>
          </p:cNvPr>
          <p:cNvCxnSpPr/>
          <p:nvPr/>
        </p:nvCxnSpPr>
        <p:spPr>
          <a:xfrm>
            <a:off x="5191240" y="6284358"/>
            <a:ext cx="0" cy="584199"/>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线连接符 11">
            <a:extLst>
              <a:ext uri="{FF2B5EF4-FFF2-40B4-BE49-F238E27FC236}">
                <a16:creationId xmlns:a16="http://schemas.microsoft.com/office/drawing/2014/main" id="{04EAE6BA-CB41-BF0C-40EC-5B9638E6C5AD}"/>
              </a:ext>
            </a:extLst>
          </p:cNvPr>
          <p:cNvCxnSpPr>
            <a:cxnSpLocks/>
            <a:stCxn id="5" idx="6"/>
          </p:cNvCxnSpPr>
          <p:nvPr/>
        </p:nvCxnSpPr>
        <p:spPr>
          <a:xfrm>
            <a:off x="5499850" y="5976104"/>
            <a:ext cx="457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线连接符 18">
            <a:extLst>
              <a:ext uri="{FF2B5EF4-FFF2-40B4-BE49-F238E27FC236}">
                <a16:creationId xmlns:a16="http://schemas.microsoft.com/office/drawing/2014/main" id="{1C332307-9FDF-82C9-2F78-118B1D5148CF}"/>
              </a:ext>
            </a:extLst>
          </p:cNvPr>
          <p:cNvCxnSpPr/>
          <p:nvPr/>
        </p:nvCxnSpPr>
        <p:spPr>
          <a:xfrm>
            <a:off x="5172190" y="5033786"/>
            <a:ext cx="0" cy="584199"/>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直线连接符 19">
            <a:extLst>
              <a:ext uri="{FF2B5EF4-FFF2-40B4-BE49-F238E27FC236}">
                <a16:creationId xmlns:a16="http://schemas.microsoft.com/office/drawing/2014/main" id="{7080A8BC-6E98-7DE7-0F93-1687D5409FEA}"/>
              </a:ext>
            </a:extLst>
          </p:cNvPr>
          <p:cNvCxnSpPr>
            <a:cxnSpLocks/>
            <a:stCxn id="5" idx="3"/>
          </p:cNvCxnSpPr>
          <p:nvPr/>
        </p:nvCxnSpPr>
        <p:spPr>
          <a:xfrm flipH="1">
            <a:off x="4562590" y="6222612"/>
            <a:ext cx="390918" cy="490727"/>
          </a:xfrm>
          <a:prstGeom prst="line">
            <a:avLst/>
          </a:prstGeom>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9DD6074F-A27B-EFD7-B7B1-9109D9F39A8F}"/>
              </a:ext>
            </a:extLst>
          </p:cNvPr>
          <p:cNvSpPr txBox="1"/>
          <p:nvPr/>
        </p:nvSpPr>
        <p:spPr>
          <a:xfrm>
            <a:off x="4457408" y="6079402"/>
            <a:ext cx="319318" cy="369332"/>
          </a:xfrm>
          <a:prstGeom prst="rect">
            <a:avLst/>
          </a:prstGeom>
          <a:noFill/>
        </p:spPr>
        <p:txBody>
          <a:bodyPr wrap="none" rtlCol="0">
            <a:spAutoFit/>
          </a:bodyPr>
          <a:lstStyle/>
          <a:p>
            <a:r>
              <a:rPr kumimoji="1" lang="en-US" altLang="zh-CN" dirty="0"/>
              <a:t>0</a:t>
            </a:r>
            <a:endParaRPr kumimoji="1" lang="zh-CN" altLang="en-US" dirty="0"/>
          </a:p>
        </p:txBody>
      </p:sp>
      <p:sp>
        <p:nvSpPr>
          <p:cNvPr id="25" name="文本框 24">
            <a:extLst>
              <a:ext uri="{FF2B5EF4-FFF2-40B4-BE49-F238E27FC236}">
                <a16:creationId xmlns:a16="http://schemas.microsoft.com/office/drawing/2014/main" id="{AD185397-8E21-65B0-56FE-65B26B6E4242}"/>
              </a:ext>
            </a:extLst>
          </p:cNvPr>
          <p:cNvSpPr txBox="1"/>
          <p:nvPr/>
        </p:nvSpPr>
        <p:spPr>
          <a:xfrm>
            <a:off x="5199997" y="6488668"/>
            <a:ext cx="319318" cy="369332"/>
          </a:xfrm>
          <a:prstGeom prst="rect">
            <a:avLst/>
          </a:prstGeom>
          <a:noFill/>
        </p:spPr>
        <p:txBody>
          <a:bodyPr wrap="none" rtlCol="0">
            <a:spAutoFit/>
          </a:bodyPr>
          <a:lstStyle/>
          <a:p>
            <a:r>
              <a:rPr kumimoji="1" lang="en-US" altLang="zh-CN" dirty="0"/>
              <a:t>1</a:t>
            </a:r>
            <a:endParaRPr kumimoji="1" lang="zh-CN" altLang="en-US" dirty="0"/>
          </a:p>
        </p:txBody>
      </p:sp>
      <p:sp>
        <p:nvSpPr>
          <p:cNvPr id="26" name="文本框 25">
            <a:extLst>
              <a:ext uri="{FF2B5EF4-FFF2-40B4-BE49-F238E27FC236}">
                <a16:creationId xmlns:a16="http://schemas.microsoft.com/office/drawing/2014/main" id="{22F82DB7-EB99-A45B-5F7F-7C7CC23B9303}"/>
              </a:ext>
            </a:extLst>
          </p:cNvPr>
          <p:cNvSpPr txBox="1"/>
          <p:nvPr/>
        </p:nvSpPr>
        <p:spPr>
          <a:xfrm>
            <a:off x="5148208" y="5145962"/>
            <a:ext cx="319318" cy="369332"/>
          </a:xfrm>
          <a:prstGeom prst="rect">
            <a:avLst/>
          </a:prstGeom>
          <a:noFill/>
        </p:spPr>
        <p:txBody>
          <a:bodyPr wrap="none" rtlCol="0">
            <a:spAutoFit/>
          </a:bodyPr>
          <a:lstStyle/>
          <a:p>
            <a:r>
              <a:rPr kumimoji="1" lang="en-US" altLang="zh-CN" dirty="0"/>
              <a:t>2</a:t>
            </a:r>
            <a:endParaRPr kumimoji="1" lang="zh-CN" altLang="en-US" dirty="0"/>
          </a:p>
        </p:txBody>
      </p:sp>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32168350-0AD3-5025-EFC3-34B9FE606192}"/>
                  </a:ext>
                </a:extLst>
              </p:cNvPr>
              <p:cNvSpPr txBox="1"/>
              <p:nvPr/>
            </p:nvSpPr>
            <p:spPr>
              <a:xfrm>
                <a:off x="176410" y="2523429"/>
                <a:ext cx="4784580" cy="5186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i="1" smtClean="0">
                              <a:latin typeface="Cambria Math" panose="02040503050406030204" pitchFamily="18" charset="0"/>
                            </a:rPr>
                          </m:ctrlPr>
                        </m:sSubPr>
                        <m:e>
                          <m:r>
                            <m:rPr>
                              <m:sty m:val="p"/>
                            </m:rPr>
                            <a:rPr kumimoji="1" lang="en-US" altLang="zh-CN" i="1">
                              <a:latin typeface="Cambria Math" panose="02040503050406030204" pitchFamily="18" charset="0"/>
                            </a:rPr>
                            <m:t>data</m:t>
                          </m:r>
                        </m:e>
                        <m:sub>
                          <m:r>
                            <m:rPr>
                              <m:sty m:val="p"/>
                            </m:rPr>
                            <a:rPr kumimoji="1" lang="en-US" altLang="zh-CN" i="1">
                              <a:latin typeface="Cambria Math" panose="02040503050406030204" pitchFamily="18" charset="0"/>
                            </a:rPr>
                            <m:t>DMA</m:t>
                          </m:r>
                          <m:r>
                            <a:rPr kumimoji="1" lang="en-US" altLang="zh-CN" i="1">
                              <a:latin typeface="Cambria Math" panose="02040503050406030204" pitchFamily="18" charset="0"/>
                            </a:rPr>
                            <m:t>_</m:t>
                          </m:r>
                          <m:r>
                            <m:rPr>
                              <m:sty m:val="p"/>
                            </m:rPr>
                            <a:rPr kumimoji="1" lang="en-US" altLang="zh-CN" i="1">
                              <a:latin typeface="Cambria Math" panose="02040503050406030204" pitchFamily="18" charset="0"/>
                            </a:rPr>
                            <m:t>GET</m:t>
                          </m:r>
                          <m:r>
                            <a:rPr kumimoji="1" lang="en-US" altLang="zh-CN" i="1">
                              <a:latin typeface="Cambria Math" panose="02040503050406030204" pitchFamily="18" charset="0"/>
                            </a:rPr>
                            <m:t>_</m:t>
                          </m:r>
                          <m:r>
                            <m:rPr>
                              <m:sty m:val="p"/>
                            </m:rPr>
                            <a:rPr kumimoji="1" lang="en-US" altLang="zh-CN" i="1">
                              <a:latin typeface="Cambria Math" panose="02040503050406030204" pitchFamily="18" charset="0"/>
                            </a:rPr>
                            <m:t>Mat</m:t>
                          </m:r>
                          <m:r>
                            <a:rPr kumimoji="1" lang="en-US" altLang="zh-CN" b="0" i="1" smtClean="0">
                              <a:latin typeface="Cambria Math" panose="02040503050406030204" pitchFamily="18" charset="0"/>
                            </a:rPr>
                            <m:t>𝐶</m:t>
                          </m:r>
                        </m:sub>
                      </m:sSub>
                      <m:r>
                        <a:rPr kumimoji="1" lang="en-US" altLang="zh-CN" b="0" i="1" smtClean="0">
                          <a:latin typeface="Cambria Math" panose="02040503050406030204" pitchFamily="18" charset="0"/>
                        </a:rPr>
                        <m:t>=</m:t>
                      </m:r>
                      <m:f>
                        <m:fPr>
                          <m:ctrlPr>
                            <a:rPr kumimoji="1" lang="en-US" altLang="zh-CN" b="0" i="1" smtClean="0">
                              <a:latin typeface="Cambria Math" panose="02040503050406030204" pitchFamily="18" charset="0"/>
                            </a:rPr>
                          </m:ctrlPr>
                        </m:fPr>
                        <m:num>
                          <m:r>
                            <a:rPr kumimoji="1" lang="en-US" altLang="zh-CN" b="0" i="1" smtClean="0">
                              <a:latin typeface="Cambria Math" panose="02040503050406030204" pitchFamily="18" charset="0"/>
                            </a:rPr>
                            <m:t>𝑀</m:t>
                          </m:r>
                          <m:r>
                            <a:rPr kumimoji="1" lang="en-US" altLang="zh-CN" b="0" i="1" smtClean="0">
                              <a:latin typeface="Cambria Math" panose="02040503050406030204" pitchFamily="18" charset="0"/>
                            </a:rPr>
                            <m:t>2</m:t>
                          </m:r>
                        </m:num>
                        <m:den>
                          <m:r>
                            <a:rPr kumimoji="1" lang="en-US" altLang="zh-CN" b="0" i="1" smtClean="0">
                              <a:latin typeface="Cambria Math" panose="02040503050406030204" pitchFamily="18" charset="0"/>
                            </a:rPr>
                            <m:t>4</m:t>
                          </m:r>
                        </m:den>
                      </m:f>
                      <m:r>
                        <a:rPr kumimoji="1" lang="zh-CN" altLang="en-US" b="0" i="1" smtClean="0">
                          <a:latin typeface="Cambria Math" panose="02040503050406030204" pitchFamily="18" charset="0"/>
                        </a:rPr>
                        <m:t>∗</m:t>
                      </m:r>
                      <m:r>
                        <a:rPr kumimoji="1" lang="en-US" altLang="zh-CN" b="0" i="1" smtClean="0">
                          <a:latin typeface="Cambria Math" panose="02040503050406030204" pitchFamily="18" charset="0"/>
                        </a:rPr>
                        <m:t>𝑁</m:t>
                      </m:r>
                      <m:r>
                        <a:rPr kumimoji="1" lang="en-US" altLang="zh-CN" b="0" i="1" smtClean="0">
                          <a:latin typeface="Cambria Math" panose="02040503050406030204" pitchFamily="18" charset="0"/>
                        </a:rPr>
                        <m:t>2</m:t>
                      </m:r>
                      <m:r>
                        <a:rPr kumimoji="1" lang="zh-CN" altLang="en-US" b="0" i="1" smtClean="0">
                          <a:latin typeface="Cambria Math" panose="02040503050406030204" pitchFamily="18" charset="0"/>
                        </a:rPr>
                        <m:t>∗</m:t>
                      </m:r>
                      <m:r>
                        <a:rPr kumimoji="1" lang="en-US" altLang="zh-CN" b="0" i="1" smtClean="0">
                          <a:latin typeface="Cambria Math" panose="02040503050406030204" pitchFamily="18" charset="0"/>
                        </a:rPr>
                        <m:t>4</m:t>
                      </m:r>
                      <m:r>
                        <a:rPr kumimoji="1" lang="en-US" altLang="zh-CN" b="0" i="1" smtClean="0">
                          <a:latin typeface="Cambria Math" panose="02040503050406030204" pitchFamily="18" charset="0"/>
                        </a:rPr>
                        <m:t>𝐵</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𝑀</m:t>
                      </m:r>
                      <m:r>
                        <a:rPr kumimoji="1" lang="en-US" altLang="zh-CN" b="0" i="1" smtClean="0">
                          <a:latin typeface="Cambria Math" panose="02040503050406030204" pitchFamily="18" charset="0"/>
                        </a:rPr>
                        <m:t>2</m:t>
                      </m:r>
                      <m:r>
                        <a:rPr kumimoji="1" lang="zh-CN" altLang="en-US" b="0" i="1" smtClean="0">
                          <a:latin typeface="Cambria Math" panose="02040503050406030204" pitchFamily="18" charset="0"/>
                        </a:rPr>
                        <m:t>∗</m:t>
                      </m:r>
                      <m:r>
                        <a:rPr kumimoji="1" lang="en-US" altLang="zh-CN" b="0" i="1" smtClean="0">
                          <a:latin typeface="Cambria Math" panose="02040503050406030204" pitchFamily="18" charset="0"/>
                        </a:rPr>
                        <m:t>𝑁</m:t>
                      </m:r>
                      <m:r>
                        <a:rPr kumimoji="1" lang="en-US" altLang="zh-CN" b="0" i="1" smtClean="0">
                          <a:latin typeface="Cambria Math" panose="02040503050406030204" pitchFamily="18" charset="0"/>
                        </a:rPr>
                        <m:t>2</m:t>
                      </m:r>
                      <m:r>
                        <a:rPr kumimoji="1" lang="en-US" altLang="zh-CN" b="0" i="1" smtClean="0">
                          <a:latin typeface="Cambria Math" panose="02040503050406030204" pitchFamily="18" charset="0"/>
                        </a:rPr>
                        <m:t>𝐵</m:t>
                      </m:r>
                      <m:r>
                        <a:rPr kumimoji="1" lang="zh-CN" altLang="en-US" b="0" i="1" smtClean="0">
                          <a:latin typeface="Cambria Math" panose="02040503050406030204" pitchFamily="18" charset="0"/>
                        </a:rPr>
                        <m:t> </m:t>
                      </m:r>
                    </m:oMath>
                  </m:oMathPara>
                </a14:m>
                <a:endParaRPr kumimoji="1" lang="zh-CN" altLang="en-US" dirty="0"/>
              </a:p>
            </p:txBody>
          </p:sp>
        </mc:Choice>
        <mc:Fallback xmlns="">
          <p:sp>
            <p:nvSpPr>
              <p:cNvPr id="27" name="文本框 26">
                <a:extLst>
                  <a:ext uri="{FF2B5EF4-FFF2-40B4-BE49-F238E27FC236}">
                    <a16:creationId xmlns:a16="http://schemas.microsoft.com/office/drawing/2014/main" id="{32168350-0AD3-5025-EFC3-34B9FE606192}"/>
                  </a:ext>
                </a:extLst>
              </p:cNvPr>
              <p:cNvSpPr txBox="1">
                <a:spLocks noRot="1" noChangeAspect="1" noMove="1" noResize="1" noEditPoints="1" noAdjustHandles="1" noChangeArrowheads="1" noChangeShapeType="1" noTextEdit="1"/>
              </p:cNvSpPr>
              <p:nvPr/>
            </p:nvSpPr>
            <p:spPr>
              <a:xfrm>
                <a:off x="176410" y="2523429"/>
                <a:ext cx="4784580" cy="518604"/>
              </a:xfrm>
              <a:prstGeom prst="rect">
                <a:avLst/>
              </a:prstGeom>
              <a:blipFill>
                <a:blip r:embed="rId7"/>
                <a:stretch>
                  <a:fillRect l="-265" t="-4762" r="-1058" b="-119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E4ECC85E-6473-48ED-E113-2CC63E80878B}"/>
                  </a:ext>
                </a:extLst>
              </p:cNvPr>
              <p:cNvSpPr txBox="1"/>
              <p:nvPr/>
            </p:nvSpPr>
            <p:spPr>
              <a:xfrm>
                <a:off x="146684" y="3569781"/>
                <a:ext cx="4828694" cy="5186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i="1" smtClean="0">
                              <a:latin typeface="Cambria Math" panose="02040503050406030204" pitchFamily="18" charset="0"/>
                            </a:rPr>
                          </m:ctrlPr>
                        </m:sSubPr>
                        <m:e>
                          <m:r>
                            <m:rPr>
                              <m:sty m:val="p"/>
                            </m:rPr>
                            <a:rPr kumimoji="1" lang="en-US" altLang="zh-CN" i="1">
                              <a:latin typeface="Cambria Math" panose="02040503050406030204" pitchFamily="18" charset="0"/>
                            </a:rPr>
                            <m:t>data</m:t>
                          </m:r>
                        </m:e>
                        <m:sub>
                          <m:r>
                            <m:rPr>
                              <m:sty m:val="p"/>
                            </m:rPr>
                            <a:rPr kumimoji="1" lang="en-US" altLang="zh-CN" i="1">
                              <a:latin typeface="Cambria Math" panose="02040503050406030204" pitchFamily="18" charset="0"/>
                            </a:rPr>
                            <m:t>DMA</m:t>
                          </m:r>
                          <m:r>
                            <a:rPr kumimoji="1" lang="en-US" altLang="zh-CN" i="1">
                              <a:latin typeface="Cambria Math" panose="02040503050406030204" pitchFamily="18" charset="0"/>
                            </a:rPr>
                            <m:t>_</m:t>
                          </m:r>
                          <m:r>
                            <a:rPr kumimoji="1" lang="en-US" altLang="zh-CN" b="0" i="1" smtClean="0">
                              <a:latin typeface="Cambria Math" panose="02040503050406030204" pitchFamily="18" charset="0"/>
                            </a:rPr>
                            <m:t>𝑃𝑈𝑇</m:t>
                          </m:r>
                          <m:r>
                            <a:rPr kumimoji="1" lang="en-US" altLang="zh-CN" i="1">
                              <a:latin typeface="Cambria Math" panose="02040503050406030204" pitchFamily="18" charset="0"/>
                            </a:rPr>
                            <m:t>_</m:t>
                          </m:r>
                          <m:r>
                            <m:rPr>
                              <m:sty m:val="p"/>
                            </m:rPr>
                            <a:rPr kumimoji="1" lang="en-US" altLang="zh-CN" i="1">
                              <a:latin typeface="Cambria Math" panose="02040503050406030204" pitchFamily="18" charset="0"/>
                            </a:rPr>
                            <m:t>Mat</m:t>
                          </m:r>
                          <m:r>
                            <a:rPr kumimoji="1" lang="en-US" altLang="zh-CN" b="0" i="1" smtClean="0">
                              <a:latin typeface="Cambria Math" panose="02040503050406030204" pitchFamily="18" charset="0"/>
                            </a:rPr>
                            <m:t>𝐶</m:t>
                          </m:r>
                        </m:sub>
                      </m:sSub>
                      <m:r>
                        <a:rPr kumimoji="1" lang="en-US" altLang="zh-CN" b="0" i="1" smtClean="0">
                          <a:latin typeface="Cambria Math" panose="02040503050406030204" pitchFamily="18" charset="0"/>
                        </a:rPr>
                        <m:t>=</m:t>
                      </m:r>
                      <m:f>
                        <m:fPr>
                          <m:ctrlPr>
                            <a:rPr kumimoji="1" lang="en-US" altLang="zh-CN" b="0" i="1" smtClean="0">
                              <a:latin typeface="Cambria Math" panose="02040503050406030204" pitchFamily="18" charset="0"/>
                            </a:rPr>
                          </m:ctrlPr>
                        </m:fPr>
                        <m:num>
                          <m:r>
                            <a:rPr kumimoji="1" lang="en-US" altLang="zh-CN" b="0" i="1" smtClean="0">
                              <a:latin typeface="Cambria Math" panose="02040503050406030204" pitchFamily="18" charset="0"/>
                            </a:rPr>
                            <m:t>𝑀</m:t>
                          </m:r>
                          <m:r>
                            <a:rPr kumimoji="1" lang="en-US" altLang="zh-CN" b="0" i="1" smtClean="0">
                              <a:latin typeface="Cambria Math" panose="02040503050406030204" pitchFamily="18" charset="0"/>
                            </a:rPr>
                            <m:t>2</m:t>
                          </m:r>
                        </m:num>
                        <m:den>
                          <m:r>
                            <a:rPr kumimoji="1" lang="en-US" altLang="zh-CN" b="0" i="1" smtClean="0">
                              <a:latin typeface="Cambria Math" panose="02040503050406030204" pitchFamily="18" charset="0"/>
                            </a:rPr>
                            <m:t>4</m:t>
                          </m:r>
                        </m:den>
                      </m:f>
                      <m:r>
                        <a:rPr kumimoji="1" lang="zh-CN" altLang="en-US" b="0" i="1" smtClean="0">
                          <a:latin typeface="Cambria Math" panose="02040503050406030204" pitchFamily="18" charset="0"/>
                        </a:rPr>
                        <m:t>∗</m:t>
                      </m:r>
                      <m:r>
                        <a:rPr kumimoji="1" lang="en-US" altLang="zh-CN" b="0" i="1" smtClean="0">
                          <a:latin typeface="Cambria Math" panose="02040503050406030204" pitchFamily="18" charset="0"/>
                        </a:rPr>
                        <m:t>𝑁</m:t>
                      </m:r>
                      <m:r>
                        <a:rPr kumimoji="1" lang="en-US" altLang="zh-CN" b="0" i="1" smtClean="0">
                          <a:latin typeface="Cambria Math" panose="02040503050406030204" pitchFamily="18" charset="0"/>
                        </a:rPr>
                        <m:t>2</m:t>
                      </m:r>
                      <m:r>
                        <a:rPr kumimoji="1" lang="zh-CN" altLang="en-US" b="0" i="1" smtClean="0">
                          <a:latin typeface="Cambria Math" panose="02040503050406030204" pitchFamily="18" charset="0"/>
                        </a:rPr>
                        <m:t>∗</m:t>
                      </m:r>
                      <m:r>
                        <a:rPr kumimoji="1" lang="en-US" altLang="zh-CN" b="0" i="1" smtClean="0">
                          <a:latin typeface="Cambria Math" panose="02040503050406030204" pitchFamily="18" charset="0"/>
                        </a:rPr>
                        <m:t>4</m:t>
                      </m:r>
                      <m:r>
                        <a:rPr kumimoji="1" lang="en-US" altLang="zh-CN" b="0" i="1" smtClean="0">
                          <a:latin typeface="Cambria Math" panose="02040503050406030204" pitchFamily="18" charset="0"/>
                        </a:rPr>
                        <m:t>𝐵</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𝑀</m:t>
                      </m:r>
                      <m:r>
                        <a:rPr kumimoji="1" lang="en-US" altLang="zh-CN" b="0" i="1" smtClean="0">
                          <a:latin typeface="Cambria Math" panose="02040503050406030204" pitchFamily="18" charset="0"/>
                        </a:rPr>
                        <m:t>2</m:t>
                      </m:r>
                      <m:r>
                        <a:rPr kumimoji="1" lang="zh-CN" altLang="en-US" b="0" i="1" smtClean="0">
                          <a:latin typeface="Cambria Math" panose="02040503050406030204" pitchFamily="18" charset="0"/>
                        </a:rPr>
                        <m:t>∗</m:t>
                      </m:r>
                      <m:r>
                        <a:rPr kumimoji="1" lang="en-US" altLang="zh-CN" b="0" i="1" smtClean="0">
                          <a:latin typeface="Cambria Math" panose="02040503050406030204" pitchFamily="18" charset="0"/>
                        </a:rPr>
                        <m:t>𝑁</m:t>
                      </m:r>
                      <m:r>
                        <a:rPr kumimoji="1" lang="en-US" altLang="zh-CN" b="0" i="1" smtClean="0">
                          <a:latin typeface="Cambria Math" panose="02040503050406030204" pitchFamily="18" charset="0"/>
                        </a:rPr>
                        <m:t>2</m:t>
                      </m:r>
                      <m:r>
                        <a:rPr kumimoji="1" lang="zh-CN" altLang="en-US" b="0" i="1" smtClean="0">
                          <a:latin typeface="Cambria Math" panose="02040503050406030204" pitchFamily="18" charset="0"/>
                        </a:rPr>
                        <m:t> </m:t>
                      </m:r>
                      <m:r>
                        <a:rPr kumimoji="1" lang="en-US" altLang="zh-CN" b="0" i="1" smtClean="0">
                          <a:latin typeface="Cambria Math" panose="02040503050406030204" pitchFamily="18" charset="0"/>
                        </a:rPr>
                        <m:t>𝐵</m:t>
                      </m:r>
                      <m:r>
                        <a:rPr kumimoji="1" lang="zh-CN" altLang="en-US" b="0" i="1" smtClean="0">
                          <a:latin typeface="Cambria Math" panose="02040503050406030204" pitchFamily="18" charset="0"/>
                        </a:rPr>
                        <m:t> </m:t>
                      </m:r>
                    </m:oMath>
                  </m:oMathPara>
                </a14:m>
                <a:endParaRPr kumimoji="1" lang="zh-CN" altLang="en-US" dirty="0"/>
              </a:p>
            </p:txBody>
          </p:sp>
        </mc:Choice>
        <mc:Fallback xmlns="">
          <p:sp>
            <p:nvSpPr>
              <p:cNvPr id="28" name="文本框 27">
                <a:extLst>
                  <a:ext uri="{FF2B5EF4-FFF2-40B4-BE49-F238E27FC236}">
                    <a16:creationId xmlns:a16="http://schemas.microsoft.com/office/drawing/2014/main" id="{E4ECC85E-6473-48ED-E113-2CC63E80878B}"/>
                  </a:ext>
                </a:extLst>
              </p:cNvPr>
              <p:cNvSpPr txBox="1">
                <a:spLocks noRot="1" noChangeAspect="1" noMove="1" noResize="1" noEditPoints="1" noAdjustHandles="1" noChangeArrowheads="1" noChangeShapeType="1" noTextEdit="1"/>
              </p:cNvSpPr>
              <p:nvPr/>
            </p:nvSpPr>
            <p:spPr>
              <a:xfrm>
                <a:off x="146684" y="3569781"/>
                <a:ext cx="4828694" cy="518604"/>
              </a:xfrm>
              <a:prstGeom prst="rect">
                <a:avLst/>
              </a:prstGeom>
              <a:blipFill>
                <a:blip r:embed="rId8"/>
                <a:stretch>
                  <a:fillRect l="-525" t="-7143" r="-1312" b="-119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DC9F9034-5452-12CC-1782-612B12266F71}"/>
                  </a:ext>
                </a:extLst>
              </p:cNvPr>
              <p:cNvSpPr txBox="1"/>
              <p:nvPr/>
            </p:nvSpPr>
            <p:spPr>
              <a:xfrm>
                <a:off x="198119" y="3051177"/>
                <a:ext cx="4540089" cy="5203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i="1" smtClean="0">
                              <a:latin typeface="Cambria Math" panose="02040503050406030204" pitchFamily="18" charset="0"/>
                            </a:rPr>
                          </m:ctrlPr>
                        </m:sSubPr>
                        <m:e>
                          <m:r>
                            <m:rPr>
                              <m:sty m:val="p"/>
                            </m:rPr>
                            <a:rPr kumimoji="1" lang="en-US" altLang="zh-CN" i="1">
                              <a:latin typeface="Cambria Math" panose="02040503050406030204" pitchFamily="18" charset="0"/>
                            </a:rPr>
                            <m:t>data</m:t>
                          </m:r>
                        </m:e>
                        <m:sub>
                          <m:r>
                            <m:rPr>
                              <m:sty m:val="p"/>
                            </m:rPr>
                            <a:rPr kumimoji="1" lang="en-US" altLang="zh-CN" i="1">
                              <a:latin typeface="Cambria Math" panose="02040503050406030204" pitchFamily="18" charset="0"/>
                            </a:rPr>
                            <m:t>DMA</m:t>
                          </m:r>
                          <m:r>
                            <a:rPr kumimoji="1" lang="en-US" altLang="zh-CN" i="1">
                              <a:latin typeface="Cambria Math" panose="02040503050406030204" pitchFamily="18" charset="0"/>
                            </a:rPr>
                            <m:t>_</m:t>
                          </m:r>
                          <m:r>
                            <m:rPr>
                              <m:sty m:val="p"/>
                            </m:rPr>
                            <a:rPr kumimoji="1" lang="en-US" altLang="zh-CN" i="1">
                              <a:latin typeface="Cambria Math" panose="02040503050406030204" pitchFamily="18" charset="0"/>
                            </a:rPr>
                            <m:t>GET</m:t>
                          </m:r>
                          <m:r>
                            <a:rPr kumimoji="1" lang="en-US" altLang="zh-CN" i="1">
                              <a:latin typeface="Cambria Math" panose="02040503050406030204" pitchFamily="18" charset="0"/>
                            </a:rPr>
                            <m:t>_</m:t>
                          </m:r>
                          <m:r>
                            <m:rPr>
                              <m:sty m:val="p"/>
                            </m:rPr>
                            <a:rPr kumimoji="1" lang="en-US" altLang="zh-CN" i="1">
                              <a:latin typeface="Cambria Math" panose="02040503050406030204" pitchFamily="18" charset="0"/>
                            </a:rPr>
                            <m:t>MatB</m:t>
                          </m:r>
                        </m:sub>
                      </m:sSub>
                      <m:r>
                        <a:rPr kumimoji="1" lang="en-US" altLang="zh-CN" b="0" i="1" smtClean="0">
                          <a:latin typeface="Cambria Math" panose="02040503050406030204" pitchFamily="18" charset="0"/>
                        </a:rPr>
                        <m:t>=</m:t>
                      </m:r>
                      <m:f>
                        <m:fPr>
                          <m:ctrlPr>
                            <a:rPr kumimoji="1" lang="en-US" altLang="zh-CN" b="0" i="1" smtClean="0">
                              <a:latin typeface="Cambria Math" panose="02040503050406030204" pitchFamily="18" charset="0"/>
                            </a:rPr>
                          </m:ctrlPr>
                        </m:fPr>
                        <m:num>
                          <m:r>
                            <a:rPr kumimoji="1" lang="en-US" altLang="zh-CN" b="0" i="1" smtClean="0">
                              <a:latin typeface="Cambria Math" panose="02040503050406030204" pitchFamily="18" charset="0"/>
                            </a:rPr>
                            <m:t>𝐾</m:t>
                          </m:r>
                          <m:r>
                            <a:rPr kumimoji="1" lang="en-US" altLang="zh-CN" b="0" i="1" smtClean="0">
                              <a:latin typeface="Cambria Math" panose="02040503050406030204" pitchFamily="18" charset="0"/>
                            </a:rPr>
                            <m:t>2</m:t>
                          </m:r>
                        </m:num>
                        <m:den>
                          <m:r>
                            <a:rPr kumimoji="1" lang="en-US" altLang="zh-CN" b="0" i="1" smtClean="0">
                              <a:latin typeface="Cambria Math" panose="02040503050406030204" pitchFamily="18" charset="0"/>
                            </a:rPr>
                            <m:t>8</m:t>
                          </m:r>
                        </m:den>
                      </m:f>
                      <m:r>
                        <a:rPr kumimoji="1" lang="zh-CN" altLang="en-US" b="0" i="1" smtClean="0">
                          <a:latin typeface="Cambria Math" panose="02040503050406030204" pitchFamily="18" charset="0"/>
                        </a:rPr>
                        <m:t>∗</m:t>
                      </m:r>
                      <m:r>
                        <a:rPr kumimoji="1" lang="en-US" altLang="zh-CN" b="0" i="1" smtClean="0">
                          <a:latin typeface="Cambria Math" panose="02040503050406030204" pitchFamily="18" charset="0"/>
                        </a:rPr>
                        <m:t>𝑁</m:t>
                      </m:r>
                      <m:r>
                        <a:rPr kumimoji="1" lang="en-US" altLang="zh-CN" b="0" i="1" smtClean="0">
                          <a:latin typeface="Cambria Math" panose="02040503050406030204" pitchFamily="18" charset="0"/>
                        </a:rPr>
                        <m:t>2</m:t>
                      </m:r>
                      <m:r>
                        <a:rPr kumimoji="1" lang="zh-CN" altLang="en-US" b="0" i="1" smtClean="0">
                          <a:latin typeface="Cambria Math" panose="02040503050406030204" pitchFamily="18" charset="0"/>
                        </a:rPr>
                        <m:t>∗</m:t>
                      </m:r>
                      <m:r>
                        <a:rPr kumimoji="1" lang="en-US" altLang="zh-CN" b="0" i="1" smtClean="0">
                          <a:latin typeface="Cambria Math" panose="02040503050406030204" pitchFamily="18" charset="0"/>
                        </a:rPr>
                        <m:t>2</m:t>
                      </m:r>
                      <m:r>
                        <a:rPr kumimoji="1" lang="en-US" altLang="zh-CN" b="0" i="1" smtClean="0">
                          <a:latin typeface="Cambria Math" panose="02040503050406030204" pitchFamily="18" charset="0"/>
                        </a:rPr>
                        <m:t>𝐵</m:t>
                      </m:r>
                      <m:r>
                        <a:rPr kumimoji="1" lang="en-US" altLang="zh-CN" b="0" i="1" smtClean="0">
                          <a:latin typeface="Cambria Math" panose="02040503050406030204" pitchFamily="18" charset="0"/>
                        </a:rPr>
                        <m:t>=</m:t>
                      </m:r>
                      <m:f>
                        <m:fPr>
                          <m:ctrlPr>
                            <a:rPr kumimoji="1" lang="en-US" altLang="zh-CN" b="0" i="1" smtClean="0">
                              <a:latin typeface="Cambria Math" panose="02040503050406030204" pitchFamily="18" charset="0"/>
                            </a:rPr>
                          </m:ctrlPr>
                        </m:fPr>
                        <m:num>
                          <m:r>
                            <a:rPr kumimoji="1" lang="en-US" altLang="zh-CN" b="0" i="1" smtClean="0">
                              <a:latin typeface="Cambria Math" panose="02040503050406030204" pitchFamily="18" charset="0"/>
                            </a:rPr>
                            <m:t>𝐾</m:t>
                          </m:r>
                          <m:r>
                            <a:rPr kumimoji="1" lang="en-US" altLang="zh-CN" b="0" i="1" smtClean="0">
                              <a:latin typeface="Cambria Math" panose="02040503050406030204" pitchFamily="18" charset="0"/>
                            </a:rPr>
                            <m:t>2</m:t>
                          </m:r>
                        </m:num>
                        <m:den>
                          <m:r>
                            <a:rPr kumimoji="1" lang="en-US" altLang="zh-CN" b="0" i="1" smtClean="0">
                              <a:latin typeface="Cambria Math" panose="02040503050406030204" pitchFamily="18" charset="0"/>
                            </a:rPr>
                            <m:t>4</m:t>
                          </m:r>
                        </m:den>
                      </m:f>
                      <m:r>
                        <a:rPr kumimoji="1" lang="zh-CN" altLang="en-US" b="0" i="1" smtClean="0">
                          <a:latin typeface="Cambria Math" panose="02040503050406030204" pitchFamily="18" charset="0"/>
                        </a:rPr>
                        <m:t>∗</m:t>
                      </m:r>
                      <m:r>
                        <a:rPr kumimoji="1" lang="en-US" altLang="zh-CN" b="0" i="1" smtClean="0">
                          <a:latin typeface="Cambria Math" panose="02040503050406030204" pitchFamily="18" charset="0"/>
                        </a:rPr>
                        <m:t>𝑁</m:t>
                      </m:r>
                      <m:r>
                        <a:rPr kumimoji="1" lang="en-US" altLang="zh-CN" b="0" i="1" smtClean="0">
                          <a:latin typeface="Cambria Math" panose="02040503050406030204" pitchFamily="18" charset="0"/>
                        </a:rPr>
                        <m:t>2</m:t>
                      </m:r>
                      <m:r>
                        <a:rPr kumimoji="1" lang="zh-CN" altLang="en-US" b="0" i="1" smtClean="0">
                          <a:latin typeface="Cambria Math" panose="02040503050406030204" pitchFamily="18" charset="0"/>
                        </a:rPr>
                        <m:t> </m:t>
                      </m:r>
                    </m:oMath>
                  </m:oMathPara>
                </a14:m>
                <a:endParaRPr kumimoji="1" lang="zh-CN" altLang="en-US" dirty="0"/>
              </a:p>
            </p:txBody>
          </p:sp>
        </mc:Choice>
        <mc:Fallback xmlns="">
          <p:sp>
            <p:nvSpPr>
              <p:cNvPr id="29" name="文本框 28">
                <a:extLst>
                  <a:ext uri="{FF2B5EF4-FFF2-40B4-BE49-F238E27FC236}">
                    <a16:creationId xmlns:a16="http://schemas.microsoft.com/office/drawing/2014/main" id="{DC9F9034-5452-12CC-1782-612B12266F71}"/>
                  </a:ext>
                </a:extLst>
              </p:cNvPr>
              <p:cNvSpPr txBox="1">
                <a:spLocks noRot="1" noChangeAspect="1" noMove="1" noResize="1" noEditPoints="1" noAdjustHandles="1" noChangeArrowheads="1" noChangeShapeType="1" noTextEdit="1"/>
              </p:cNvSpPr>
              <p:nvPr/>
            </p:nvSpPr>
            <p:spPr>
              <a:xfrm>
                <a:off x="198119" y="3051177"/>
                <a:ext cx="4540089" cy="520399"/>
              </a:xfrm>
              <a:prstGeom prst="rect">
                <a:avLst/>
              </a:prstGeom>
              <a:blipFill>
                <a:blip r:embed="rId9"/>
                <a:stretch>
                  <a:fillRect l="-838" t="-4762" r="-1676" b="-11905"/>
                </a:stretch>
              </a:blipFill>
            </p:spPr>
            <p:txBody>
              <a:bodyPr/>
              <a:lstStyle/>
              <a:p>
                <a:r>
                  <a:rPr lang="zh-CN" altLang="en-US">
                    <a:noFill/>
                  </a:rPr>
                  <a:t> </a:t>
                </a:r>
              </a:p>
            </p:txBody>
          </p:sp>
        </mc:Fallback>
      </mc:AlternateContent>
      <p:sp>
        <p:nvSpPr>
          <p:cNvPr id="30" name="文本框 29">
            <a:extLst>
              <a:ext uri="{FF2B5EF4-FFF2-40B4-BE49-F238E27FC236}">
                <a16:creationId xmlns:a16="http://schemas.microsoft.com/office/drawing/2014/main" id="{FDEF3095-1B97-EB42-C55A-DCAD528DB800}"/>
              </a:ext>
            </a:extLst>
          </p:cNvPr>
          <p:cNvSpPr txBox="1"/>
          <p:nvPr/>
        </p:nvSpPr>
        <p:spPr>
          <a:xfrm>
            <a:off x="6528438" y="937488"/>
            <a:ext cx="3123282" cy="369332"/>
          </a:xfrm>
          <a:prstGeom prst="rect">
            <a:avLst/>
          </a:prstGeom>
          <a:noFill/>
        </p:spPr>
        <p:txBody>
          <a:bodyPr wrap="square" rtlCol="0">
            <a:spAutoFit/>
          </a:bodyPr>
          <a:lstStyle/>
          <a:p>
            <a:r>
              <a:rPr kumimoji="1" lang="zh-CN" altLang="en-US" dirty="0">
                <a:latin typeface="SimSun" panose="02010600030101010101" pitchFamily="2" charset="-122"/>
                <a:ea typeface="SimSun" panose="02010600030101010101" pitchFamily="2" charset="-122"/>
              </a:rPr>
              <a:t>首先分析</a:t>
            </a:r>
            <a:r>
              <a:rPr kumimoji="1" lang="en-US" altLang="zh-CN" dirty="0">
                <a:latin typeface="SimSun" panose="02010600030101010101" pitchFamily="2" charset="-122"/>
                <a:ea typeface="SimSun" panose="02010600030101010101" pitchFamily="2" charset="-122"/>
              </a:rPr>
              <a:t>RMA</a:t>
            </a:r>
            <a:r>
              <a:rPr kumimoji="1" lang="zh-CN" altLang="en-US" dirty="0">
                <a:latin typeface="SimSun" panose="02010600030101010101" pitchFamily="2" charset="-122"/>
                <a:ea typeface="SimSun" panose="02010600030101010101" pitchFamily="2" charset="-122"/>
              </a:rPr>
              <a:t>通路</a:t>
            </a:r>
            <a:r>
              <a:rPr kumimoji="1" lang="en-US" altLang="zh-CN" dirty="0">
                <a:latin typeface="SimSun" panose="02010600030101010101" pitchFamily="2" charset="-122"/>
                <a:ea typeface="SimSun" panose="02010600030101010101" pitchFamily="2" charset="-122"/>
              </a:rPr>
              <a:t>0</a:t>
            </a:r>
            <a:r>
              <a:rPr kumimoji="1" lang="zh-CN" altLang="en-US" dirty="0">
                <a:latin typeface="SimSun" panose="02010600030101010101" pitchFamily="2" charset="-122"/>
                <a:ea typeface="SimSun" panose="02010600030101010101" pitchFamily="2" charset="-122"/>
              </a:rPr>
              <a:t>号线的</a:t>
            </a:r>
            <a:r>
              <a:rPr kumimoji="1" lang="en-US" altLang="zh-CN" dirty="0">
                <a:latin typeface="SimSun" panose="02010600030101010101" pitchFamily="2" charset="-122"/>
                <a:ea typeface="SimSun" panose="02010600030101010101" pitchFamily="2" charset="-122"/>
              </a:rPr>
              <a:t>in</a:t>
            </a:r>
            <a:endParaRPr kumimoji="1" lang="zh-CN" altLang="en-US" dirty="0">
              <a:latin typeface="SimSun" panose="02010600030101010101" pitchFamily="2" charset="-122"/>
              <a:ea typeface="SimSun" panose="02010600030101010101" pitchFamily="2" charset="-122"/>
            </a:endParaRPr>
          </a:p>
        </p:txBody>
      </p:sp>
      <p:sp>
        <p:nvSpPr>
          <p:cNvPr id="31" name="文本框 30">
            <a:extLst>
              <a:ext uri="{FF2B5EF4-FFF2-40B4-BE49-F238E27FC236}">
                <a16:creationId xmlns:a16="http://schemas.microsoft.com/office/drawing/2014/main" id="{E9D8598C-8347-A51A-24DB-46B0A9211421}"/>
              </a:ext>
            </a:extLst>
          </p:cNvPr>
          <p:cNvSpPr txBox="1"/>
          <p:nvPr/>
        </p:nvSpPr>
        <p:spPr>
          <a:xfrm>
            <a:off x="6528438" y="2782731"/>
            <a:ext cx="4282437" cy="369332"/>
          </a:xfrm>
          <a:prstGeom prst="rect">
            <a:avLst/>
          </a:prstGeom>
          <a:noFill/>
        </p:spPr>
        <p:txBody>
          <a:bodyPr wrap="square" rtlCol="0">
            <a:spAutoFit/>
          </a:bodyPr>
          <a:lstStyle/>
          <a:p>
            <a:r>
              <a:rPr kumimoji="1" lang="zh-CN" altLang="en-US" dirty="0">
                <a:latin typeface="SimSun" panose="02010600030101010101" pitchFamily="2" charset="-122"/>
                <a:ea typeface="SimSun" panose="02010600030101010101" pitchFamily="2" charset="-122"/>
              </a:rPr>
              <a:t>首先分析</a:t>
            </a:r>
            <a:r>
              <a:rPr kumimoji="1" lang="en-US" altLang="zh-CN" dirty="0">
                <a:latin typeface="SimSun" panose="02010600030101010101" pitchFamily="2" charset="-122"/>
                <a:ea typeface="SimSun" panose="02010600030101010101" pitchFamily="2" charset="-122"/>
              </a:rPr>
              <a:t>RMA</a:t>
            </a:r>
            <a:r>
              <a:rPr kumimoji="1" lang="zh-CN" altLang="en-US" dirty="0">
                <a:latin typeface="SimSun" panose="02010600030101010101" pitchFamily="2" charset="-122"/>
                <a:ea typeface="SimSun" panose="02010600030101010101" pitchFamily="2" charset="-122"/>
              </a:rPr>
              <a:t> </a:t>
            </a:r>
            <a:r>
              <a:rPr kumimoji="1" lang="en-US" altLang="zh-CN" dirty="0">
                <a:latin typeface="SimSun" panose="02010600030101010101" pitchFamily="2" charset="-122"/>
                <a:ea typeface="SimSun" panose="02010600030101010101" pitchFamily="2" charset="-122"/>
              </a:rPr>
              <a:t>1</a:t>
            </a:r>
            <a:r>
              <a:rPr kumimoji="1" lang="zh-CN" altLang="en-US" dirty="0">
                <a:latin typeface="SimSun" panose="02010600030101010101" pitchFamily="2" charset="-122"/>
                <a:ea typeface="SimSun" panose="02010600030101010101" pitchFamily="2" charset="-122"/>
              </a:rPr>
              <a:t>号线的往下走的通路</a:t>
            </a:r>
          </a:p>
        </p:txBody>
      </p:sp>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071E968F-5113-2827-1CC3-32725F896DA4}"/>
                  </a:ext>
                </a:extLst>
              </p:cNvPr>
              <p:cNvSpPr txBox="1"/>
              <p:nvPr/>
            </p:nvSpPr>
            <p:spPr>
              <a:xfrm>
                <a:off x="6215127" y="3311916"/>
                <a:ext cx="5310947" cy="1275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kumimoji="1" lang="en-US" altLang="zh-CN" i="1" smtClean="0">
                              <a:latin typeface="Cambria Math" panose="02040503050406030204" pitchFamily="18" charset="0"/>
                            </a:rPr>
                          </m:ctrlPr>
                        </m:fPr>
                        <m:num>
                          <m:d>
                            <m:dPr>
                              <m:ctrlPr>
                                <a:rPr kumimoji="1" lang="en-US" altLang="zh-CN" b="0" i="1" smtClean="0">
                                  <a:latin typeface="Cambria Math" panose="02040503050406030204" pitchFamily="18" charset="0"/>
                                </a:rPr>
                              </m:ctrlPr>
                            </m:dPr>
                            <m:e>
                              <m:r>
                                <a:rPr kumimoji="1" lang="en-US" altLang="zh-CN" b="0" i="1" smtClean="0">
                                  <a:latin typeface="Cambria Math" panose="02040503050406030204" pitchFamily="18" charset="0"/>
                                </a:rPr>
                                <m:t>3</m:t>
                              </m:r>
                              <m:r>
                                <a:rPr kumimoji="1" lang="zh-CN" altLang="en-US" b="0" i="1" smtClean="0">
                                  <a:latin typeface="Cambria Math" panose="02040503050406030204" pitchFamily="18" charset="0"/>
                                </a:rPr>
                                <m:t>∗</m:t>
                              </m:r>
                              <m:r>
                                <m:rPr>
                                  <m:sty m:val="p"/>
                                </m:rPr>
                                <a:rPr kumimoji="1" lang="en-US" altLang="zh-CN" i="1">
                                  <a:latin typeface="Cambria Math" panose="02040503050406030204" pitchFamily="18" charset="0"/>
                                </a:rPr>
                                <m:t>M</m:t>
                              </m:r>
                              <m:r>
                                <a:rPr kumimoji="1" lang="en-US" altLang="zh-CN" i="1">
                                  <a:latin typeface="Cambria Math" panose="02040503050406030204" pitchFamily="18" charset="0"/>
                                </a:rPr>
                                <m:t>2∗</m:t>
                              </m:r>
                              <m:r>
                                <m:rPr>
                                  <m:sty m:val="p"/>
                                </m:rPr>
                                <a:rPr kumimoji="1" lang="en-US" altLang="zh-CN" i="1">
                                  <a:latin typeface="Cambria Math" panose="02040503050406030204" pitchFamily="18" charset="0"/>
                                </a:rPr>
                                <m:t>N</m:t>
                              </m:r>
                              <m:r>
                                <a:rPr kumimoji="1" lang="en-US" altLang="zh-CN" i="1">
                                  <a:latin typeface="Cambria Math" panose="02040503050406030204" pitchFamily="18" charset="0"/>
                                </a:rPr>
                                <m:t>2+3</m:t>
                              </m:r>
                              <m:r>
                                <a:rPr kumimoji="1" lang="zh-CN" altLang="en-US" b="0" i="1" smtClean="0">
                                  <a:latin typeface="Cambria Math" panose="02040503050406030204" pitchFamily="18" charset="0"/>
                                </a:rPr>
                                <m:t>∗</m:t>
                              </m:r>
                              <m:r>
                                <m:rPr>
                                  <m:sty m:val="p"/>
                                </m:rPr>
                                <a:rPr kumimoji="1" lang="en-US" altLang="zh-CN" i="1">
                                  <a:latin typeface="Cambria Math" panose="02040503050406030204" pitchFamily="18" charset="0"/>
                                </a:rPr>
                                <m:t>M</m:t>
                              </m:r>
                              <m:r>
                                <a:rPr kumimoji="1" lang="en-US" altLang="zh-CN" i="1">
                                  <a:latin typeface="Cambria Math" panose="02040503050406030204" pitchFamily="18" charset="0"/>
                                </a:rPr>
                                <m:t>2∗</m:t>
                              </m:r>
                              <m:r>
                                <a:rPr kumimoji="1" lang="en-US" altLang="zh-CN" b="0" i="1" smtClean="0">
                                  <a:latin typeface="Cambria Math" panose="02040503050406030204" pitchFamily="18" charset="0"/>
                                </a:rPr>
                                <m:t>𝑁</m:t>
                              </m:r>
                              <m:r>
                                <a:rPr kumimoji="1" lang="en-US" altLang="zh-CN" b="0" i="1" smtClean="0">
                                  <a:latin typeface="Cambria Math" panose="02040503050406030204" pitchFamily="18" charset="0"/>
                                </a:rPr>
                                <m:t>2+3</m:t>
                              </m:r>
                              <m:r>
                                <a:rPr kumimoji="1" lang="zh-CN" altLang="en-US" b="0" i="1" smtClean="0">
                                  <a:latin typeface="Cambria Math" panose="02040503050406030204" pitchFamily="18" charset="0"/>
                                </a:rPr>
                                <m:t>∗</m:t>
                              </m:r>
                              <m:f>
                                <m:fPr>
                                  <m:ctrlPr>
                                    <a:rPr kumimoji="1" lang="en-US" altLang="zh-CN" b="0" i="1" smtClean="0">
                                      <a:latin typeface="Cambria Math" panose="02040503050406030204" pitchFamily="18" charset="0"/>
                                    </a:rPr>
                                  </m:ctrlPr>
                                </m:fPr>
                                <m:num>
                                  <m:r>
                                    <a:rPr kumimoji="1" lang="en-US" altLang="zh-CN" b="0" i="1" smtClean="0">
                                      <a:latin typeface="Cambria Math" panose="02040503050406030204" pitchFamily="18" charset="0"/>
                                    </a:rPr>
                                    <m:t>𝐾</m:t>
                                  </m:r>
                                  <m:r>
                                    <a:rPr kumimoji="1" lang="en-US" altLang="zh-CN" b="0" i="1" smtClean="0">
                                      <a:latin typeface="Cambria Math" panose="02040503050406030204" pitchFamily="18" charset="0"/>
                                    </a:rPr>
                                    <m:t>2</m:t>
                                  </m:r>
                                </m:num>
                                <m:den>
                                  <m:r>
                                    <a:rPr kumimoji="1" lang="en-US" altLang="zh-CN" b="0" i="1" smtClean="0">
                                      <a:latin typeface="Cambria Math" panose="02040503050406030204" pitchFamily="18" charset="0"/>
                                    </a:rPr>
                                    <m:t>4</m:t>
                                  </m:r>
                                </m:den>
                              </m:f>
                              <m:r>
                                <a:rPr kumimoji="1" lang="zh-CN" altLang="en-US" b="0" i="1" smtClean="0">
                                  <a:latin typeface="Cambria Math" panose="02040503050406030204" pitchFamily="18" charset="0"/>
                                </a:rPr>
                                <m:t>∗</m:t>
                              </m:r>
                              <m:r>
                                <a:rPr kumimoji="1" lang="en-US" altLang="zh-CN" b="0" i="1" smtClean="0">
                                  <a:latin typeface="Cambria Math" panose="02040503050406030204" pitchFamily="18" charset="0"/>
                                </a:rPr>
                                <m:t>𝑁</m:t>
                              </m:r>
                              <m:r>
                                <a:rPr kumimoji="1" lang="en-US" altLang="zh-CN" b="0" i="1" smtClean="0">
                                  <a:latin typeface="Cambria Math" panose="02040503050406030204" pitchFamily="18" charset="0"/>
                                </a:rPr>
                                <m:t>2</m:t>
                              </m:r>
                            </m:e>
                          </m:d>
                          <m:r>
                            <a:rPr kumimoji="1" lang="en-US" altLang="zh-CN" b="0" i="1" smtClean="0">
                              <a:latin typeface="Cambria Math" panose="02040503050406030204" pitchFamily="18" charset="0"/>
                            </a:rPr>
                            <m:t>𝐵</m:t>
                          </m:r>
                        </m:num>
                        <m:den>
                          <m:r>
                            <a:rPr kumimoji="1" lang="en-US" altLang="zh-CN" b="0" i="1" smtClean="0">
                              <a:latin typeface="Cambria Math" panose="02040503050406030204" pitchFamily="18" charset="0"/>
                            </a:rPr>
                            <m:t>64</m:t>
                          </m:r>
                          <m:r>
                            <a:rPr kumimoji="1" lang="en-US" altLang="zh-CN" b="0" i="1" smtClean="0">
                              <a:latin typeface="Cambria Math" panose="02040503050406030204" pitchFamily="18" charset="0"/>
                            </a:rPr>
                            <m:t>𝐺𝐵</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𝑠</m:t>
                          </m:r>
                        </m:den>
                      </m:f>
                      <m:r>
                        <a:rPr kumimoji="1" lang="en-US" altLang="zh-CN" b="0" i="0" smtClean="0">
                          <a:latin typeface="Cambria Math" panose="02040503050406030204" pitchFamily="18" charset="0"/>
                        </a:rPr>
                        <m:t>&lt;</m:t>
                      </m:r>
                      <m:f>
                        <m:fPr>
                          <m:ctrlPr>
                            <a:rPr kumimoji="1" lang="en-US" altLang="zh-CN" b="0" i="1" smtClean="0">
                              <a:latin typeface="Cambria Math" panose="02040503050406030204" pitchFamily="18" charset="0"/>
                            </a:rPr>
                          </m:ctrlPr>
                        </m:fPr>
                        <m:num>
                          <m:r>
                            <a:rPr kumimoji="1" lang="en-US" altLang="zh-CN" b="0" i="1" smtClean="0">
                              <a:latin typeface="Cambria Math" panose="02040503050406030204" pitchFamily="18" charset="0"/>
                            </a:rPr>
                            <m:t>𝑀</m:t>
                          </m:r>
                          <m:r>
                            <a:rPr kumimoji="1" lang="en-US" altLang="zh-CN" b="0" i="1" smtClean="0">
                              <a:latin typeface="Cambria Math" panose="02040503050406030204" pitchFamily="18" charset="0"/>
                            </a:rPr>
                            <m:t>2</m:t>
                          </m:r>
                          <m:r>
                            <a:rPr kumimoji="1" lang="zh-CN" altLang="en-US" b="0" i="1" smtClean="0">
                              <a:latin typeface="Cambria Math" panose="02040503050406030204" pitchFamily="18" charset="0"/>
                            </a:rPr>
                            <m:t>∗</m:t>
                          </m:r>
                          <m:r>
                            <a:rPr kumimoji="1" lang="en-US" altLang="zh-CN" b="0" i="1" smtClean="0">
                              <a:latin typeface="Cambria Math" panose="02040503050406030204" pitchFamily="18" charset="0"/>
                            </a:rPr>
                            <m:t>𝐾</m:t>
                          </m:r>
                          <m:r>
                            <a:rPr kumimoji="1" lang="en-US" altLang="zh-CN" b="0" i="1" smtClean="0">
                              <a:latin typeface="Cambria Math" panose="02040503050406030204" pitchFamily="18" charset="0"/>
                            </a:rPr>
                            <m:t>2</m:t>
                          </m:r>
                          <m:r>
                            <a:rPr kumimoji="1" lang="zh-CN" altLang="en-US" b="0" i="1" smtClean="0">
                              <a:latin typeface="Cambria Math" panose="02040503050406030204" pitchFamily="18" charset="0"/>
                            </a:rPr>
                            <m:t>∗</m:t>
                          </m:r>
                          <m:r>
                            <a:rPr kumimoji="1" lang="en-US" altLang="zh-CN" b="0" i="1" smtClean="0">
                              <a:latin typeface="Cambria Math" panose="02040503050406030204" pitchFamily="18" charset="0"/>
                            </a:rPr>
                            <m:t>𝑁</m:t>
                          </m:r>
                          <m:r>
                            <a:rPr kumimoji="1" lang="en-US" altLang="zh-CN" b="0" i="1" smtClean="0">
                              <a:latin typeface="Cambria Math" panose="02040503050406030204" pitchFamily="18" charset="0"/>
                            </a:rPr>
                            <m:t>2</m:t>
                          </m:r>
                          <m:r>
                            <a:rPr kumimoji="1" lang="zh-CN" altLang="en-US" b="0" i="1" smtClean="0">
                              <a:latin typeface="Cambria Math" panose="02040503050406030204" pitchFamily="18" charset="0"/>
                            </a:rPr>
                            <m:t>∗</m:t>
                          </m:r>
                          <m:r>
                            <a:rPr kumimoji="1" lang="en-US" altLang="zh-CN" b="0" i="1" smtClean="0">
                              <a:latin typeface="Cambria Math" panose="02040503050406030204" pitchFamily="18" charset="0"/>
                            </a:rPr>
                            <m:t>2</m:t>
                          </m:r>
                        </m:num>
                        <m:den>
                          <m:r>
                            <a:rPr kumimoji="1" lang="en-US" altLang="zh-CN" b="0" i="1" smtClean="0">
                              <a:latin typeface="Cambria Math" panose="02040503050406030204" pitchFamily="18" charset="0"/>
                            </a:rPr>
                            <m:t>2500</m:t>
                          </m:r>
                          <m:r>
                            <a:rPr kumimoji="1" lang="en-US" altLang="zh-CN" b="0" i="1" smtClean="0">
                              <a:latin typeface="Cambria Math" panose="02040503050406030204" pitchFamily="18" charset="0"/>
                            </a:rPr>
                            <m:t>𝐺𝐹𝐿𝑂𝑃𝑆</m:t>
                          </m:r>
                        </m:den>
                      </m:f>
                    </m:oMath>
                  </m:oMathPara>
                </a14:m>
                <a:endParaRPr kumimoji="1" lang="zh-CN" altLang="en-US" dirty="0"/>
              </a:p>
            </p:txBody>
          </p:sp>
        </mc:Choice>
        <mc:Fallback xmlns="">
          <p:sp>
            <p:nvSpPr>
              <p:cNvPr id="32" name="文本框 31">
                <a:extLst>
                  <a:ext uri="{FF2B5EF4-FFF2-40B4-BE49-F238E27FC236}">
                    <a16:creationId xmlns:a16="http://schemas.microsoft.com/office/drawing/2014/main" id="{071E968F-5113-2827-1CC3-32725F896DA4}"/>
                  </a:ext>
                </a:extLst>
              </p:cNvPr>
              <p:cNvSpPr txBox="1">
                <a:spLocks noRot="1" noChangeAspect="1" noMove="1" noResize="1" noEditPoints="1" noAdjustHandles="1" noChangeArrowheads="1" noChangeShapeType="1" noTextEdit="1"/>
              </p:cNvSpPr>
              <p:nvPr/>
            </p:nvSpPr>
            <p:spPr>
              <a:xfrm>
                <a:off x="6215127" y="3311916"/>
                <a:ext cx="5310947" cy="1275221"/>
              </a:xfrm>
              <a:prstGeom prst="rect">
                <a:avLst/>
              </a:prstGeom>
              <a:blipFill>
                <a:blip r:embed="rId10"/>
                <a:stretch>
                  <a:fillRect b="-5941"/>
                </a:stretch>
              </a:blipFill>
            </p:spPr>
            <p:txBody>
              <a:bodyPr/>
              <a:lstStyle/>
              <a:p>
                <a:r>
                  <a:rPr lang="zh-CN" altLang="en-US">
                    <a:noFill/>
                  </a:rPr>
                  <a:t> </a:t>
                </a:r>
              </a:p>
            </p:txBody>
          </p:sp>
        </mc:Fallback>
      </mc:AlternateContent>
      <p:sp>
        <p:nvSpPr>
          <p:cNvPr id="33" name="文本框 32">
            <a:extLst>
              <a:ext uri="{FF2B5EF4-FFF2-40B4-BE49-F238E27FC236}">
                <a16:creationId xmlns:a16="http://schemas.microsoft.com/office/drawing/2014/main" id="{0C77D0B7-5CB0-A0B9-3159-6D45E796623D}"/>
              </a:ext>
            </a:extLst>
          </p:cNvPr>
          <p:cNvSpPr txBox="1"/>
          <p:nvPr/>
        </p:nvSpPr>
        <p:spPr>
          <a:xfrm>
            <a:off x="233362" y="4237657"/>
            <a:ext cx="3123282" cy="1477328"/>
          </a:xfrm>
          <a:prstGeom prst="rect">
            <a:avLst/>
          </a:prstGeom>
          <a:noFill/>
        </p:spPr>
        <p:txBody>
          <a:bodyPr wrap="square" rtlCol="0">
            <a:spAutoFit/>
          </a:bodyPr>
          <a:lstStyle/>
          <a:p>
            <a:r>
              <a:rPr kumimoji="1" lang="en-US" altLang="zh-CN" dirty="0">
                <a:latin typeface="SimSun" panose="02010600030101010101" pitchFamily="2" charset="-122"/>
                <a:ea typeface="SimSun" panose="02010600030101010101" pitchFamily="2" charset="-122"/>
              </a:rPr>
              <a:t>RMA</a:t>
            </a:r>
            <a:r>
              <a:rPr kumimoji="1" lang="zh-CN" altLang="en-US" dirty="0">
                <a:latin typeface="SimSun" panose="02010600030101010101" pitchFamily="2" charset="-122"/>
                <a:ea typeface="SimSun" panose="02010600030101010101" pitchFamily="2" charset="-122"/>
              </a:rPr>
              <a:t>整体的通路过多，主要选择</a:t>
            </a:r>
            <a:r>
              <a:rPr kumimoji="1" lang="en-US" altLang="zh-CN" dirty="0">
                <a:latin typeface="SimSun" panose="02010600030101010101" pitchFamily="2" charset="-122"/>
                <a:ea typeface="SimSun" panose="02010600030101010101" pitchFamily="2" charset="-122"/>
              </a:rPr>
              <a:t>0</a:t>
            </a:r>
            <a:r>
              <a:rPr kumimoji="1" lang="zh-CN" altLang="en-US" dirty="0">
                <a:latin typeface="SimSun" panose="02010600030101010101" pitchFamily="2" charset="-122"/>
                <a:ea typeface="SimSun" panose="02010600030101010101" pitchFamily="2" charset="-122"/>
              </a:rPr>
              <a:t>号线和</a:t>
            </a:r>
            <a:r>
              <a:rPr kumimoji="1" lang="en-US" altLang="zh-CN" dirty="0">
                <a:latin typeface="SimSun" panose="02010600030101010101" pitchFamily="2" charset="-122"/>
                <a:ea typeface="SimSun" panose="02010600030101010101" pitchFamily="2" charset="-122"/>
              </a:rPr>
              <a:t>1</a:t>
            </a:r>
            <a:r>
              <a:rPr kumimoji="1" lang="zh-CN" altLang="en-US" dirty="0">
                <a:latin typeface="SimSun" panose="02010600030101010101" pitchFamily="2" charset="-122"/>
                <a:ea typeface="SimSun" panose="02010600030101010101" pitchFamily="2" charset="-122"/>
              </a:rPr>
              <a:t>号线这两条进行分析。因为他们不止要处理当前</a:t>
            </a:r>
            <a:r>
              <a:rPr kumimoji="1" lang="en-US" altLang="zh-CN" dirty="0">
                <a:latin typeface="SimSun" panose="02010600030101010101" pitchFamily="2" charset="-122"/>
                <a:ea typeface="SimSun" panose="02010600030101010101" pitchFamily="2" charset="-122"/>
              </a:rPr>
              <a:t>RMA</a:t>
            </a:r>
            <a:r>
              <a:rPr kumimoji="1" lang="zh-CN" altLang="en-US" dirty="0">
                <a:latin typeface="SimSun" panose="02010600030101010101" pitchFamily="2" charset="-122"/>
                <a:ea typeface="SimSun" panose="02010600030101010101" pitchFamily="2" charset="-122"/>
              </a:rPr>
              <a:t>的数据，还要处理</a:t>
            </a:r>
            <a:r>
              <a:rPr kumimoji="1" lang="en-US" altLang="zh-CN" dirty="0">
                <a:latin typeface="SimSun" panose="02010600030101010101" pitchFamily="2" charset="-122"/>
                <a:ea typeface="SimSun" panose="02010600030101010101" pitchFamily="2" charset="-122"/>
              </a:rPr>
              <a:t>DMA</a:t>
            </a:r>
            <a:r>
              <a:rPr kumimoji="1" lang="zh-CN" altLang="en-US" dirty="0">
                <a:latin typeface="SimSun" panose="02010600030101010101" pitchFamily="2" charset="-122"/>
                <a:ea typeface="SimSun" panose="02010600030101010101" pitchFamily="2" charset="-122"/>
              </a:rPr>
              <a:t>的数据。</a:t>
            </a:r>
          </a:p>
        </p:txBody>
      </p:sp>
    </p:spTree>
    <p:extLst>
      <p:ext uri="{BB962C8B-B14F-4D97-AF65-F5344CB8AC3E}">
        <p14:creationId xmlns:p14="http://schemas.microsoft.com/office/powerpoint/2010/main" val="28654742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295275" y="422752"/>
            <a:ext cx="10515600" cy="515184"/>
          </a:xfrm>
        </p:spPr>
        <p:txBody>
          <a:bodyPr/>
          <a:lstStyle/>
          <a:p>
            <a:r>
              <a:rPr lang="zh-CN" altLang="en-US" dirty="0"/>
              <a:t>整体的等效带宽分析</a:t>
            </a:r>
          </a:p>
        </p:txBody>
      </p:sp>
      <p:graphicFrame>
        <p:nvGraphicFramePr>
          <p:cNvPr id="2" name="表格 1">
            <a:extLst>
              <a:ext uri="{FF2B5EF4-FFF2-40B4-BE49-F238E27FC236}">
                <a16:creationId xmlns:a16="http://schemas.microsoft.com/office/drawing/2014/main" id="{C5ED30B8-2555-CB07-455C-554AABEBAED5}"/>
              </a:ext>
            </a:extLst>
          </p:cNvPr>
          <p:cNvGraphicFramePr>
            <a:graphicFrameLocks noGrp="1"/>
          </p:cNvGraphicFramePr>
          <p:nvPr>
            <p:extLst>
              <p:ext uri="{D42A27DB-BD31-4B8C-83A1-F6EECF244321}">
                <p14:modId xmlns:p14="http://schemas.microsoft.com/office/powerpoint/2010/main" val="1106407333"/>
              </p:ext>
            </p:extLst>
          </p:nvPr>
        </p:nvGraphicFramePr>
        <p:xfrm>
          <a:off x="706120" y="1260012"/>
          <a:ext cx="8127999" cy="249428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915187062"/>
                    </a:ext>
                  </a:extLst>
                </a:gridCol>
                <a:gridCol w="2709333">
                  <a:extLst>
                    <a:ext uri="{9D8B030D-6E8A-4147-A177-3AD203B41FA5}">
                      <a16:colId xmlns:a16="http://schemas.microsoft.com/office/drawing/2014/main" val="1285439944"/>
                    </a:ext>
                  </a:extLst>
                </a:gridCol>
                <a:gridCol w="2709333">
                  <a:extLst>
                    <a:ext uri="{9D8B030D-6E8A-4147-A177-3AD203B41FA5}">
                      <a16:colId xmlns:a16="http://schemas.microsoft.com/office/drawing/2014/main" val="3869792573"/>
                    </a:ext>
                  </a:extLst>
                </a:gridCol>
              </a:tblGrid>
              <a:tr h="370840">
                <a:tc>
                  <a:txBody>
                    <a:bodyPr/>
                    <a:lstStyle/>
                    <a:p>
                      <a:r>
                        <a:rPr lang="zh-CN" altLang="en-US" dirty="0"/>
                        <a:t>场景说明</a:t>
                      </a:r>
                    </a:p>
                  </a:txBody>
                  <a:tcPr/>
                </a:tc>
                <a:tc>
                  <a:txBody>
                    <a:bodyPr/>
                    <a:lstStyle/>
                    <a:p>
                      <a:r>
                        <a:rPr lang="zh-CN" altLang="en-US" dirty="0"/>
                        <a:t>等效带宽</a:t>
                      </a:r>
                    </a:p>
                  </a:txBody>
                  <a:tcPr/>
                </a:tc>
                <a:tc>
                  <a:txBody>
                    <a:bodyPr/>
                    <a:lstStyle/>
                    <a:p>
                      <a:r>
                        <a:rPr lang="zh-CN" altLang="en-US" dirty="0"/>
                        <a:t>计算性能</a:t>
                      </a:r>
                    </a:p>
                  </a:txBody>
                  <a:tcPr/>
                </a:tc>
                <a:extLst>
                  <a:ext uri="{0D108BD9-81ED-4DB2-BD59-A6C34878D82A}">
                    <a16:rowId xmlns:a16="http://schemas.microsoft.com/office/drawing/2014/main" val="4189383193"/>
                  </a:ext>
                </a:extLst>
              </a:tr>
              <a:tr h="370840">
                <a:tc>
                  <a:txBody>
                    <a:bodyPr/>
                    <a:lstStyle/>
                    <a:p>
                      <a:r>
                        <a:rPr lang="zh-CN" altLang="en-US" dirty="0"/>
                        <a:t>保留所有的</a:t>
                      </a:r>
                      <a:r>
                        <a:rPr lang="en-US" altLang="zh-CN" dirty="0"/>
                        <a:t>DMA_B</a:t>
                      </a:r>
                      <a:r>
                        <a:rPr lang="zh-CN" altLang="en-US" dirty="0"/>
                        <a:t>和</a:t>
                      </a:r>
                      <a:r>
                        <a:rPr lang="en-US" altLang="zh-CN" dirty="0"/>
                        <a:t>DMA_C</a:t>
                      </a:r>
                      <a:r>
                        <a:rPr lang="zh-CN" altLang="en-US" dirty="0"/>
                        <a:t>的行为</a:t>
                      </a:r>
                    </a:p>
                  </a:txBody>
                  <a:tcPr/>
                </a:tc>
                <a:tc>
                  <a:txBody>
                    <a:bodyPr/>
                    <a:lstStyle/>
                    <a:p>
                      <a:r>
                        <a:rPr lang="en-US" altLang="zh-CN" dirty="0"/>
                        <a:t>267GB/s</a:t>
                      </a:r>
                      <a:endParaRPr lang="zh-CN" altLang="en-US" dirty="0"/>
                    </a:p>
                  </a:txBody>
                  <a:tcPr/>
                </a:tc>
                <a:tc>
                  <a:txBody>
                    <a:bodyPr/>
                    <a:lstStyle/>
                    <a:p>
                      <a:endParaRPr lang="zh-CN" altLang="en-US"/>
                    </a:p>
                  </a:txBody>
                  <a:tcPr/>
                </a:tc>
                <a:extLst>
                  <a:ext uri="{0D108BD9-81ED-4DB2-BD59-A6C34878D82A}">
                    <a16:rowId xmlns:a16="http://schemas.microsoft.com/office/drawing/2014/main" val="1978882374"/>
                  </a:ext>
                </a:extLst>
              </a:tr>
              <a:tr h="370840">
                <a:tc>
                  <a:txBody>
                    <a:bodyPr/>
                    <a:lstStyle/>
                    <a:p>
                      <a:r>
                        <a:rPr lang="zh-CN" altLang="en-US" dirty="0"/>
                        <a:t>添加</a:t>
                      </a:r>
                      <a:r>
                        <a:rPr lang="en-US" altLang="zh-CN" dirty="0"/>
                        <a:t>ACE</a:t>
                      </a:r>
                      <a:r>
                        <a:rPr lang="zh-CN" altLang="en-US" dirty="0"/>
                        <a:t>计算</a:t>
                      </a:r>
                    </a:p>
                  </a:txBody>
                  <a:tcPr/>
                </a:tc>
                <a:tc>
                  <a:txBody>
                    <a:bodyPr/>
                    <a:lstStyle/>
                    <a:p>
                      <a:r>
                        <a:rPr lang="en-US" altLang="zh-CN" dirty="0">
                          <a:solidFill>
                            <a:srgbClr val="FF0000"/>
                          </a:solidFill>
                        </a:rPr>
                        <a:t>224GB/s</a:t>
                      </a:r>
                      <a:endParaRPr lang="zh-CN" altLang="en-US" dirty="0">
                        <a:solidFill>
                          <a:srgbClr val="FF0000"/>
                        </a:solidFill>
                      </a:endParaRPr>
                    </a:p>
                  </a:txBody>
                  <a:tcPr/>
                </a:tc>
                <a:tc>
                  <a:txBody>
                    <a:bodyPr/>
                    <a:lstStyle/>
                    <a:p>
                      <a:r>
                        <a:rPr lang="en-US" altLang="zh-CN" dirty="0">
                          <a:solidFill>
                            <a:srgbClr val="FF0000"/>
                          </a:solidFill>
                        </a:rPr>
                        <a:t>68.8</a:t>
                      </a:r>
                      <a:r>
                        <a:rPr lang="zh-CN" altLang="en-US" dirty="0">
                          <a:solidFill>
                            <a:srgbClr val="FF0000"/>
                          </a:solidFill>
                        </a:rPr>
                        <a:t> </a:t>
                      </a:r>
                      <a:r>
                        <a:rPr lang="en-US" altLang="zh-CN" dirty="0">
                          <a:solidFill>
                            <a:srgbClr val="FF0000"/>
                          </a:solidFill>
                        </a:rPr>
                        <a:t>TFLOPS</a:t>
                      </a:r>
                      <a:endParaRPr lang="zh-CN" altLang="en-US" dirty="0">
                        <a:solidFill>
                          <a:srgbClr val="FF0000"/>
                        </a:solidFill>
                      </a:endParaRPr>
                    </a:p>
                  </a:txBody>
                  <a:tcPr/>
                </a:tc>
                <a:extLst>
                  <a:ext uri="{0D108BD9-81ED-4DB2-BD59-A6C34878D82A}">
                    <a16:rowId xmlns:a16="http://schemas.microsoft.com/office/drawing/2014/main" val="3433140991"/>
                  </a:ext>
                </a:extLst>
              </a:tr>
              <a:tr h="370840">
                <a:tc>
                  <a:txBody>
                    <a:bodyPr/>
                    <a:lstStyle/>
                    <a:p>
                      <a:r>
                        <a:rPr lang="zh-CN" altLang="en-US" dirty="0"/>
                        <a:t>添加</a:t>
                      </a:r>
                      <a:r>
                        <a:rPr lang="en-US" altLang="zh-CN" dirty="0"/>
                        <a:t>RMA</a:t>
                      </a:r>
                      <a:endParaRPr lang="zh-CN" altLang="en-US" dirty="0"/>
                    </a:p>
                  </a:txBody>
                  <a:tcPr/>
                </a:tc>
                <a:tc>
                  <a:txBody>
                    <a:bodyPr/>
                    <a:lstStyle/>
                    <a:p>
                      <a:r>
                        <a:rPr lang="en-US" altLang="zh-CN" dirty="0">
                          <a:solidFill>
                            <a:srgbClr val="FF0000"/>
                          </a:solidFill>
                        </a:rPr>
                        <a:t>213GB/s</a:t>
                      </a:r>
                      <a:endParaRPr lang="zh-CN" altLang="en-US" dirty="0">
                        <a:solidFill>
                          <a:srgbClr val="FF0000"/>
                        </a:solidFill>
                      </a:endParaRPr>
                    </a:p>
                  </a:txBody>
                  <a:tcPr/>
                </a:tc>
                <a:tc>
                  <a:txBody>
                    <a:bodyPr/>
                    <a:lstStyle/>
                    <a:p>
                      <a:r>
                        <a:rPr lang="en-US" altLang="zh-CN" dirty="0">
                          <a:solidFill>
                            <a:srgbClr val="FF0000"/>
                          </a:solidFill>
                        </a:rPr>
                        <a:t>65.2TFLOPS</a:t>
                      </a:r>
                      <a:endParaRPr lang="zh-CN" altLang="en-US" dirty="0">
                        <a:solidFill>
                          <a:srgbClr val="FF0000"/>
                        </a:solidFill>
                      </a:endParaRPr>
                    </a:p>
                  </a:txBody>
                  <a:tcPr/>
                </a:tc>
                <a:extLst>
                  <a:ext uri="{0D108BD9-81ED-4DB2-BD59-A6C34878D82A}">
                    <a16:rowId xmlns:a16="http://schemas.microsoft.com/office/drawing/2014/main" val="2021412467"/>
                  </a:ext>
                </a:extLst>
              </a:tr>
              <a:tr h="370840">
                <a:tc>
                  <a:txBody>
                    <a:bodyPr/>
                    <a:lstStyle/>
                    <a:p>
                      <a:r>
                        <a:rPr lang="zh-CN" altLang="en-US" dirty="0"/>
                        <a:t>添加</a:t>
                      </a:r>
                      <a:r>
                        <a:rPr lang="en-US" altLang="zh-CN" dirty="0"/>
                        <a:t>SIMD_REDUCE</a:t>
                      </a:r>
                      <a:endParaRPr lang="zh-CN" altLang="en-US" dirty="0"/>
                    </a:p>
                  </a:txBody>
                  <a:tcPr/>
                </a:tc>
                <a:tc>
                  <a:txBody>
                    <a:bodyPr/>
                    <a:lstStyle/>
                    <a:p>
                      <a:r>
                        <a:rPr lang="en-US" altLang="zh-CN" dirty="0">
                          <a:solidFill>
                            <a:schemeClr val="tx1"/>
                          </a:solidFill>
                        </a:rPr>
                        <a:t>213.4GB/s</a:t>
                      </a:r>
                      <a:endParaRPr lang="zh-CN" altLang="en-US" dirty="0">
                        <a:solidFill>
                          <a:schemeClr val="tx1"/>
                        </a:solidFill>
                      </a:endParaRPr>
                    </a:p>
                  </a:txBody>
                  <a:tcPr/>
                </a:tc>
                <a:tc>
                  <a:txBody>
                    <a:bodyPr/>
                    <a:lstStyle/>
                    <a:p>
                      <a:r>
                        <a:rPr lang="en-US" altLang="zh-CN" dirty="0">
                          <a:solidFill>
                            <a:schemeClr val="tx1"/>
                          </a:solidFill>
                        </a:rPr>
                        <a:t>65.4TFLOPS</a:t>
                      </a:r>
                      <a:endParaRPr lang="zh-CN" altLang="en-US" dirty="0">
                        <a:solidFill>
                          <a:schemeClr val="tx1"/>
                        </a:solidFill>
                      </a:endParaRPr>
                    </a:p>
                  </a:txBody>
                  <a:tcPr/>
                </a:tc>
                <a:extLst>
                  <a:ext uri="{0D108BD9-81ED-4DB2-BD59-A6C34878D82A}">
                    <a16:rowId xmlns:a16="http://schemas.microsoft.com/office/drawing/2014/main" val="3599647353"/>
                  </a:ext>
                </a:extLst>
              </a:tr>
              <a:tr h="370840">
                <a:tc>
                  <a:txBody>
                    <a:bodyPr/>
                    <a:lstStyle/>
                    <a:p>
                      <a:r>
                        <a:rPr lang="zh-CN" altLang="en-US" dirty="0"/>
                        <a:t>添加</a:t>
                      </a:r>
                      <a:r>
                        <a:rPr lang="en-US" altLang="zh-CN" dirty="0"/>
                        <a:t>DMA_A</a:t>
                      </a:r>
                      <a:r>
                        <a:rPr lang="zh-CN" altLang="en-US" dirty="0"/>
                        <a:t>的行为</a:t>
                      </a:r>
                    </a:p>
                  </a:txBody>
                  <a:tcPr/>
                </a:tc>
                <a:tc>
                  <a:txBody>
                    <a:bodyPr/>
                    <a:lstStyle/>
                    <a:p>
                      <a:r>
                        <a:rPr lang="en-US" altLang="zh-CN" dirty="0"/>
                        <a:t>215GB/s</a:t>
                      </a:r>
                      <a:endParaRPr lang="zh-CN" altLang="en-US" dirty="0"/>
                    </a:p>
                  </a:txBody>
                  <a:tcPr/>
                </a:tc>
                <a:tc>
                  <a:txBody>
                    <a:bodyPr/>
                    <a:lstStyle/>
                    <a:p>
                      <a:r>
                        <a:rPr lang="en-US" altLang="zh-CN" dirty="0"/>
                        <a:t>61.39</a:t>
                      </a:r>
                      <a:r>
                        <a:rPr lang="zh-CN" altLang="en-US" dirty="0"/>
                        <a:t> </a:t>
                      </a:r>
                      <a:r>
                        <a:rPr lang="en-US" altLang="zh-CN" dirty="0"/>
                        <a:t>TFLOPS</a:t>
                      </a:r>
                      <a:endParaRPr lang="zh-CN" altLang="en-US" dirty="0"/>
                    </a:p>
                  </a:txBody>
                  <a:tcPr/>
                </a:tc>
                <a:extLst>
                  <a:ext uri="{0D108BD9-81ED-4DB2-BD59-A6C34878D82A}">
                    <a16:rowId xmlns:a16="http://schemas.microsoft.com/office/drawing/2014/main" val="1757031850"/>
                  </a:ext>
                </a:extLst>
              </a:tr>
            </a:tbl>
          </a:graphicData>
        </a:graphic>
      </p:graphicFrame>
      <p:sp>
        <p:nvSpPr>
          <p:cNvPr id="3" name="文本框 2">
            <a:extLst>
              <a:ext uri="{FF2B5EF4-FFF2-40B4-BE49-F238E27FC236}">
                <a16:creationId xmlns:a16="http://schemas.microsoft.com/office/drawing/2014/main" id="{84504967-92FA-9865-EB08-9BFA3769DF0A}"/>
              </a:ext>
            </a:extLst>
          </p:cNvPr>
          <p:cNvSpPr txBox="1"/>
          <p:nvPr/>
        </p:nvSpPr>
        <p:spPr>
          <a:xfrm>
            <a:off x="857250" y="937936"/>
            <a:ext cx="8127998" cy="369332"/>
          </a:xfrm>
          <a:prstGeom prst="rect">
            <a:avLst/>
          </a:prstGeom>
          <a:noFill/>
        </p:spPr>
        <p:txBody>
          <a:bodyPr wrap="square" rtlCol="0">
            <a:spAutoFit/>
          </a:bodyPr>
          <a:lstStyle/>
          <a:p>
            <a:r>
              <a:rPr kumimoji="1" lang="zh-CN" altLang="en-US" dirty="0"/>
              <a:t>以下以</a:t>
            </a:r>
            <a:r>
              <a:rPr kumimoji="1" lang="en-US" altLang="zh-CN" dirty="0"/>
              <a:t>[4096,4096,6144]</a:t>
            </a:r>
            <a:r>
              <a:rPr kumimoji="1" lang="zh-CN" altLang="en-US" dirty="0"/>
              <a:t>为例，</a:t>
            </a:r>
            <a:r>
              <a:rPr kumimoji="1" lang="en-US" altLang="zh-CN" dirty="0"/>
              <a:t>M1=1024,N1=256,K1=1536</a:t>
            </a:r>
            <a:endParaRPr kumimoji="1" lang="zh-CN" altLang="en-US" dirty="0"/>
          </a:p>
        </p:txBody>
      </p:sp>
      <p:sp>
        <p:nvSpPr>
          <p:cNvPr id="6" name="文本框 5">
            <a:extLst>
              <a:ext uri="{FF2B5EF4-FFF2-40B4-BE49-F238E27FC236}">
                <a16:creationId xmlns:a16="http://schemas.microsoft.com/office/drawing/2014/main" id="{4E1DC744-1C8B-95D2-884A-0A519FF5A2EB}"/>
              </a:ext>
            </a:extLst>
          </p:cNvPr>
          <p:cNvSpPr txBox="1"/>
          <p:nvPr/>
        </p:nvSpPr>
        <p:spPr>
          <a:xfrm>
            <a:off x="560070" y="4174066"/>
            <a:ext cx="7692390" cy="2585323"/>
          </a:xfrm>
          <a:prstGeom prst="rect">
            <a:avLst/>
          </a:prstGeom>
          <a:noFill/>
        </p:spPr>
        <p:txBody>
          <a:bodyPr wrap="square" rtlCol="0">
            <a:spAutoFit/>
          </a:bodyPr>
          <a:lstStyle/>
          <a:p>
            <a:r>
              <a:rPr kumimoji="1" lang="zh-CN" altLang="en-US" dirty="0"/>
              <a:t>由上面看出整个带宽下降最多的场景就是添加</a:t>
            </a:r>
            <a:r>
              <a:rPr kumimoji="1" lang="en-US" altLang="zh-CN" dirty="0"/>
              <a:t>ACE</a:t>
            </a:r>
            <a:r>
              <a:rPr kumimoji="1" lang="zh-CN" altLang="en-US" dirty="0"/>
              <a:t>计算的行为。从理论分析上来看</a:t>
            </a:r>
            <a:r>
              <a:rPr kumimoji="1" lang="en-US" altLang="zh-CN" dirty="0"/>
              <a:t>DMA</a:t>
            </a:r>
            <a:r>
              <a:rPr kumimoji="1" lang="zh-CN" altLang="en-US" dirty="0"/>
              <a:t>访存的等效带宽在</a:t>
            </a:r>
            <a:r>
              <a:rPr kumimoji="1" lang="en-US" altLang="zh-CN" dirty="0"/>
              <a:t>267GB</a:t>
            </a:r>
            <a:r>
              <a:rPr kumimoji="1" lang="zh-CN" altLang="en-US" dirty="0"/>
              <a:t>以上，则</a:t>
            </a:r>
            <a:r>
              <a:rPr kumimoji="1" lang="en-US" altLang="zh-CN" dirty="0"/>
              <a:t>ACE</a:t>
            </a:r>
            <a:r>
              <a:rPr kumimoji="1" lang="zh-CN" altLang="en-US" dirty="0"/>
              <a:t>的计算应该上界应该在</a:t>
            </a:r>
            <a:r>
              <a:rPr kumimoji="1" lang="en-US" altLang="zh-CN" dirty="0"/>
              <a:t>74TFLOS</a:t>
            </a:r>
            <a:r>
              <a:rPr kumimoji="1" lang="zh-CN" altLang="en-US" dirty="0"/>
              <a:t>左右，但实测只有</a:t>
            </a:r>
            <a:r>
              <a:rPr kumimoji="1" lang="en-US" altLang="zh-CN" dirty="0"/>
              <a:t>68.06TFLOPS</a:t>
            </a:r>
            <a:r>
              <a:rPr kumimoji="1" lang="zh-CN" altLang="en-US" dirty="0"/>
              <a:t>。</a:t>
            </a:r>
            <a:endParaRPr kumimoji="1" lang="en-US" altLang="zh-CN" dirty="0"/>
          </a:p>
          <a:p>
            <a:r>
              <a:rPr kumimoji="1" lang="zh-CN" altLang="en-US" dirty="0"/>
              <a:t>怀疑两点</a:t>
            </a:r>
            <a:r>
              <a:rPr kumimoji="1" lang="en-US" altLang="zh-CN" dirty="0"/>
              <a:t>:</a:t>
            </a:r>
            <a:r>
              <a:rPr kumimoji="1" lang="zh-CN" altLang="en-US" dirty="0"/>
              <a:t> </a:t>
            </a:r>
            <a:endParaRPr kumimoji="1" lang="en-US" altLang="zh-CN" dirty="0"/>
          </a:p>
          <a:p>
            <a:pPr marL="342900" indent="-342900">
              <a:buAutoNum type="arabicPeriod"/>
            </a:pPr>
            <a:r>
              <a:rPr kumimoji="1" lang="en-US" altLang="zh-CN" dirty="0"/>
              <a:t>ACE</a:t>
            </a:r>
            <a:r>
              <a:rPr kumimoji="1" lang="zh-CN" altLang="en-US" dirty="0"/>
              <a:t>计算过程和</a:t>
            </a:r>
            <a:r>
              <a:rPr kumimoji="1" lang="en-US" altLang="zh-CN" dirty="0"/>
              <a:t>DMA</a:t>
            </a:r>
            <a:r>
              <a:rPr kumimoji="1" lang="zh-CN" altLang="en-US" dirty="0"/>
              <a:t>访存过程使用的</a:t>
            </a:r>
            <a:r>
              <a:rPr kumimoji="1" lang="en-US" altLang="zh-CN" dirty="0"/>
              <a:t>LDM</a:t>
            </a:r>
            <a:r>
              <a:rPr kumimoji="1" lang="zh-CN" altLang="en-US" dirty="0"/>
              <a:t>冲突。</a:t>
            </a:r>
            <a:endParaRPr kumimoji="1" lang="en-US" altLang="zh-CN" dirty="0"/>
          </a:p>
          <a:p>
            <a:pPr marL="342900" indent="-342900">
              <a:buAutoNum type="arabicPeriod"/>
            </a:pPr>
            <a:r>
              <a:rPr kumimoji="1" lang="en-US" altLang="zh-CN" dirty="0"/>
              <a:t>DMA</a:t>
            </a:r>
            <a:r>
              <a:rPr kumimoji="1" lang="zh-CN" altLang="en-US" dirty="0"/>
              <a:t>的每次访问耗时是不稳定的，整体带宽为</a:t>
            </a:r>
            <a:r>
              <a:rPr kumimoji="1" lang="en-US" altLang="zh-CN" dirty="0"/>
              <a:t>267</a:t>
            </a:r>
            <a:r>
              <a:rPr kumimoji="1" lang="zh-CN" altLang="en-US" dirty="0"/>
              <a:t>，但实际每次的访问带宽相差过大。</a:t>
            </a:r>
            <a:endParaRPr kumimoji="1" lang="en-US" altLang="zh-CN" dirty="0"/>
          </a:p>
          <a:p>
            <a:r>
              <a:rPr kumimoji="1" lang="zh-CN" altLang="en-US" dirty="0"/>
              <a:t>通过用右边的代码</a:t>
            </a:r>
            <a:r>
              <a:rPr kumimoji="1" lang="en-US" altLang="zh-CN" dirty="0"/>
              <a:t>(</a:t>
            </a:r>
            <a:r>
              <a:rPr kumimoji="1" lang="zh-CN" altLang="en-US" dirty="0"/>
              <a:t>大概</a:t>
            </a:r>
            <a:r>
              <a:rPr kumimoji="1" lang="en-US" altLang="zh-CN" dirty="0"/>
              <a:t>1629</a:t>
            </a:r>
            <a:r>
              <a:rPr kumimoji="1" lang="zh-CN" altLang="en-US" dirty="0"/>
              <a:t>个</a:t>
            </a:r>
            <a:r>
              <a:rPr kumimoji="1" lang="en-US" altLang="zh-CN" dirty="0"/>
              <a:t>cycle)</a:t>
            </a:r>
            <a:r>
              <a:rPr kumimoji="1" lang="zh-CN" altLang="en-US" dirty="0"/>
              <a:t>替换</a:t>
            </a:r>
            <a:r>
              <a:rPr kumimoji="1" lang="en-US" altLang="zh-CN" dirty="0"/>
              <a:t>ACE</a:t>
            </a:r>
            <a:r>
              <a:rPr kumimoji="1" lang="zh-CN" altLang="en-US" dirty="0"/>
              <a:t>操作</a:t>
            </a:r>
            <a:r>
              <a:rPr kumimoji="1" lang="en-US" altLang="zh-CN" dirty="0"/>
              <a:t>(3000cycle)</a:t>
            </a:r>
            <a:r>
              <a:rPr kumimoji="1" lang="zh-CN" altLang="en-US" dirty="0"/>
              <a:t>，验证是否冲突。同时讲</a:t>
            </a:r>
            <a:r>
              <a:rPr kumimoji="1" lang="en-US" altLang="zh-CN" dirty="0"/>
              <a:t>ACE</a:t>
            </a:r>
            <a:r>
              <a:rPr kumimoji="1" lang="zh-CN" altLang="en-US" dirty="0"/>
              <a:t>和</a:t>
            </a:r>
            <a:r>
              <a:rPr kumimoji="1" lang="en-US" altLang="zh-CN" dirty="0"/>
              <a:t>DMA</a:t>
            </a:r>
            <a:r>
              <a:rPr kumimoji="1" lang="zh-CN" altLang="en-US" dirty="0"/>
              <a:t>的半区完全错开。最近验证应该是</a:t>
            </a:r>
            <a:r>
              <a:rPr kumimoji="1" lang="en-US" altLang="zh-CN" dirty="0"/>
              <a:t>2</a:t>
            </a:r>
            <a:r>
              <a:rPr kumimoji="1" lang="zh-CN" altLang="en-US" dirty="0"/>
              <a:t>导致的。</a:t>
            </a:r>
            <a:endParaRPr kumimoji="1" lang="en-US" altLang="zh-CN" dirty="0"/>
          </a:p>
        </p:txBody>
      </p:sp>
      <p:pic>
        <p:nvPicPr>
          <p:cNvPr id="7" name="图片 6">
            <a:extLst>
              <a:ext uri="{FF2B5EF4-FFF2-40B4-BE49-F238E27FC236}">
                <a16:creationId xmlns:a16="http://schemas.microsoft.com/office/drawing/2014/main" id="{7AF47288-B55E-8333-E6F7-0C52208F9222}"/>
              </a:ext>
            </a:extLst>
          </p:cNvPr>
          <p:cNvPicPr>
            <a:picLocks noChangeAspect="1"/>
          </p:cNvPicPr>
          <p:nvPr/>
        </p:nvPicPr>
        <p:blipFill>
          <a:blip r:embed="rId3"/>
          <a:stretch>
            <a:fillRect/>
          </a:stretch>
        </p:blipFill>
        <p:spPr>
          <a:xfrm>
            <a:off x="8364220" y="4270257"/>
            <a:ext cx="3416300" cy="1041400"/>
          </a:xfrm>
          <a:prstGeom prst="rect">
            <a:avLst/>
          </a:prstGeom>
        </p:spPr>
      </p:pic>
    </p:spTree>
    <p:extLst>
      <p:ext uri="{BB962C8B-B14F-4D97-AF65-F5344CB8AC3E}">
        <p14:creationId xmlns:p14="http://schemas.microsoft.com/office/powerpoint/2010/main" val="4299085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2E0ZWEwMTljMmViZjM5ODc4ZDRhMGIxYWJkYjRkNDgifQ=="/>
</p:tagLst>
</file>

<file path=ppt/theme/theme1.xml><?xml version="1.0" encoding="utf-8"?>
<a:theme xmlns:a="http://schemas.openxmlformats.org/drawingml/2006/main" name="tc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微软雅黑">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tc1</Template>
  <TotalTime>2536</TotalTime>
  <Words>2741</Words>
  <Application>Microsoft Macintosh PowerPoint</Application>
  <PresentationFormat>宽屏</PresentationFormat>
  <Paragraphs>670</Paragraphs>
  <Slides>24</Slides>
  <Notes>20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24</vt:i4>
      </vt:variant>
    </vt:vector>
  </HeadingPairs>
  <TitlesOfParts>
    <vt:vector size="30" baseType="lpstr">
      <vt:lpstr>等线</vt:lpstr>
      <vt:lpstr>SimSun</vt:lpstr>
      <vt:lpstr>微软雅黑</vt:lpstr>
      <vt:lpstr>Arial</vt:lpstr>
      <vt:lpstr>Cambria Math</vt:lpstr>
      <vt:lpstr>tc1</vt:lpstr>
      <vt:lpstr>PowerPoint 演示文稿</vt:lpstr>
      <vt:lpstr>PowerPoint 演示文稿</vt:lpstr>
      <vt:lpstr>SUMMA算法介绍</vt:lpstr>
      <vt:lpstr>SUMMA算法介绍</vt:lpstr>
      <vt:lpstr>PowerPoint 演示文稿</vt:lpstr>
      <vt:lpstr>PowerPoint 演示文稿</vt:lpstr>
      <vt:lpstr>整体思路梳理</vt:lpstr>
      <vt:lpstr>PowerPoint 演示文稿</vt:lpstr>
      <vt:lpstr>方案介绍</vt:lpstr>
      <vt:lpstr>方案介绍</vt:lpstr>
      <vt:lpstr>方案介绍</vt:lpstr>
      <vt:lpstr>方案介绍</vt:lpstr>
      <vt:lpstr>方案介绍</vt:lpstr>
      <vt:lpstr>方案介绍-伪代码-串行</vt:lpstr>
      <vt:lpstr>PowerPoint 演示文稿</vt:lpstr>
      <vt:lpstr>流水优化-DMA_GET_MatA</vt:lpstr>
      <vt:lpstr>流水优化-DMA_GET_MatB</vt:lpstr>
      <vt:lpstr>流水优化-RMA_PUT_MatB</vt:lpstr>
      <vt:lpstr>流水优化-SIMD_Reduce+RMA_COL_PUT_MatC</vt:lpstr>
      <vt:lpstr>流水优化-DMA_GET_PUT_MatC+ACE_COM</vt:lpstr>
      <vt:lpstr>PowerPoint 演示文稿</vt:lpstr>
      <vt:lpstr>DMA瓶颈分析</vt:lpstr>
      <vt:lpstr>RMA瓶颈分析</vt:lpstr>
      <vt:lpstr>整体的等效带宽分析</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Teco-PyTorch技术总结及规划</dc:title>
  <dc:creator>eva wu</dc:creator>
  <cp:lastModifiedBy>Microsoft Office User</cp:lastModifiedBy>
  <cp:revision>659</cp:revision>
  <dcterms:created xsi:type="dcterms:W3CDTF">2023-10-19T02:57:00Z</dcterms:created>
  <dcterms:modified xsi:type="dcterms:W3CDTF">2024-03-12T03:12:49Z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AFE3A03BDDF94252807E11DFC499E671_12</vt:lpwstr>
  </property>
  <property fmtid="{D5CDD505-2E9C-101B-9397-08002B2CF9AE}" pid="3" name="KSOProductBuildVer">
    <vt:lpwstr>2052-12.1.0.15990</vt:lpwstr>
  </property>
</Properties>
</file>