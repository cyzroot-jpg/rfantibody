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60" r:id="rId2"/>
    <p:sldId id="422" r:id="rId3"/>
    <p:sldId id="424" r:id="rId4"/>
    <p:sldId id="433" r:id="rId5"/>
    <p:sldId id="426" r:id="rId6"/>
    <p:sldId id="425" r:id="rId7"/>
    <p:sldId id="431" r:id="rId8"/>
    <p:sldId id="432" r:id="rId9"/>
    <p:sldId id="427" r:id="rId10"/>
    <p:sldId id="430" r:id="rId11"/>
    <p:sldId id="428" r:id="rId12"/>
    <p:sldId id="429" r:id="rId13"/>
    <p:sldId id="259" r:id="rId14"/>
  </p:sldIdLst>
  <p:sldSz cx="12192000" cy="6858000"/>
  <p:notesSz cx="6858000" cy="9144000"/>
  <p:embeddedFontLst>
    <p:embeddedFont>
      <p:font typeface="等线" panose="02010600030101010101" pitchFamily="2" charset="-122"/>
      <p:regular r:id="rId16"/>
      <p:bold r:id="rId17"/>
    </p:embeddedFont>
    <p:embeddedFont>
      <p:font typeface="等线 Light" panose="02010600030101010101" pitchFamily="2" charset="-122"/>
      <p:regular r:id="rId18"/>
    </p:embeddedFont>
    <p:embeddedFont>
      <p:font typeface="微软雅黑" panose="020B0503020204020204" pitchFamily="34" charset="-122"/>
      <p:regular r:id="rId19"/>
      <p:bold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xuan-l17@mails.tsinghua.edu.cn" initials="" lastIdx="1" clrIdx="0">
    <p:extLst>
      <p:ext uri="{19B8F6BF-5375-455C-9EA6-DF929625EA0E}">
        <p15:presenceInfo xmlns:p15="http://schemas.microsoft.com/office/powerpoint/2012/main" userId="61661df3747932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C129"/>
    <a:srgbClr val="F27E1E"/>
    <a:srgbClr val="FFC1D8"/>
    <a:srgbClr val="F2A01E"/>
    <a:srgbClr val="FF9B9F"/>
    <a:srgbClr val="F76AA1"/>
    <a:srgbClr val="FABB27"/>
    <a:srgbClr val="EF971B"/>
    <a:srgbClr val="E26C0D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4917" autoAdjust="0"/>
  </p:normalViewPr>
  <p:slideViewPr>
    <p:cSldViewPr snapToGrid="0">
      <p:cViewPr varScale="1">
        <p:scale>
          <a:sx n="106" d="100"/>
          <a:sy n="106" d="100"/>
        </p:scale>
        <p:origin x="792" y="184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78333-766F-468F-B49E-6CCCD41D30F4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B093CC-6E38-42C0-8839-2AB85AA86E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rgbClr val="C00000"/>
                </a:solidFill>
              </a:rPr>
              <a:t>内部汇报使用封面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093CC-6E38-42C0-8839-2AB85AA86EA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093CC-6E38-42C0-8839-2AB85AA86EA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24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093CC-6E38-42C0-8839-2AB85AA86EA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797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093CC-6E38-42C0-8839-2AB85AA86EA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682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093CC-6E38-42C0-8839-2AB85AA86EA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374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093CC-6E38-42C0-8839-2AB85AA86EA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870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093CC-6E38-42C0-8839-2AB85AA86EA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712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093CC-6E38-42C0-8839-2AB85AA86EA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696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093CC-6E38-42C0-8839-2AB85AA86EA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130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093CC-6E38-42C0-8839-2AB85AA86EA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851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093CC-6E38-42C0-8839-2AB85AA86EA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458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093CC-6E38-42C0-8839-2AB85AA86EA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028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87769" cy="686038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990" y="277459"/>
            <a:ext cx="1403411" cy="5853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990" y="286695"/>
            <a:ext cx="1403411" cy="5853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背景图案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" y="0"/>
            <a:ext cx="12183539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990" y="286695"/>
            <a:ext cx="1403411" cy="5853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C6F8FD-A169-47D7-B94D-B59DE6E5C6E4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C582C3-F5D8-419C-9728-06077075AE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C6F8FD-A169-47D7-B94D-B59DE6E5C6E4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C582C3-F5D8-419C-9728-06077075AE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C6F8FD-A169-47D7-B94D-B59DE6E5C6E4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C582C3-F5D8-419C-9728-06077075AE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C6F8FD-A169-47D7-B94D-B59DE6E5C6E4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C582C3-F5D8-419C-9728-06077075AE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C6F8FD-A169-47D7-B94D-B59DE6E5C6E4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C582C3-F5D8-419C-9728-06077075AE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C6F8FD-A169-47D7-B94D-B59DE6E5C6E4}" type="datetimeFigureOut">
              <a:rPr lang="zh-CN" altLang="en-US" smtClean="0"/>
              <a:t>2024/2/28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C582C3-F5D8-419C-9728-06077075AE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9"/>
            <a:ext cx="12192000" cy="68553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7530"/>
            <a:ext cx="12192000" cy="685532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68" y="869483"/>
            <a:ext cx="2018032" cy="841747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004568" y="2575921"/>
            <a:ext cx="5091432" cy="2324041"/>
            <a:chOff x="1004568" y="2575921"/>
            <a:chExt cx="4284042" cy="2324041"/>
          </a:xfrm>
        </p:grpSpPr>
        <p:sp>
          <p:nvSpPr>
            <p:cNvPr id="6" name="文本框 5"/>
            <p:cNvSpPr txBox="1"/>
            <p:nvPr/>
          </p:nvSpPr>
          <p:spPr>
            <a:xfrm>
              <a:off x="1004568" y="2575921"/>
              <a:ext cx="4284042" cy="1436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38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一代芯片硬件结构逆向和建模分析 </a:t>
              </a:r>
              <a:r>
                <a:rPr lang="en-US" altLang="zh-CN" sz="38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V0.6</a:t>
              </a:r>
              <a:endParaRPr lang="zh-CN" altLang="en-US" sz="3800" b="1" dirty="0">
                <a:solidFill>
                  <a:srgbClr val="E26C0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04568" y="4402005"/>
              <a:ext cx="2373632" cy="497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李宇轩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361950" y="6398036"/>
            <a:ext cx="11367943" cy="295144"/>
            <a:chOff x="371475" y="4964836"/>
            <a:chExt cx="11367943" cy="295144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71475" y="5125367"/>
              <a:ext cx="10521084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1341100" y="5125367"/>
              <a:ext cx="398318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0886209" y="4964836"/>
              <a:ext cx="454891" cy="295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0103" y="352983"/>
            <a:ext cx="7481981" cy="541920"/>
            <a:chOff x="0" y="338431"/>
            <a:chExt cx="7481981" cy="541920"/>
          </a:xfrm>
        </p:grpSpPr>
        <p:sp>
          <p:nvSpPr>
            <p:cNvPr id="5" name="矩形 4"/>
            <p:cNvSpPr/>
            <p:nvPr/>
          </p:nvSpPr>
          <p:spPr>
            <a:xfrm>
              <a:off x="0" y="348602"/>
              <a:ext cx="101600" cy="531749"/>
            </a:xfrm>
            <a:prstGeom prst="rect">
              <a:avLst/>
            </a:prstGeom>
            <a:solidFill>
              <a:srgbClr val="E26C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35003" y="338431"/>
              <a:ext cx="7246978" cy="531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总体结构</a:t>
              </a:r>
            </a:p>
          </p:txBody>
        </p:sp>
      </p:grpSp>
      <p:sp>
        <p:nvSpPr>
          <p:cNvPr id="3" name="圆角矩形 2">
            <a:extLst>
              <a:ext uri="{FF2B5EF4-FFF2-40B4-BE49-F238E27FC236}">
                <a16:creationId xmlns:a16="http://schemas.microsoft.com/office/drawing/2014/main" id="{99ECF940-8BC5-4751-AF4B-8DAFBE8F5AF7}"/>
              </a:ext>
            </a:extLst>
          </p:cNvPr>
          <p:cNvSpPr/>
          <p:nvPr/>
        </p:nvSpPr>
        <p:spPr>
          <a:xfrm>
            <a:off x="5004590" y="3767493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3EA9F66-67FC-DBC1-7D49-6616FE1BE0EC}"/>
              </a:ext>
            </a:extLst>
          </p:cNvPr>
          <p:cNvSpPr/>
          <p:nvPr/>
        </p:nvSpPr>
        <p:spPr>
          <a:xfrm>
            <a:off x="5724501" y="3767492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C354B200-BF8E-69D4-C577-2D02AB78A696}"/>
              </a:ext>
            </a:extLst>
          </p:cNvPr>
          <p:cNvSpPr/>
          <p:nvPr/>
        </p:nvSpPr>
        <p:spPr>
          <a:xfrm>
            <a:off x="5004590" y="4476590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09D84099-8469-2966-C78A-14C0B4E1C6AD}"/>
              </a:ext>
            </a:extLst>
          </p:cNvPr>
          <p:cNvSpPr/>
          <p:nvPr/>
        </p:nvSpPr>
        <p:spPr>
          <a:xfrm>
            <a:off x="5724501" y="4476590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48D9D083-2E84-7DA4-A71C-4C50190AECA5}"/>
              </a:ext>
            </a:extLst>
          </p:cNvPr>
          <p:cNvSpPr/>
          <p:nvPr/>
        </p:nvSpPr>
        <p:spPr>
          <a:xfrm>
            <a:off x="6436412" y="3767493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46629554-CDB4-56DC-512A-F274B46DEE6A}"/>
              </a:ext>
            </a:extLst>
          </p:cNvPr>
          <p:cNvSpPr/>
          <p:nvPr/>
        </p:nvSpPr>
        <p:spPr>
          <a:xfrm>
            <a:off x="7156323" y="3767492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1101AA0-2EE5-2050-3577-00084C4B077C}"/>
              </a:ext>
            </a:extLst>
          </p:cNvPr>
          <p:cNvSpPr/>
          <p:nvPr/>
        </p:nvSpPr>
        <p:spPr>
          <a:xfrm>
            <a:off x="6436412" y="4476590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EF5C70BA-6CCC-0C94-51F9-569F7ACA9154}"/>
              </a:ext>
            </a:extLst>
          </p:cNvPr>
          <p:cNvSpPr/>
          <p:nvPr/>
        </p:nvSpPr>
        <p:spPr>
          <a:xfrm>
            <a:off x="7156323" y="4476590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C5D2FD2C-8B4B-F054-5E38-8201427B5039}"/>
              </a:ext>
            </a:extLst>
          </p:cNvPr>
          <p:cNvSpPr/>
          <p:nvPr/>
        </p:nvSpPr>
        <p:spPr>
          <a:xfrm>
            <a:off x="7868234" y="3767493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A6A360A3-9A4F-8F21-3E28-4D95F708EE03}"/>
              </a:ext>
            </a:extLst>
          </p:cNvPr>
          <p:cNvSpPr/>
          <p:nvPr/>
        </p:nvSpPr>
        <p:spPr>
          <a:xfrm>
            <a:off x="8588145" y="3767492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7630A190-EE8A-6DD2-1E86-2763E6556DA1}"/>
              </a:ext>
            </a:extLst>
          </p:cNvPr>
          <p:cNvSpPr/>
          <p:nvPr/>
        </p:nvSpPr>
        <p:spPr>
          <a:xfrm>
            <a:off x="7868234" y="4476590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1D5C729D-AE8E-5978-7A8F-C2A01FD54744}"/>
              </a:ext>
            </a:extLst>
          </p:cNvPr>
          <p:cNvSpPr/>
          <p:nvPr/>
        </p:nvSpPr>
        <p:spPr>
          <a:xfrm>
            <a:off x="8588145" y="4476590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181F398-A3D6-5EBB-37E0-4CE86B32D7E0}"/>
              </a:ext>
            </a:extLst>
          </p:cNvPr>
          <p:cNvSpPr/>
          <p:nvPr/>
        </p:nvSpPr>
        <p:spPr>
          <a:xfrm>
            <a:off x="9307096" y="3766725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566E13BD-6333-DE0D-D3EF-BB08CFCB2F47}"/>
              </a:ext>
            </a:extLst>
          </p:cNvPr>
          <p:cNvSpPr/>
          <p:nvPr/>
        </p:nvSpPr>
        <p:spPr>
          <a:xfrm>
            <a:off x="10027007" y="3766724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BA6588AD-9CA1-7CDC-9391-98571D61ACA8}"/>
              </a:ext>
            </a:extLst>
          </p:cNvPr>
          <p:cNvSpPr/>
          <p:nvPr/>
        </p:nvSpPr>
        <p:spPr>
          <a:xfrm>
            <a:off x="9307096" y="4475822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E49680C3-7EA3-EC9F-E221-235A07D9C115}"/>
              </a:ext>
            </a:extLst>
          </p:cNvPr>
          <p:cNvSpPr/>
          <p:nvPr/>
        </p:nvSpPr>
        <p:spPr>
          <a:xfrm>
            <a:off x="10027007" y="4475822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01CC665D-A6D3-7314-1146-63F91DDBB691}"/>
              </a:ext>
            </a:extLst>
          </p:cNvPr>
          <p:cNvSpPr/>
          <p:nvPr/>
        </p:nvSpPr>
        <p:spPr>
          <a:xfrm>
            <a:off x="5010606" y="5172120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416C8399-6712-560C-F8C7-14E4DF119E0D}"/>
              </a:ext>
            </a:extLst>
          </p:cNvPr>
          <p:cNvSpPr/>
          <p:nvPr/>
        </p:nvSpPr>
        <p:spPr>
          <a:xfrm>
            <a:off x="5730517" y="5172119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8FF5443D-0CD7-DCA2-2065-C052A68F95B4}"/>
              </a:ext>
            </a:extLst>
          </p:cNvPr>
          <p:cNvSpPr/>
          <p:nvPr/>
        </p:nvSpPr>
        <p:spPr>
          <a:xfrm>
            <a:off x="5010606" y="5881217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65467B43-A141-8A6D-CDC8-4B3E79B4C2BC}"/>
              </a:ext>
            </a:extLst>
          </p:cNvPr>
          <p:cNvSpPr/>
          <p:nvPr/>
        </p:nvSpPr>
        <p:spPr>
          <a:xfrm>
            <a:off x="5730517" y="5881217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B60041BC-4BC7-A6CC-4B54-7FFBAFF7533B}"/>
              </a:ext>
            </a:extLst>
          </p:cNvPr>
          <p:cNvSpPr/>
          <p:nvPr/>
        </p:nvSpPr>
        <p:spPr>
          <a:xfrm>
            <a:off x="6442428" y="5172120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48AC0A95-C825-95B1-F390-1E7AFD4219D7}"/>
              </a:ext>
            </a:extLst>
          </p:cNvPr>
          <p:cNvSpPr/>
          <p:nvPr/>
        </p:nvSpPr>
        <p:spPr>
          <a:xfrm>
            <a:off x="7162339" y="5172119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51B08955-2352-52A0-C705-7B5521F2197F}"/>
              </a:ext>
            </a:extLst>
          </p:cNvPr>
          <p:cNvSpPr/>
          <p:nvPr/>
        </p:nvSpPr>
        <p:spPr>
          <a:xfrm>
            <a:off x="6442428" y="5881217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018C24A5-257C-7AFE-1714-313F4763512E}"/>
              </a:ext>
            </a:extLst>
          </p:cNvPr>
          <p:cNvSpPr/>
          <p:nvPr/>
        </p:nvSpPr>
        <p:spPr>
          <a:xfrm>
            <a:off x="7162339" y="5881217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C2C55193-9F64-DD6D-C481-412BD5823120}"/>
              </a:ext>
            </a:extLst>
          </p:cNvPr>
          <p:cNvSpPr/>
          <p:nvPr/>
        </p:nvSpPr>
        <p:spPr>
          <a:xfrm>
            <a:off x="7874250" y="5172120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9BBAF76B-DAD2-EF31-D524-17B4D3498538}"/>
              </a:ext>
            </a:extLst>
          </p:cNvPr>
          <p:cNvSpPr/>
          <p:nvPr/>
        </p:nvSpPr>
        <p:spPr>
          <a:xfrm>
            <a:off x="8594161" y="5172119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6042CFE3-80E6-DC4F-4F47-75DE29AC9BDE}"/>
              </a:ext>
            </a:extLst>
          </p:cNvPr>
          <p:cNvSpPr/>
          <p:nvPr/>
        </p:nvSpPr>
        <p:spPr>
          <a:xfrm>
            <a:off x="7874250" y="5881217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D5684D05-7197-688C-D6E7-4066E91CFD51}"/>
              </a:ext>
            </a:extLst>
          </p:cNvPr>
          <p:cNvSpPr/>
          <p:nvPr/>
        </p:nvSpPr>
        <p:spPr>
          <a:xfrm>
            <a:off x="8594161" y="5881217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89CCEF49-EBB5-9AEF-C3DE-CCB21E07A702}"/>
              </a:ext>
            </a:extLst>
          </p:cNvPr>
          <p:cNvSpPr/>
          <p:nvPr/>
        </p:nvSpPr>
        <p:spPr>
          <a:xfrm>
            <a:off x="9313112" y="5171352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819127BD-CD12-5C6B-AB70-8778742B90A1}"/>
              </a:ext>
            </a:extLst>
          </p:cNvPr>
          <p:cNvSpPr/>
          <p:nvPr/>
        </p:nvSpPr>
        <p:spPr>
          <a:xfrm>
            <a:off x="10033023" y="5171351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B918335E-8A3A-BD38-6B08-C77A16ED1281}"/>
              </a:ext>
            </a:extLst>
          </p:cNvPr>
          <p:cNvSpPr/>
          <p:nvPr/>
        </p:nvSpPr>
        <p:spPr>
          <a:xfrm>
            <a:off x="9313112" y="5880449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C7295D1E-0592-1419-D0B3-FC8675E6A7F7}"/>
              </a:ext>
            </a:extLst>
          </p:cNvPr>
          <p:cNvSpPr/>
          <p:nvPr/>
        </p:nvSpPr>
        <p:spPr>
          <a:xfrm>
            <a:off x="10033023" y="5880449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E0C23EB-6F46-1DED-B22C-79FB59E90501}"/>
              </a:ext>
            </a:extLst>
          </p:cNvPr>
          <p:cNvCxnSpPr>
            <a:cxnSpLocks/>
          </p:cNvCxnSpPr>
          <p:nvPr/>
        </p:nvCxnSpPr>
        <p:spPr>
          <a:xfrm>
            <a:off x="5004590" y="4296884"/>
            <a:ext cx="569695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7A314511-0753-2B66-4DE2-7BFFBCB74CFA}"/>
              </a:ext>
            </a:extLst>
          </p:cNvPr>
          <p:cNvCxnSpPr>
            <a:cxnSpLocks/>
          </p:cNvCxnSpPr>
          <p:nvPr/>
        </p:nvCxnSpPr>
        <p:spPr>
          <a:xfrm>
            <a:off x="5019757" y="5035072"/>
            <a:ext cx="569695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连接符 59">
            <a:extLst>
              <a:ext uri="{FF2B5EF4-FFF2-40B4-BE49-F238E27FC236}">
                <a16:creationId xmlns:a16="http://schemas.microsoft.com/office/drawing/2014/main" id="{9DDDED2A-CDF3-0776-AB6E-3BDA3BC83648}"/>
              </a:ext>
            </a:extLst>
          </p:cNvPr>
          <p:cNvCxnSpPr>
            <a:cxnSpLocks/>
          </p:cNvCxnSpPr>
          <p:nvPr/>
        </p:nvCxnSpPr>
        <p:spPr>
          <a:xfrm>
            <a:off x="5019757" y="5735159"/>
            <a:ext cx="569695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5B99EC36-D917-9590-9C6E-4427926CE447}"/>
              </a:ext>
            </a:extLst>
          </p:cNvPr>
          <p:cNvCxnSpPr>
            <a:cxnSpLocks/>
          </p:cNvCxnSpPr>
          <p:nvPr/>
        </p:nvCxnSpPr>
        <p:spPr>
          <a:xfrm>
            <a:off x="5019757" y="6463821"/>
            <a:ext cx="569695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FBA8D0B0-59E4-7EAD-CA01-4A5C1B401D59}"/>
              </a:ext>
            </a:extLst>
          </p:cNvPr>
          <p:cNvCxnSpPr>
            <a:cxnSpLocks/>
          </p:cNvCxnSpPr>
          <p:nvPr/>
        </p:nvCxnSpPr>
        <p:spPr>
          <a:xfrm flipH="1">
            <a:off x="5499389" y="3512019"/>
            <a:ext cx="19627" cy="2951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A835EA82-9E06-9904-E684-1EB47F9841BE}"/>
              </a:ext>
            </a:extLst>
          </p:cNvPr>
          <p:cNvCxnSpPr>
            <a:cxnSpLocks/>
          </p:cNvCxnSpPr>
          <p:nvPr/>
        </p:nvCxnSpPr>
        <p:spPr>
          <a:xfrm>
            <a:off x="6273179" y="3512019"/>
            <a:ext cx="7260" cy="29234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B32FF9FA-490C-CF19-1CCD-F348936CD44B}"/>
              </a:ext>
            </a:extLst>
          </p:cNvPr>
          <p:cNvCxnSpPr>
            <a:cxnSpLocks/>
          </p:cNvCxnSpPr>
          <p:nvPr/>
        </p:nvCxnSpPr>
        <p:spPr>
          <a:xfrm>
            <a:off x="7009101" y="3512019"/>
            <a:ext cx="0" cy="2951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4056127-2145-4D53-D22D-4E797AA36A53}"/>
              </a:ext>
            </a:extLst>
          </p:cNvPr>
          <p:cNvCxnSpPr>
            <a:cxnSpLocks/>
          </p:cNvCxnSpPr>
          <p:nvPr/>
        </p:nvCxnSpPr>
        <p:spPr>
          <a:xfrm>
            <a:off x="7709189" y="3512019"/>
            <a:ext cx="0" cy="2951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9DC006CA-094E-B1DB-0F62-B03DA7C5EEFA}"/>
              </a:ext>
            </a:extLst>
          </p:cNvPr>
          <p:cNvCxnSpPr>
            <a:cxnSpLocks/>
          </p:cNvCxnSpPr>
          <p:nvPr/>
        </p:nvCxnSpPr>
        <p:spPr>
          <a:xfrm>
            <a:off x="8437850" y="3498517"/>
            <a:ext cx="1" cy="2936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B244B39D-8220-DA1C-2D47-7F3455F16D1C}"/>
              </a:ext>
            </a:extLst>
          </p:cNvPr>
          <p:cNvCxnSpPr>
            <a:cxnSpLocks/>
          </p:cNvCxnSpPr>
          <p:nvPr/>
        </p:nvCxnSpPr>
        <p:spPr>
          <a:xfrm>
            <a:off x="9144451" y="3512019"/>
            <a:ext cx="7775" cy="2961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连接符 69">
            <a:extLst>
              <a:ext uri="{FF2B5EF4-FFF2-40B4-BE49-F238E27FC236}">
                <a16:creationId xmlns:a16="http://schemas.microsoft.com/office/drawing/2014/main" id="{95328AC2-4479-54EE-492C-6E19B6B9CFAC}"/>
              </a:ext>
            </a:extLst>
          </p:cNvPr>
          <p:cNvCxnSpPr>
            <a:cxnSpLocks/>
          </p:cNvCxnSpPr>
          <p:nvPr/>
        </p:nvCxnSpPr>
        <p:spPr>
          <a:xfrm>
            <a:off x="9880888" y="3488589"/>
            <a:ext cx="1" cy="2984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EFFB549A-7FE3-8CA1-433C-D7004168D641}"/>
              </a:ext>
            </a:extLst>
          </p:cNvPr>
          <p:cNvCxnSpPr/>
          <p:nvPr/>
        </p:nvCxnSpPr>
        <p:spPr>
          <a:xfrm>
            <a:off x="5353506" y="4139703"/>
            <a:ext cx="145883" cy="157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1C45ADC4-85FC-18DB-B4FD-73D019358F65}"/>
              </a:ext>
            </a:extLst>
          </p:cNvPr>
          <p:cNvCxnSpPr>
            <a:cxnSpLocks/>
          </p:cNvCxnSpPr>
          <p:nvPr/>
        </p:nvCxnSpPr>
        <p:spPr>
          <a:xfrm>
            <a:off x="6073417" y="4145593"/>
            <a:ext cx="207021" cy="160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菱形 79">
            <a:extLst>
              <a:ext uri="{FF2B5EF4-FFF2-40B4-BE49-F238E27FC236}">
                <a16:creationId xmlns:a16="http://schemas.microsoft.com/office/drawing/2014/main" id="{AE9F34DE-BF13-A0ED-493B-425E8227B750}"/>
              </a:ext>
            </a:extLst>
          </p:cNvPr>
          <p:cNvSpPr/>
          <p:nvPr/>
        </p:nvSpPr>
        <p:spPr>
          <a:xfrm>
            <a:off x="5433027" y="4200219"/>
            <a:ext cx="145883" cy="17893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菱形 80">
            <a:extLst>
              <a:ext uri="{FF2B5EF4-FFF2-40B4-BE49-F238E27FC236}">
                <a16:creationId xmlns:a16="http://schemas.microsoft.com/office/drawing/2014/main" id="{DC69B30D-64FC-A21F-7CF6-7EC03F88B2F0}"/>
              </a:ext>
            </a:extLst>
          </p:cNvPr>
          <p:cNvSpPr/>
          <p:nvPr/>
        </p:nvSpPr>
        <p:spPr>
          <a:xfrm>
            <a:off x="6200241" y="4194779"/>
            <a:ext cx="145883" cy="17893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菱形 81">
            <a:extLst>
              <a:ext uri="{FF2B5EF4-FFF2-40B4-BE49-F238E27FC236}">
                <a16:creationId xmlns:a16="http://schemas.microsoft.com/office/drawing/2014/main" id="{39ACF369-31C2-9862-7158-490C952390F4}"/>
              </a:ext>
            </a:extLst>
          </p:cNvPr>
          <p:cNvSpPr/>
          <p:nvPr/>
        </p:nvSpPr>
        <p:spPr>
          <a:xfrm>
            <a:off x="6934717" y="4203478"/>
            <a:ext cx="145883" cy="17893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菱形 84">
            <a:extLst>
              <a:ext uri="{FF2B5EF4-FFF2-40B4-BE49-F238E27FC236}">
                <a16:creationId xmlns:a16="http://schemas.microsoft.com/office/drawing/2014/main" id="{CF5AB80A-35A2-5BF4-3BFA-5B11B8FD9519}"/>
              </a:ext>
            </a:extLst>
          </p:cNvPr>
          <p:cNvSpPr/>
          <p:nvPr/>
        </p:nvSpPr>
        <p:spPr>
          <a:xfrm>
            <a:off x="5426900" y="4945353"/>
            <a:ext cx="145883" cy="17893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5D465E2B-D156-74F1-C5E6-D537CE35A658}"/>
              </a:ext>
            </a:extLst>
          </p:cNvPr>
          <p:cNvCxnSpPr>
            <a:cxnSpLocks/>
          </p:cNvCxnSpPr>
          <p:nvPr/>
        </p:nvCxnSpPr>
        <p:spPr>
          <a:xfrm>
            <a:off x="6780274" y="4116701"/>
            <a:ext cx="207021" cy="160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F5CA350A-0B68-A453-466E-5A6939887ED2}"/>
              </a:ext>
            </a:extLst>
          </p:cNvPr>
          <p:cNvCxnSpPr>
            <a:cxnSpLocks/>
          </p:cNvCxnSpPr>
          <p:nvPr/>
        </p:nvCxnSpPr>
        <p:spPr>
          <a:xfrm>
            <a:off x="5311995" y="4855808"/>
            <a:ext cx="207021" cy="160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A36D12CF-090B-DD2A-9FC5-6DF1BC644D4F}"/>
              </a:ext>
            </a:extLst>
          </p:cNvPr>
          <p:cNvSpPr/>
          <p:nvPr/>
        </p:nvSpPr>
        <p:spPr>
          <a:xfrm>
            <a:off x="5004590" y="3208570"/>
            <a:ext cx="523374" cy="29131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FB0CACF-157A-22C8-40A1-F58AD99BB6D8}"/>
              </a:ext>
            </a:extLst>
          </p:cNvPr>
          <p:cNvSpPr/>
          <p:nvPr/>
        </p:nvSpPr>
        <p:spPr>
          <a:xfrm>
            <a:off x="5724500" y="3207219"/>
            <a:ext cx="548679" cy="2872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66EE64C-9261-501C-150B-0E2BF09686CC}"/>
              </a:ext>
            </a:extLst>
          </p:cNvPr>
          <p:cNvSpPr/>
          <p:nvPr/>
        </p:nvSpPr>
        <p:spPr>
          <a:xfrm>
            <a:off x="6431105" y="3227146"/>
            <a:ext cx="574623" cy="27599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12EC76EE-B232-3BDE-009A-2AA6DDCD5840}"/>
              </a:ext>
            </a:extLst>
          </p:cNvPr>
          <p:cNvSpPr/>
          <p:nvPr/>
        </p:nvSpPr>
        <p:spPr>
          <a:xfrm>
            <a:off x="7143181" y="3244776"/>
            <a:ext cx="566008" cy="26872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EA1BD04C-6508-8288-AF66-EB6BE9EB56EC}"/>
              </a:ext>
            </a:extLst>
          </p:cNvPr>
          <p:cNvSpPr/>
          <p:nvPr/>
        </p:nvSpPr>
        <p:spPr>
          <a:xfrm>
            <a:off x="7863091" y="3207349"/>
            <a:ext cx="574759" cy="2812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6C596B3-773D-700A-B6DF-CFA075CB60A6}"/>
              </a:ext>
            </a:extLst>
          </p:cNvPr>
          <p:cNvSpPr/>
          <p:nvPr/>
        </p:nvSpPr>
        <p:spPr>
          <a:xfrm>
            <a:off x="8569696" y="3207892"/>
            <a:ext cx="574755" cy="2919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7279F82-58D0-2532-96FC-2F726502F1CF}"/>
              </a:ext>
            </a:extLst>
          </p:cNvPr>
          <p:cNvSpPr/>
          <p:nvPr/>
        </p:nvSpPr>
        <p:spPr>
          <a:xfrm>
            <a:off x="9289607" y="3208570"/>
            <a:ext cx="591281" cy="29130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36B87506-E5F8-000B-D8AD-2B1AD597C787}"/>
              </a:ext>
            </a:extLst>
          </p:cNvPr>
          <p:cNvSpPr/>
          <p:nvPr/>
        </p:nvSpPr>
        <p:spPr>
          <a:xfrm>
            <a:off x="10009519" y="3207219"/>
            <a:ext cx="591280" cy="2912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8" name="菱形 97">
            <a:extLst>
              <a:ext uri="{FF2B5EF4-FFF2-40B4-BE49-F238E27FC236}">
                <a16:creationId xmlns:a16="http://schemas.microsoft.com/office/drawing/2014/main" id="{A22C375A-EBC4-41EC-FB7B-715F4FBEF8FC}"/>
              </a:ext>
            </a:extLst>
          </p:cNvPr>
          <p:cNvSpPr/>
          <p:nvPr/>
        </p:nvSpPr>
        <p:spPr>
          <a:xfrm>
            <a:off x="6152088" y="2461262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9" name="菱形 98">
            <a:extLst>
              <a:ext uri="{FF2B5EF4-FFF2-40B4-BE49-F238E27FC236}">
                <a16:creationId xmlns:a16="http://schemas.microsoft.com/office/drawing/2014/main" id="{FC626C8B-1CC8-E012-65F5-05675E326B8D}"/>
              </a:ext>
            </a:extLst>
          </p:cNvPr>
          <p:cNvSpPr/>
          <p:nvPr/>
        </p:nvSpPr>
        <p:spPr>
          <a:xfrm>
            <a:off x="9031132" y="2461262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0" name="菱形 99">
            <a:extLst>
              <a:ext uri="{FF2B5EF4-FFF2-40B4-BE49-F238E27FC236}">
                <a16:creationId xmlns:a16="http://schemas.microsoft.com/office/drawing/2014/main" id="{9C4DBDF3-3655-8AA3-CAED-2DBA48B747CA}"/>
              </a:ext>
            </a:extLst>
          </p:cNvPr>
          <p:cNvSpPr/>
          <p:nvPr/>
        </p:nvSpPr>
        <p:spPr>
          <a:xfrm>
            <a:off x="5507537" y="1822964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菱形 100">
            <a:extLst>
              <a:ext uri="{FF2B5EF4-FFF2-40B4-BE49-F238E27FC236}">
                <a16:creationId xmlns:a16="http://schemas.microsoft.com/office/drawing/2014/main" id="{AD9A2374-8CD0-B475-5B5C-9BC7C95A0A21}"/>
              </a:ext>
            </a:extLst>
          </p:cNvPr>
          <p:cNvSpPr/>
          <p:nvPr/>
        </p:nvSpPr>
        <p:spPr>
          <a:xfrm>
            <a:off x="7209687" y="1822964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菱形 101">
            <a:extLst>
              <a:ext uri="{FF2B5EF4-FFF2-40B4-BE49-F238E27FC236}">
                <a16:creationId xmlns:a16="http://schemas.microsoft.com/office/drawing/2014/main" id="{901ED86B-BA05-E82B-B99C-5B8A56BD5795}"/>
              </a:ext>
            </a:extLst>
          </p:cNvPr>
          <p:cNvSpPr/>
          <p:nvPr/>
        </p:nvSpPr>
        <p:spPr>
          <a:xfrm>
            <a:off x="7916456" y="1822964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3" name="菱形 102">
            <a:extLst>
              <a:ext uri="{FF2B5EF4-FFF2-40B4-BE49-F238E27FC236}">
                <a16:creationId xmlns:a16="http://schemas.microsoft.com/office/drawing/2014/main" id="{A248C1A7-582F-F22C-FBDF-AE9E74BD001F}"/>
              </a:ext>
            </a:extLst>
          </p:cNvPr>
          <p:cNvSpPr/>
          <p:nvPr/>
        </p:nvSpPr>
        <p:spPr>
          <a:xfrm>
            <a:off x="9629236" y="1822964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2E81F6E1-7554-1BE7-5172-1FBCB54F905D}"/>
              </a:ext>
            </a:extLst>
          </p:cNvPr>
          <p:cNvCxnSpPr>
            <a:cxnSpLocks/>
            <a:stCxn id="88" idx="0"/>
            <a:endCxn id="98" idx="2"/>
          </p:cNvCxnSpPr>
          <p:nvPr/>
        </p:nvCxnSpPr>
        <p:spPr>
          <a:xfrm flipV="1">
            <a:off x="5266277" y="2766062"/>
            <a:ext cx="1006905" cy="442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7C82B7CC-38EF-17E3-A461-A9C8AAA60165}"/>
              </a:ext>
            </a:extLst>
          </p:cNvPr>
          <p:cNvCxnSpPr>
            <a:cxnSpLocks/>
            <a:stCxn id="89" idx="0"/>
            <a:endCxn id="98" idx="2"/>
          </p:cNvCxnSpPr>
          <p:nvPr/>
        </p:nvCxnSpPr>
        <p:spPr>
          <a:xfrm flipV="1">
            <a:off x="5998840" y="2766062"/>
            <a:ext cx="274342" cy="441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5130BDAB-3055-BCDD-9E43-805A5CCB79C3}"/>
              </a:ext>
            </a:extLst>
          </p:cNvPr>
          <p:cNvCxnSpPr>
            <a:cxnSpLocks/>
            <a:stCxn id="90" idx="0"/>
            <a:endCxn id="98" idx="2"/>
          </p:cNvCxnSpPr>
          <p:nvPr/>
        </p:nvCxnSpPr>
        <p:spPr>
          <a:xfrm flipH="1" flipV="1">
            <a:off x="6273182" y="2766062"/>
            <a:ext cx="445235" cy="461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3EFB4151-8461-0556-7AF1-E5CD9D65CD7D}"/>
              </a:ext>
            </a:extLst>
          </p:cNvPr>
          <p:cNvCxnSpPr>
            <a:cxnSpLocks/>
            <a:stCxn id="91" idx="0"/>
          </p:cNvCxnSpPr>
          <p:nvPr/>
        </p:nvCxnSpPr>
        <p:spPr>
          <a:xfrm flipH="1" flipV="1">
            <a:off x="6273181" y="2766062"/>
            <a:ext cx="1153004" cy="478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289187C8-0E73-ADA1-FF8A-01EC4763D612}"/>
              </a:ext>
            </a:extLst>
          </p:cNvPr>
          <p:cNvCxnSpPr>
            <a:cxnSpLocks/>
            <a:stCxn id="92" idx="0"/>
            <a:endCxn id="99" idx="2"/>
          </p:cNvCxnSpPr>
          <p:nvPr/>
        </p:nvCxnSpPr>
        <p:spPr>
          <a:xfrm flipV="1">
            <a:off x="8150471" y="2766062"/>
            <a:ext cx="1001755" cy="441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496C6FC1-2848-1F6F-A5B3-DB8E5014F733}"/>
              </a:ext>
            </a:extLst>
          </p:cNvPr>
          <p:cNvCxnSpPr>
            <a:cxnSpLocks/>
            <a:stCxn id="93" idx="0"/>
            <a:endCxn id="99" idx="2"/>
          </p:cNvCxnSpPr>
          <p:nvPr/>
        </p:nvCxnSpPr>
        <p:spPr>
          <a:xfrm flipV="1">
            <a:off x="8857074" y="2766062"/>
            <a:ext cx="295152" cy="441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39D06C5C-AD55-66AB-0472-95229D836BA7}"/>
              </a:ext>
            </a:extLst>
          </p:cNvPr>
          <p:cNvCxnSpPr>
            <a:cxnSpLocks/>
            <a:stCxn id="94" idx="0"/>
          </p:cNvCxnSpPr>
          <p:nvPr/>
        </p:nvCxnSpPr>
        <p:spPr>
          <a:xfrm flipH="1" flipV="1">
            <a:off x="9152225" y="2766062"/>
            <a:ext cx="433023" cy="442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52907748-4726-6231-62F4-88E72A57FE0D}"/>
              </a:ext>
            </a:extLst>
          </p:cNvPr>
          <p:cNvCxnSpPr>
            <a:cxnSpLocks/>
            <a:stCxn id="95" idx="0"/>
            <a:endCxn id="99" idx="2"/>
          </p:cNvCxnSpPr>
          <p:nvPr/>
        </p:nvCxnSpPr>
        <p:spPr>
          <a:xfrm flipH="1" flipV="1">
            <a:off x="9152226" y="2766062"/>
            <a:ext cx="1152933" cy="441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连接符 125">
            <a:extLst>
              <a:ext uri="{FF2B5EF4-FFF2-40B4-BE49-F238E27FC236}">
                <a16:creationId xmlns:a16="http://schemas.microsoft.com/office/drawing/2014/main" id="{70335A48-60CE-630A-D93D-4A4596F242C3}"/>
              </a:ext>
            </a:extLst>
          </p:cNvPr>
          <p:cNvCxnSpPr>
            <a:cxnSpLocks/>
            <a:stCxn id="98" idx="0"/>
            <a:endCxn id="100" idx="2"/>
          </p:cNvCxnSpPr>
          <p:nvPr/>
        </p:nvCxnSpPr>
        <p:spPr>
          <a:xfrm flipH="1" flipV="1">
            <a:off x="5628631" y="2127764"/>
            <a:ext cx="644551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线连接符 127">
            <a:extLst>
              <a:ext uri="{FF2B5EF4-FFF2-40B4-BE49-F238E27FC236}">
                <a16:creationId xmlns:a16="http://schemas.microsoft.com/office/drawing/2014/main" id="{F22F17E5-CB8A-A84F-2AEF-EB47CB581879}"/>
              </a:ext>
            </a:extLst>
          </p:cNvPr>
          <p:cNvCxnSpPr>
            <a:stCxn id="98" idx="0"/>
            <a:endCxn id="102" idx="2"/>
          </p:cNvCxnSpPr>
          <p:nvPr/>
        </p:nvCxnSpPr>
        <p:spPr>
          <a:xfrm flipV="1">
            <a:off x="6273182" y="2127764"/>
            <a:ext cx="1764368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连接符 129">
            <a:extLst>
              <a:ext uri="{FF2B5EF4-FFF2-40B4-BE49-F238E27FC236}">
                <a16:creationId xmlns:a16="http://schemas.microsoft.com/office/drawing/2014/main" id="{DA81284B-2CB4-DA8F-16D3-F21FE1CE5F30}"/>
              </a:ext>
            </a:extLst>
          </p:cNvPr>
          <p:cNvCxnSpPr>
            <a:stCxn id="98" idx="0"/>
            <a:endCxn id="103" idx="2"/>
          </p:cNvCxnSpPr>
          <p:nvPr/>
        </p:nvCxnSpPr>
        <p:spPr>
          <a:xfrm flipV="1">
            <a:off x="6273182" y="2127764"/>
            <a:ext cx="3477148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线连接符 137">
            <a:extLst>
              <a:ext uri="{FF2B5EF4-FFF2-40B4-BE49-F238E27FC236}">
                <a16:creationId xmlns:a16="http://schemas.microsoft.com/office/drawing/2014/main" id="{0F3DFEFC-6621-D332-3AE9-E2DDA8DD4147}"/>
              </a:ext>
            </a:extLst>
          </p:cNvPr>
          <p:cNvCxnSpPr>
            <a:stCxn id="98" idx="0"/>
            <a:endCxn id="101" idx="2"/>
          </p:cNvCxnSpPr>
          <p:nvPr/>
        </p:nvCxnSpPr>
        <p:spPr>
          <a:xfrm flipV="1">
            <a:off x="6273182" y="2127764"/>
            <a:ext cx="1057599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99A24A40-3DF7-3F82-E848-CAD5ADA67BF2}"/>
              </a:ext>
            </a:extLst>
          </p:cNvPr>
          <p:cNvCxnSpPr>
            <a:stCxn id="99" idx="0"/>
            <a:endCxn id="100" idx="2"/>
          </p:cNvCxnSpPr>
          <p:nvPr/>
        </p:nvCxnSpPr>
        <p:spPr>
          <a:xfrm flipH="1" flipV="1">
            <a:off x="5628631" y="2127764"/>
            <a:ext cx="3523595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80567C7-8341-2F75-91AF-672466123DC0}"/>
              </a:ext>
            </a:extLst>
          </p:cNvPr>
          <p:cNvCxnSpPr>
            <a:stCxn id="99" idx="0"/>
            <a:endCxn id="103" idx="2"/>
          </p:cNvCxnSpPr>
          <p:nvPr/>
        </p:nvCxnSpPr>
        <p:spPr>
          <a:xfrm flipV="1">
            <a:off x="9152226" y="2127764"/>
            <a:ext cx="598104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AE77511-7918-3213-BA72-16E34E6F1C72}"/>
              </a:ext>
            </a:extLst>
          </p:cNvPr>
          <p:cNvCxnSpPr>
            <a:stCxn id="99" idx="0"/>
          </p:cNvCxnSpPr>
          <p:nvPr/>
        </p:nvCxnSpPr>
        <p:spPr>
          <a:xfrm flipH="1" flipV="1">
            <a:off x="8037549" y="2127764"/>
            <a:ext cx="1114677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829C3BC3-D40E-F30E-92B0-876DD6FF7282}"/>
              </a:ext>
            </a:extLst>
          </p:cNvPr>
          <p:cNvCxnSpPr>
            <a:stCxn id="99" idx="0"/>
          </p:cNvCxnSpPr>
          <p:nvPr/>
        </p:nvCxnSpPr>
        <p:spPr>
          <a:xfrm flipH="1" flipV="1">
            <a:off x="7317639" y="2127764"/>
            <a:ext cx="1834587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>
            <a:extLst>
              <a:ext uri="{FF2B5EF4-FFF2-40B4-BE49-F238E27FC236}">
                <a16:creationId xmlns:a16="http://schemas.microsoft.com/office/drawing/2014/main" id="{9C697AF7-77E1-F03A-79CF-EFAA6C404B78}"/>
              </a:ext>
            </a:extLst>
          </p:cNvPr>
          <p:cNvSpPr/>
          <p:nvPr/>
        </p:nvSpPr>
        <p:spPr>
          <a:xfrm>
            <a:off x="5724501" y="1064643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EC6270BF-C621-5492-D10D-DF8B883D9299}"/>
              </a:ext>
            </a:extLst>
          </p:cNvPr>
          <p:cNvSpPr/>
          <p:nvPr/>
        </p:nvSpPr>
        <p:spPr>
          <a:xfrm>
            <a:off x="5004590" y="1062901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FCFC6AB4-33B1-A433-07BF-686F5D669F84}"/>
              </a:ext>
            </a:extLst>
          </p:cNvPr>
          <p:cNvSpPr/>
          <p:nvPr/>
        </p:nvSpPr>
        <p:spPr>
          <a:xfrm>
            <a:off x="6444201" y="1080411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977D27E7-BB59-120C-CB9F-D335E7947906}"/>
              </a:ext>
            </a:extLst>
          </p:cNvPr>
          <p:cNvSpPr/>
          <p:nvPr/>
        </p:nvSpPr>
        <p:spPr>
          <a:xfrm>
            <a:off x="7155366" y="1062901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4345DF5C-2FBF-6EDE-B82A-83873B645B89}"/>
              </a:ext>
            </a:extLst>
          </p:cNvPr>
          <p:cNvSpPr/>
          <p:nvPr/>
        </p:nvSpPr>
        <p:spPr>
          <a:xfrm>
            <a:off x="7872069" y="1080411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C68D40CE-A3AD-D967-0035-7333D2120139}"/>
              </a:ext>
            </a:extLst>
          </p:cNvPr>
          <p:cNvSpPr/>
          <p:nvPr/>
        </p:nvSpPr>
        <p:spPr>
          <a:xfrm>
            <a:off x="8567695" y="1068887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68636E31-0D0F-FA50-E62C-D1B16FEA3209}"/>
              </a:ext>
            </a:extLst>
          </p:cNvPr>
          <p:cNvSpPr/>
          <p:nvPr/>
        </p:nvSpPr>
        <p:spPr>
          <a:xfrm>
            <a:off x="9287761" y="1081325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F5299525-457A-961B-AE58-7C616E802594}"/>
              </a:ext>
            </a:extLst>
          </p:cNvPr>
          <p:cNvSpPr/>
          <p:nvPr/>
        </p:nvSpPr>
        <p:spPr>
          <a:xfrm>
            <a:off x="10027007" y="1068887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0" name="直线连接符 159">
            <a:extLst>
              <a:ext uri="{FF2B5EF4-FFF2-40B4-BE49-F238E27FC236}">
                <a16:creationId xmlns:a16="http://schemas.microsoft.com/office/drawing/2014/main" id="{414E3860-C649-59F5-F646-ABDFE6A834B3}"/>
              </a:ext>
            </a:extLst>
          </p:cNvPr>
          <p:cNvCxnSpPr>
            <a:stCxn id="100" idx="0"/>
            <a:endCxn id="152" idx="2"/>
          </p:cNvCxnSpPr>
          <p:nvPr/>
        </p:nvCxnSpPr>
        <p:spPr>
          <a:xfrm flipH="1" flipV="1">
            <a:off x="5179048" y="1421441"/>
            <a:ext cx="449583" cy="401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C2D9F994-129F-FAED-6FD5-C8ADF8E9FAFB}"/>
              </a:ext>
            </a:extLst>
          </p:cNvPr>
          <p:cNvCxnSpPr>
            <a:stCxn id="100" idx="0"/>
            <a:endCxn id="151" idx="2"/>
          </p:cNvCxnSpPr>
          <p:nvPr/>
        </p:nvCxnSpPr>
        <p:spPr>
          <a:xfrm flipV="1">
            <a:off x="5628631" y="1423183"/>
            <a:ext cx="270328" cy="399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E755B231-4155-F634-9FAC-EDC654DE99C0}"/>
              </a:ext>
            </a:extLst>
          </p:cNvPr>
          <p:cNvCxnSpPr>
            <a:stCxn id="101" idx="0"/>
            <a:endCxn id="153" idx="2"/>
          </p:cNvCxnSpPr>
          <p:nvPr/>
        </p:nvCxnSpPr>
        <p:spPr>
          <a:xfrm flipH="1" flipV="1">
            <a:off x="6618659" y="1438951"/>
            <a:ext cx="712122" cy="384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线连接符 165">
            <a:extLst>
              <a:ext uri="{FF2B5EF4-FFF2-40B4-BE49-F238E27FC236}">
                <a16:creationId xmlns:a16="http://schemas.microsoft.com/office/drawing/2014/main" id="{897D99E6-AA7C-51F4-8E31-3EF1FAFCAD69}"/>
              </a:ext>
            </a:extLst>
          </p:cNvPr>
          <p:cNvCxnSpPr>
            <a:stCxn id="101" idx="0"/>
            <a:endCxn id="154" idx="2"/>
          </p:cNvCxnSpPr>
          <p:nvPr/>
        </p:nvCxnSpPr>
        <p:spPr>
          <a:xfrm flipH="1" flipV="1">
            <a:off x="7329824" y="1421441"/>
            <a:ext cx="957" cy="401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77DEB401-B54D-E53A-1DA6-452192157EC8}"/>
              </a:ext>
            </a:extLst>
          </p:cNvPr>
          <p:cNvCxnSpPr>
            <a:cxnSpLocks/>
            <a:stCxn id="102" idx="0"/>
            <a:endCxn id="155" idx="2"/>
          </p:cNvCxnSpPr>
          <p:nvPr/>
        </p:nvCxnSpPr>
        <p:spPr>
          <a:xfrm flipV="1">
            <a:off x="8037550" y="1438951"/>
            <a:ext cx="8977" cy="384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594B872F-40EC-7400-0EA2-02239DC69968}"/>
              </a:ext>
            </a:extLst>
          </p:cNvPr>
          <p:cNvCxnSpPr>
            <a:stCxn id="102" idx="0"/>
            <a:endCxn id="156" idx="2"/>
          </p:cNvCxnSpPr>
          <p:nvPr/>
        </p:nvCxnSpPr>
        <p:spPr>
          <a:xfrm flipV="1">
            <a:off x="8037550" y="1427427"/>
            <a:ext cx="704603" cy="395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线连接符 173">
            <a:extLst>
              <a:ext uri="{FF2B5EF4-FFF2-40B4-BE49-F238E27FC236}">
                <a16:creationId xmlns:a16="http://schemas.microsoft.com/office/drawing/2014/main" id="{29E55522-68CE-D459-D64A-5D9F87CB1CF7}"/>
              </a:ext>
            </a:extLst>
          </p:cNvPr>
          <p:cNvCxnSpPr>
            <a:stCxn id="103" idx="0"/>
            <a:endCxn id="157" idx="2"/>
          </p:cNvCxnSpPr>
          <p:nvPr/>
        </p:nvCxnSpPr>
        <p:spPr>
          <a:xfrm flipH="1" flipV="1">
            <a:off x="9462219" y="1439865"/>
            <a:ext cx="288111" cy="383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7803B770-BDAD-0AC6-794B-0BA99067CBAC}"/>
              </a:ext>
            </a:extLst>
          </p:cNvPr>
          <p:cNvCxnSpPr>
            <a:cxnSpLocks/>
            <a:stCxn id="103" idx="0"/>
            <a:endCxn id="158" idx="2"/>
          </p:cNvCxnSpPr>
          <p:nvPr/>
        </p:nvCxnSpPr>
        <p:spPr>
          <a:xfrm flipV="1">
            <a:off x="9750330" y="1427427"/>
            <a:ext cx="451135" cy="395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文本框 176">
            <a:extLst>
              <a:ext uri="{FF2B5EF4-FFF2-40B4-BE49-F238E27FC236}">
                <a16:creationId xmlns:a16="http://schemas.microsoft.com/office/drawing/2014/main" id="{5D52C6DE-3FDF-2551-7D32-8E5575FB3E00}"/>
              </a:ext>
            </a:extLst>
          </p:cNvPr>
          <p:cNvSpPr txBox="1"/>
          <p:nvPr/>
        </p:nvSpPr>
        <p:spPr>
          <a:xfrm>
            <a:off x="262641" y="926256"/>
            <a:ext cx="389539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图中绿色为从核，橙色为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引擎，黄色为</a:t>
            </a:r>
            <a:r>
              <a:rPr kumimoji="1" lang="en-US" altLang="zh-CN" dirty="0"/>
              <a:t>HBM</a:t>
            </a:r>
            <a:r>
              <a:rPr kumimoji="1" lang="zh-CN" altLang="en-US" dirty="0"/>
              <a:t>单个通道，蓝色菱形为路由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rgbClr val="FF0000"/>
                </a:solidFill>
              </a:rPr>
              <a:t>Mesh</a:t>
            </a:r>
            <a:r>
              <a:rPr kumimoji="1" lang="zh-CN" altLang="en-US" b="1" dirty="0">
                <a:solidFill>
                  <a:srgbClr val="FF0000"/>
                </a:solidFill>
              </a:rPr>
              <a:t>网络</a:t>
            </a:r>
            <a:r>
              <a:rPr kumimoji="1" lang="zh-CN" altLang="en-US" dirty="0"/>
              <a:t>通路带宽为</a:t>
            </a:r>
            <a:r>
              <a:rPr kumimoji="1" lang="en-US" altLang="zh-CN" dirty="0"/>
              <a:t>256bit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8</a:t>
            </a:r>
            <a:r>
              <a:rPr kumimoji="1" lang="zh-CN" altLang="en-US" dirty="0"/>
              <a:t> </a:t>
            </a:r>
            <a:r>
              <a:rPr kumimoji="1" lang="en-US" altLang="zh-CN" dirty="0"/>
              <a:t>x</a:t>
            </a:r>
            <a:r>
              <a:rPr kumimoji="1" lang="zh-CN" altLang="en-US" dirty="0"/>
              <a:t> </a:t>
            </a:r>
            <a:r>
              <a:rPr kumimoji="1" lang="en-US" altLang="zh-CN" dirty="0"/>
              <a:t>2.5Ghz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80GB/s</a:t>
            </a:r>
            <a:r>
              <a:rPr kumimoji="1" lang="zh-CN" altLang="en-US" dirty="0"/>
              <a:t>（其中</a:t>
            </a:r>
            <a:r>
              <a:rPr kumimoji="1" lang="en-US" altLang="zh-CN" dirty="0"/>
              <a:t>2.5Ghz</a:t>
            </a:r>
            <a:r>
              <a:rPr kumimoji="1" lang="zh-CN" altLang="en-US" dirty="0"/>
              <a:t>为可配置的</a:t>
            </a:r>
            <a:r>
              <a:rPr kumimoji="1" lang="en-US" altLang="zh-CN" dirty="0" err="1"/>
              <a:t>spe</a:t>
            </a:r>
            <a:r>
              <a:rPr kumimoji="1" lang="zh-CN" altLang="en-US" dirty="0"/>
              <a:t>频率），实际因为控制包和数据包比例为</a:t>
            </a:r>
            <a:r>
              <a:rPr kumimoji="1" lang="en-US" altLang="zh-CN" dirty="0"/>
              <a:t>1:4</a:t>
            </a:r>
            <a:r>
              <a:rPr kumimoji="1" lang="zh-CN" altLang="en-US" dirty="0"/>
              <a:t>，最高数据传输带宽为</a:t>
            </a:r>
            <a:r>
              <a:rPr kumimoji="1" lang="en-US" altLang="zh-CN" dirty="0"/>
              <a:t>64GB/s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rgbClr val="FF0000"/>
                </a:solidFill>
              </a:rPr>
              <a:t>Mesh</a:t>
            </a:r>
            <a:r>
              <a:rPr kumimoji="1" lang="zh-CN" altLang="en-US" b="1" dirty="0">
                <a:solidFill>
                  <a:srgbClr val="FF0000"/>
                </a:solidFill>
              </a:rPr>
              <a:t>网路由</a:t>
            </a:r>
            <a:r>
              <a:rPr kumimoji="1" lang="zh-CN" altLang="en-US" dirty="0"/>
              <a:t>为</a:t>
            </a:r>
            <a:r>
              <a:rPr kumimoji="1" lang="en-US" altLang="zh-CN" dirty="0">
                <a:highlight>
                  <a:srgbClr val="FCC129"/>
                </a:highlight>
              </a:rPr>
              <a:t>5</a:t>
            </a:r>
            <a:r>
              <a:rPr kumimoji="1" lang="zh-CN" altLang="en-US" dirty="0">
                <a:highlight>
                  <a:srgbClr val="FCC129"/>
                </a:highlight>
              </a:rPr>
              <a:t>端口路由</a:t>
            </a:r>
            <a:r>
              <a:rPr kumimoji="1" lang="zh-CN" altLang="en-US" dirty="0"/>
              <a:t>，</a:t>
            </a:r>
            <a:r>
              <a:rPr kumimoji="1" lang="en-US" altLang="zh-CN" dirty="0"/>
              <a:t>5</a:t>
            </a:r>
            <a:r>
              <a:rPr kumimoji="1" lang="zh-CN" altLang="en-US" dirty="0"/>
              <a:t>个出口带宽都为</a:t>
            </a:r>
            <a:r>
              <a:rPr kumimoji="1" lang="en-US" altLang="zh-CN" dirty="0"/>
              <a:t>64/80</a:t>
            </a:r>
            <a:r>
              <a:rPr kumimoji="1" lang="zh-CN" altLang="en-US" dirty="0"/>
              <a:t> </a:t>
            </a:r>
            <a:r>
              <a:rPr kumimoji="1" lang="en-US" altLang="zh-CN" dirty="0"/>
              <a:t>GB/s</a:t>
            </a:r>
            <a:r>
              <a:rPr kumimoji="1" lang="zh-CN" altLang="en-US" dirty="0"/>
              <a:t>，因此横纵向带宽可能在进出从核口处竞争。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b="1" dirty="0">
                <a:solidFill>
                  <a:srgbClr val="FF0000"/>
                </a:solidFill>
              </a:rPr>
              <a:t>交叉开关</a:t>
            </a:r>
            <a:r>
              <a:rPr kumimoji="1" lang="zh-CN" altLang="en-US" dirty="0"/>
              <a:t>通路带宽为</a:t>
            </a:r>
            <a:r>
              <a:rPr kumimoji="1" lang="en-US" altLang="zh-CN" dirty="0"/>
              <a:t>256bit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8</a:t>
            </a:r>
            <a:r>
              <a:rPr kumimoji="1" lang="zh-CN" altLang="en-US" dirty="0"/>
              <a:t> </a:t>
            </a:r>
            <a:r>
              <a:rPr kumimoji="1" lang="en-US" altLang="zh-CN" dirty="0"/>
              <a:t>x</a:t>
            </a:r>
            <a:r>
              <a:rPr kumimoji="1" lang="zh-CN" altLang="en-US" dirty="0"/>
              <a:t> </a:t>
            </a:r>
            <a:r>
              <a:rPr kumimoji="1" lang="en-US" altLang="zh-CN" dirty="0"/>
              <a:t>2.2Ghz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70GB/s</a:t>
            </a:r>
            <a:r>
              <a:rPr kumimoji="1" lang="zh-CN" altLang="en-US" dirty="0"/>
              <a:t>（其中</a:t>
            </a:r>
            <a:r>
              <a:rPr kumimoji="1" lang="en-US" altLang="zh-CN" dirty="0"/>
              <a:t>2.2Ghz</a:t>
            </a:r>
            <a:r>
              <a:rPr kumimoji="1" lang="zh-CN" altLang="en-US" dirty="0"/>
              <a:t>为可配置的</a:t>
            </a:r>
            <a:r>
              <a:rPr kumimoji="1" lang="en-US" altLang="zh-CN" dirty="0" err="1"/>
              <a:t>glb</a:t>
            </a:r>
            <a:r>
              <a:rPr kumimoji="1" lang="zh-CN" altLang="en-US" dirty="0"/>
              <a:t>频率），实际受限于</a:t>
            </a:r>
            <a:r>
              <a:rPr kumimoji="1" lang="en-US" altLang="zh-CN" dirty="0"/>
              <a:t>HBM</a:t>
            </a:r>
            <a:r>
              <a:rPr kumimoji="1" lang="zh-CN" altLang="en-US" dirty="0"/>
              <a:t>单通道带宽最高</a:t>
            </a:r>
            <a:r>
              <a:rPr kumimoji="1" lang="en-US" altLang="zh-CN" dirty="0"/>
              <a:t>49GB/s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上述带宽均为单向带宽，</a:t>
            </a:r>
            <a:r>
              <a:rPr kumimoji="1" lang="zh-CN" altLang="en-US" dirty="0">
                <a:highlight>
                  <a:srgbClr val="FCC129"/>
                </a:highlight>
              </a:rPr>
              <a:t>通道全双工</a:t>
            </a:r>
            <a:r>
              <a:rPr kumimoji="1" lang="zh-CN" altLang="en-US" dirty="0"/>
              <a:t>，双向带宽乘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6F94F1C5-7678-D6DF-29DA-D0363471BF0C}"/>
              </a:ext>
            </a:extLst>
          </p:cNvPr>
          <p:cNvSpPr txBox="1"/>
          <p:nvPr/>
        </p:nvSpPr>
        <p:spPr>
          <a:xfrm>
            <a:off x="4949851" y="2224813"/>
            <a:ext cx="1338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49/70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GB/s</a:t>
            </a:r>
            <a:endParaRPr kumimoji="1" lang="zh-CN" altLang="en-US" sz="1600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53757734-F5EE-F083-C654-4DF1052014E4}"/>
              </a:ext>
            </a:extLst>
          </p:cNvPr>
          <p:cNvSpPr txBox="1"/>
          <p:nvPr/>
        </p:nvSpPr>
        <p:spPr>
          <a:xfrm>
            <a:off x="4407815" y="4137268"/>
            <a:ext cx="13384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64/80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GB/s</a:t>
            </a:r>
            <a:endParaRPr kumimoji="1" lang="zh-CN" altLang="en-US" sz="1600" dirty="0"/>
          </a:p>
        </p:txBody>
      </p: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DF507DFD-59B2-AF88-BE50-3D7653910ADA}"/>
              </a:ext>
            </a:extLst>
          </p:cNvPr>
          <p:cNvCxnSpPr>
            <a:cxnSpLocks/>
          </p:cNvCxnSpPr>
          <p:nvPr/>
        </p:nvCxnSpPr>
        <p:spPr>
          <a:xfrm>
            <a:off x="10602232" y="3458806"/>
            <a:ext cx="1" cy="2984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FBB3A7D8-A412-68C6-A7DF-2089E16E6370}"/>
              </a:ext>
            </a:extLst>
          </p:cNvPr>
          <p:cNvSpPr txBox="1"/>
          <p:nvPr/>
        </p:nvSpPr>
        <p:spPr>
          <a:xfrm>
            <a:off x="7162339" y="612783"/>
            <a:ext cx="922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410GB/s</a:t>
            </a:r>
            <a:endParaRPr kumimoji="1" lang="zh-CN" altLang="en-US" sz="1600" dirty="0"/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83078F06-4532-417C-FC79-DEF2CF4D1DA0}"/>
              </a:ext>
            </a:extLst>
          </p:cNvPr>
          <p:cNvSpPr txBox="1"/>
          <p:nvPr/>
        </p:nvSpPr>
        <p:spPr>
          <a:xfrm>
            <a:off x="4464105" y="1352722"/>
            <a:ext cx="8146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49GB/s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94240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361950" y="6398036"/>
            <a:ext cx="11367943" cy="295144"/>
            <a:chOff x="371475" y="4964836"/>
            <a:chExt cx="11367943" cy="295144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71475" y="5125367"/>
              <a:ext cx="10521084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1341100" y="5125367"/>
              <a:ext cx="398318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0886209" y="4964836"/>
              <a:ext cx="454891" cy="295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91875" y="207562"/>
            <a:ext cx="7481981" cy="541920"/>
            <a:chOff x="0" y="338431"/>
            <a:chExt cx="7481981" cy="541920"/>
          </a:xfrm>
        </p:grpSpPr>
        <p:sp>
          <p:nvSpPr>
            <p:cNvPr id="5" name="矩形 4"/>
            <p:cNvSpPr/>
            <p:nvPr/>
          </p:nvSpPr>
          <p:spPr>
            <a:xfrm>
              <a:off x="0" y="348602"/>
              <a:ext cx="101600" cy="531749"/>
            </a:xfrm>
            <a:prstGeom prst="rect">
              <a:avLst/>
            </a:prstGeom>
            <a:solidFill>
              <a:srgbClr val="E26C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35003" y="338431"/>
              <a:ext cx="7246978" cy="531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从核内部结构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7D5CFA45-F935-4724-6F3D-504A1B01B749}"/>
              </a:ext>
            </a:extLst>
          </p:cNvPr>
          <p:cNvSpPr/>
          <p:nvPr/>
        </p:nvSpPr>
        <p:spPr>
          <a:xfrm>
            <a:off x="7910939" y="4243727"/>
            <a:ext cx="1662545" cy="8866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LDM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Bank0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6E7255-9976-197E-7A0B-100BA6395CF2}"/>
              </a:ext>
            </a:extLst>
          </p:cNvPr>
          <p:cNvSpPr/>
          <p:nvPr/>
        </p:nvSpPr>
        <p:spPr>
          <a:xfrm>
            <a:off x="9851783" y="4243726"/>
            <a:ext cx="1662545" cy="8866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LDM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Bank1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5AF328-42C6-1AA4-0479-76E87C66E052}"/>
              </a:ext>
            </a:extLst>
          </p:cNvPr>
          <p:cNvSpPr/>
          <p:nvPr/>
        </p:nvSpPr>
        <p:spPr>
          <a:xfrm>
            <a:off x="8742211" y="1523905"/>
            <a:ext cx="1662545" cy="14522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ACE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898AC5C6-D86C-15A1-D0C7-7AD2B8DF1FFF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7862736" y="2250027"/>
            <a:ext cx="8794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018754A5-C11D-12EF-0854-40BC3B16E22D}"/>
              </a:ext>
            </a:extLst>
          </p:cNvPr>
          <p:cNvCxnSpPr>
            <a:endCxn id="9" idx="0"/>
          </p:cNvCxnSpPr>
          <p:nvPr/>
        </p:nvCxnSpPr>
        <p:spPr>
          <a:xfrm>
            <a:off x="9573483" y="911821"/>
            <a:ext cx="1" cy="612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E7FDFE07-8828-A19A-2A22-E09C7255E3DF}"/>
              </a:ext>
            </a:extLst>
          </p:cNvPr>
          <p:cNvCxnSpPr>
            <a:stCxn id="9" idx="3"/>
          </p:cNvCxnSpPr>
          <p:nvPr/>
        </p:nvCxnSpPr>
        <p:spPr>
          <a:xfrm>
            <a:off x="10404756" y="2250027"/>
            <a:ext cx="387927" cy="15093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E4AA64A-04CF-D5C3-4D18-9B57F6482E2F}"/>
              </a:ext>
            </a:extLst>
          </p:cNvPr>
          <p:cNvSpPr txBox="1"/>
          <p:nvPr/>
        </p:nvSpPr>
        <p:spPr>
          <a:xfrm>
            <a:off x="87531" y="757039"/>
            <a:ext cx="7127970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700" b="1" dirty="0">
                <a:solidFill>
                  <a:srgbClr val="FF0000"/>
                </a:solidFill>
              </a:rPr>
              <a:t>ACE</a:t>
            </a:r>
            <a:r>
              <a:rPr kumimoji="1" lang="zh-CN" altLang="en-US" sz="1700" dirty="0"/>
              <a:t>工作在半频</a:t>
            </a:r>
            <a:r>
              <a:rPr kumimoji="1" lang="en-US" altLang="zh-CN" sz="1700" dirty="0"/>
              <a:t>1.25Ghz</a:t>
            </a:r>
            <a:r>
              <a:rPr kumimoji="1" lang="zh-CN" altLang="en-US" sz="1700" dirty="0"/>
              <a:t>下，两拍数据流动一次，产生一行新的结果。</a:t>
            </a:r>
            <a:endParaRPr kumimoji="1" lang="en-US" altLang="zh-CN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 b="1" dirty="0"/>
              <a:t>西向带宽需求</a:t>
            </a:r>
            <a:r>
              <a:rPr kumimoji="1" lang="zh-CN" altLang="en-US" sz="1700" dirty="0"/>
              <a:t>：西向需要消耗</a:t>
            </a:r>
            <a:r>
              <a:rPr kumimoji="1" lang="en-US" altLang="zh-CN" sz="1700" dirty="0"/>
              <a:t>64B</a:t>
            </a:r>
            <a:r>
              <a:rPr kumimoji="1" lang="zh-CN" altLang="en-US" sz="1700" dirty="0"/>
              <a:t> * </a:t>
            </a:r>
            <a:r>
              <a:rPr kumimoji="1" lang="en-US" altLang="zh-CN" sz="1700" dirty="0"/>
              <a:t>(2.5</a:t>
            </a:r>
            <a:r>
              <a:rPr kumimoji="1" lang="zh-CN" altLang="en-US" sz="1700" dirty="0"/>
              <a:t> </a:t>
            </a:r>
            <a:r>
              <a:rPr kumimoji="1" lang="en-US" altLang="zh-CN" sz="1700" dirty="0"/>
              <a:t>/</a:t>
            </a:r>
            <a:r>
              <a:rPr kumimoji="1" lang="zh-CN" altLang="en-US" sz="1700" dirty="0"/>
              <a:t> </a:t>
            </a:r>
            <a:r>
              <a:rPr kumimoji="1" lang="en-US" altLang="zh-CN" sz="1700" dirty="0"/>
              <a:t>2)</a:t>
            </a:r>
            <a:r>
              <a:rPr kumimoji="1" lang="zh-CN" altLang="en-US" sz="1700" dirty="0"/>
              <a:t> </a:t>
            </a:r>
            <a:r>
              <a:rPr kumimoji="1" lang="en-US" altLang="zh-CN" sz="1700" dirty="0" err="1"/>
              <a:t>Ghz</a:t>
            </a:r>
            <a:r>
              <a:rPr kumimoji="1" lang="zh-CN" altLang="en-US" sz="1700" dirty="0"/>
              <a:t> </a:t>
            </a:r>
            <a:r>
              <a:rPr kumimoji="1" lang="en-US" altLang="zh-CN" sz="1700" dirty="0"/>
              <a:t>=</a:t>
            </a:r>
            <a:r>
              <a:rPr kumimoji="1" lang="zh-CN" altLang="en-US" sz="1700" dirty="0"/>
              <a:t> </a:t>
            </a:r>
            <a:r>
              <a:rPr kumimoji="1" lang="en-US" altLang="zh-CN" sz="1700" dirty="0"/>
              <a:t>80GB/s</a:t>
            </a:r>
            <a:r>
              <a:rPr kumimoji="1" lang="zh-CN" altLang="en-US" sz="1700" dirty="0"/>
              <a:t>。</a:t>
            </a:r>
            <a:endParaRPr kumimoji="1" lang="en-US" altLang="zh-CN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 b="1" dirty="0"/>
              <a:t>北向带宽需求</a:t>
            </a:r>
            <a:r>
              <a:rPr kumimoji="1" lang="zh-CN" altLang="en-US" sz="1700" dirty="0"/>
              <a:t>：加载北向数据大约</a:t>
            </a:r>
            <a:r>
              <a:rPr kumimoji="1" lang="en-US" altLang="zh-CN" sz="1700" dirty="0"/>
              <a:t>100</a:t>
            </a:r>
            <a:r>
              <a:rPr kumimoji="1" lang="zh-CN" altLang="en-US" sz="1700" dirty="0"/>
              <a:t>拍，在西向</a:t>
            </a:r>
            <a:r>
              <a:rPr kumimoji="1" lang="en-US" altLang="zh-CN" sz="1700" dirty="0"/>
              <a:t>m=128</a:t>
            </a:r>
            <a:r>
              <a:rPr kumimoji="1" lang="zh-CN" altLang="en-US" sz="1700" dirty="0"/>
              <a:t>时等效需要消耗</a:t>
            </a:r>
            <a:r>
              <a:rPr kumimoji="1" lang="en-US" altLang="zh-CN" sz="1700" dirty="0"/>
              <a:t>20GB/s</a:t>
            </a:r>
            <a:r>
              <a:rPr kumimoji="1" lang="zh-CN" altLang="en-US" sz="1700" dirty="0"/>
              <a:t>，</a:t>
            </a:r>
            <a:r>
              <a:rPr kumimoji="1" lang="en-US" altLang="zh-CN" sz="1700" dirty="0"/>
              <a:t>m=96</a:t>
            </a:r>
            <a:r>
              <a:rPr kumimoji="1" lang="zh-CN" altLang="en-US" sz="1700" dirty="0"/>
              <a:t>时需要消耗</a:t>
            </a:r>
            <a:r>
              <a:rPr kumimoji="1" lang="en-US" altLang="zh-CN" sz="1700" dirty="0"/>
              <a:t>27GB/s</a:t>
            </a:r>
            <a:r>
              <a:rPr kumimoji="1" lang="zh-CN" altLang="en-US" sz="1700" dirty="0"/>
              <a:t>。</a:t>
            </a:r>
            <a:endParaRPr kumimoji="1" lang="en-US" altLang="zh-CN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 b="1" dirty="0"/>
              <a:t>写回带宽和掩盖需求</a:t>
            </a:r>
            <a:r>
              <a:rPr kumimoji="1" lang="zh-CN" altLang="en-US" sz="1700" dirty="0"/>
              <a:t>（仅考虑</a:t>
            </a:r>
            <a:r>
              <a:rPr kumimoji="1" lang="en-US" altLang="zh-CN" sz="1700" dirty="0"/>
              <a:t>fp32 </a:t>
            </a:r>
            <a:r>
              <a:rPr kumimoji="1" lang="zh-CN" altLang="en-US" sz="1700" dirty="0"/>
              <a:t>）：在只加载一次北向的场景，写回等效</a:t>
            </a:r>
            <a:r>
              <a:rPr kumimoji="1" lang="en-US" altLang="zh-CN" sz="1700" dirty="0"/>
              <a:t>27GB/s</a:t>
            </a:r>
            <a:r>
              <a:rPr kumimoji="1" lang="zh-CN" altLang="en-US" sz="1700" dirty="0"/>
              <a:t>带宽，需要至少连续</a:t>
            </a:r>
            <a:r>
              <a:rPr kumimoji="1" lang="en-US" altLang="zh-CN" sz="1700" dirty="0"/>
              <a:t>6-7</a:t>
            </a:r>
            <a:r>
              <a:rPr kumimoji="1" lang="zh-CN" altLang="en-US" sz="1700" dirty="0"/>
              <a:t>次加载西向才能掩盖；在每个西向都需要重新加载北向时（比如</a:t>
            </a:r>
            <a:r>
              <a:rPr kumimoji="1" lang="en-US" altLang="zh-CN" sz="1700" dirty="0"/>
              <a:t>GEMM</a:t>
            </a:r>
            <a:r>
              <a:rPr kumimoji="1" lang="zh-CN" altLang="en-US" sz="1700" dirty="0"/>
              <a:t>），等效</a:t>
            </a:r>
            <a:r>
              <a:rPr kumimoji="1" lang="en-US" altLang="zh-CN" sz="1700" dirty="0"/>
              <a:t>15GB/s</a:t>
            </a:r>
            <a:r>
              <a:rPr kumimoji="1" lang="zh-CN" altLang="en-US" sz="1700" dirty="0"/>
              <a:t>带宽，需要至少</a:t>
            </a:r>
            <a:r>
              <a:rPr kumimoji="1" lang="zh-CN" altLang="en-US" sz="1700" dirty="0">
                <a:highlight>
                  <a:srgbClr val="FCC129"/>
                </a:highlight>
              </a:rPr>
              <a:t>连续</a:t>
            </a:r>
            <a:r>
              <a:rPr kumimoji="1" lang="en-US" altLang="zh-CN" sz="1700" dirty="0">
                <a:highlight>
                  <a:srgbClr val="FCC129"/>
                </a:highlight>
              </a:rPr>
              <a:t>11-12</a:t>
            </a:r>
            <a:r>
              <a:rPr kumimoji="1" lang="zh-CN" altLang="en-US" sz="1700" dirty="0">
                <a:highlight>
                  <a:srgbClr val="FCC129"/>
                </a:highlight>
              </a:rPr>
              <a:t>次加载西向才能掩盖。</a:t>
            </a:r>
            <a:endParaRPr kumimoji="1" lang="en-US" altLang="zh-CN" sz="1700" dirty="0">
              <a:highlight>
                <a:srgbClr val="FCC129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 b="1" dirty="0"/>
              <a:t>峰值性能</a:t>
            </a:r>
            <a:r>
              <a:rPr kumimoji="1" lang="zh-CN" altLang="en-US" sz="1700" dirty="0"/>
              <a:t>：单从核</a:t>
            </a:r>
            <a:r>
              <a:rPr kumimoji="1" lang="en-US" altLang="zh-CN" sz="1700" dirty="0"/>
              <a:t>ACE</a:t>
            </a:r>
            <a:r>
              <a:rPr kumimoji="1" lang="zh-CN" altLang="en-US" sz="1700" dirty="0"/>
              <a:t> </a:t>
            </a:r>
            <a:r>
              <a:rPr kumimoji="1" lang="en-US" altLang="zh-CN" sz="1700" dirty="0"/>
              <a:t>fp16</a:t>
            </a:r>
            <a:r>
              <a:rPr kumimoji="1" lang="zh-CN" altLang="en-US" sz="1700" dirty="0"/>
              <a:t>峰值性能</a:t>
            </a:r>
            <a:r>
              <a:rPr kumimoji="1" lang="en-US" altLang="zh-CN" sz="1700" dirty="0"/>
              <a:t>2.56TFlops</a:t>
            </a:r>
            <a:r>
              <a:rPr kumimoji="1" lang="zh-CN" altLang="en-US" sz="1700" dirty="0"/>
              <a:t>，单核组</a:t>
            </a:r>
            <a:r>
              <a:rPr kumimoji="1" lang="en-US" altLang="zh-CN" sz="1700" dirty="0"/>
              <a:t>81.92TFlops</a:t>
            </a:r>
            <a:r>
              <a:rPr kumimoji="1" lang="zh-CN" altLang="en-US" sz="1700" dirty="0"/>
              <a:t>。为了</a:t>
            </a:r>
            <a:r>
              <a:rPr kumimoji="1" lang="zh-CN" altLang="en-US" sz="1700" dirty="0">
                <a:highlight>
                  <a:srgbClr val="FCC129"/>
                </a:highlight>
              </a:rPr>
              <a:t>打满</a:t>
            </a:r>
            <a:r>
              <a:rPr kumimoji="1" lang="en-US" altLang="zh-CN" sz="1700" dirty="0">
                <a:highlight>
                  <a:srgbClr val="FCC129"/>
                </a:highlight>
              </a:rPr>
              <a:t>ACE</a:t>
            </a:r>
            <a:r>
              <a:rPr kumimoji="1" lang="zh-CN" altLang="en-US" sz="1700" dirty="0">
                <a:highlight>
                  <a:srgbClr val="FCC129"/>
                </a:highlight>
              </a:rPr>
              <a:t>性能</a:t>
            </a:r>
            <a:r>
              <a:rPr kumimoji="1" lang="zh-CN" altLang="en-US" sz="1700" dirty="0"/>
              <a:t>，首先需要连续加载西向次数满足写回掩盖需求，此外</a:t>
            </a:r>
            <a:r>
              <a:rPr kumimoji="1" lang="zh-CN" altLang="en-US" sz="1700" dirty="0">
                <a:highlight>
                  <a:srgbClr val="FCC129"/>
                </a:highlight>
              </a:rPr>
              <a:t>需要让西向和写回位于</a:t>
            </a:r>
            <a:r>
              <a:rPr kumimoji="1" lang="en-US" altLang="zh-CN" sz="1700" dirty="0">
                <a:highlight>
                  <a:srgbClr val="FCC129"/>
                </a:highlight>
              </a:rPr>
              <a:t>LDM</a:t>
            </a:r>
            <a:r>
              <a:rPr kumimoji="1" lang="zh-CN" altLang="en-US" sz="1700" dirty="0">
                <a:highlight>
                  <a:srgbClr val="FCC129"/>
                </a:highlight>
              </a:rPr>
              <a:t>不同</a:t>
            </a:r>
            <a:r>
              <a:rPr kumimoji="1" lang="en-US" altLang="zh-CN" sz="1700" dirty="0">
                <a:highlight>
                  <a:srgbClr val="FCC129"/>
                </a:highlight>
              </a:rPr>
              <a:t>Bank</a:t>
            </a:r>
            <a:r>
              <a:rPr kumimoji="1" lang="zh-CN" altLang="en-US" sz="1700" dirty="0">
                <a:highlight>
                  <a:srgbClr val="FCC129"/>
                </a:highlight>
              </a:rPr>
              <a:t>（相同</a:t>
            </a:r>
            <a:r>
              <a:rPr kumimoji="1" lang="en-US" altLang="zh-CN" sz="1700" dirty="0">
                <a:highlight>
                  <a:srgbClr val="FCC129"/>
                </a:highlight>
              </a:rPr>
              <a:t>Bank</a:t>
            </a:r>
            <a:r>
              <a:rPr kumimoji="1" lang="zh-CN" altLang="en-US" sz="1700" dirty="0">
                <a:highlight>
                  <a:srgbClr val="FCC129"/>
                </a:highlight>
              </a:rPr>
              <a:t>可能有</a:t>
            </a:r>
            <a:r>
              <a:rPr kumimoji="1" lang="en-US" altLang="zh-CN" sz="1700" dirty="0">
                <a:highlight>
                  <a:srgbClr val="FCC129"/>
                </a:highlight>
              </a:rPr>
              <a:t>5%</a:t>
            </a:r>
            <a:r>
              <a:rPr kumimoji="1" lang="zh-CN" altLang="en-US" sz="1700" dirty="0">
                <a:highlight>
                  <a:srgbClr val="FCC129"/>
                </a:highlight>
              </a:rPr>
              <a:t>左右掉速）</a:t>
            </a:r>
            <a:r>
              <a:rPr kumimoji="1" lang="zh-CN" altLang="en-US" sz="1700" dirty="0"/>
              <a:t>，北向位置不重要。</a:t>
            </a:r>
            <a:endParaRPr kumimoji="1" lang="en-US" altLang="zh-CN" sz="17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 b="1" dirty="0"/>
              <a:t>性能波动</a:t>
            </a:r>
            <a:r>
              <a:rPr kumimoji="1" lang="zh-CN" altLang="en-US" sz="1700" dirty="0"/>
              <a:t>：</a:t>
            </a:r>
            <a:r>
              <a:rPr kumimoji="1" lang="en-US" altLang="zh-CN" sz="1700" dirty="0"/>
              <a:t>ACE</a:t>
            </a:r>
            <a:r>
              <a:rPr kumimoji="1" lang="zh-CN" altLang="en-US" sz="1700" dirty="0"/>
              <a:t>性能可能产生</a:t>
            </a:r>
            <a:r>
              <a:rPr kumimoji="1" lang="en-US" altLang="zh-CN" sz="1700" dirty="0"/>
              <a:t>10%</a:t>
            </a:r>
            <a:r>
              <a:rPr kumimoji="1" lang="zh-CN" altLang="en-US" sz="1700" dirty="0"/>
              <a:t>左右的非常稳定的性能波动，这个波动来源于芯片有两个时钟树，</a:t>
            </a:r>
            <a:r>
              <a:rPr kumimoji="1" lang="zh-CN" altLang="en-US" sz="1700" dirty="0">
                <a:highlight>
                  <a:srgbClr val="FCC129"/>
                </a:highlight>
              </a:rPr>
              <a:t>不同时钟树下性能不同</a:t>
            </a:r>
            <a:r>
              <a:rPr kumimoji="1" lang="zh-CN" altLang="en-US" sz="1700" dirty="0"/>
              <a:t>（可能源于数据包的仲裁），所以复位和降频可能导致</a:t>
            </a:r>
            <a:r>
              <a:rPr kumimoji="1" lang="en-US" altLang="zh-CN" sz="1700" dirty="0"/>
              <a:t>ACE</a:t>
            </a:r>
            <a:r>
              <a:rPr kumimoji="1" lang="zh-CN" altLang="en-US" sz="1700" dirty="0"/>
              <a:t>时间波动。此波动基本不影响业务场景。</a:t>
            </a:r>
            <a:endParaRPr kumimoji="1" lang="en-US" altLang="zh-CN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 b="1" dirty="0"/>
              <a:t>精度截断</a:t>
            </a:r>
            <a:r>
              <a:rPr kumimoji="1" lang="zh-CN" altLang="en-US" sz="1700" dirty="0"/>
              <a:t>：</a:t>
            </a:r>
            <a:r>
              <a:rPr kumimoji="1" lang="en-US" altLang="zh-CN" sz="1700" dirty="0"/>
              <a:t>ACE</a:t>
            </a:r>
            <a:r>
              <a:rPr kumimoji="1" lang="zh-CN" altLang="en-US" sz="1700" dirty="0"/>
              <a:t>内部精度为</a:t>
            </a:r>
            <a:r>
              <a:rPr kumimoji="1" lang="en-US" altLang="zh-CN" sz="1700" dirty="0"/>
              <a:t>fp32</a:t>
            </a:r>
            <a:r>
              <a:rPr kumimoji="1" lang="zh-CN" altLang="en-US" sz="1700" dirty="0"/>
              <a:t>（可能不支持非规格化数），每次乘加后把结果截断为</a:t>
            </a:r>
            <a:r>
              <a:rPr kumimoji="1" lang="en-US" altLang="zh-CN" sz="1700" dirty="0"/>
              <a:t>fp32</a:t>
            </a:r>
            <a:r>
              <a:rPr kumimoji="1" lang="zh-CN" altLang="en-US" sz="1700" dirty="0"/>
              <a:t>。按</a:t>
            </a:r>
            <a:r>
              <a:rPr kumimoji="1" lang="en-US" altLang="zh-CN" sz="1700" dirty="0"/>
              <a:t>fp32</a:t>
            </a:r>
            <a:r>
              <a:rPr kumimoji="1" lang="zh-CN" altLang="en-US" sz="1700" dirty="0"/>
              <a:t>写回时写回</a:t>
            </a:r>
            <a:r>
              <a:rPr kumimoji="1" lang="en-US" altLang="zh-CN" sz="1700" dirty="0"/>
              <a:t>fp32</a:t>
            </a:r>
            <a:r>
              <a:rPr kumimoji="1" lang="zh-CN" altLang="en-US" sz="1700" dirty="0"/>
              <a:t>结果。按</a:t>
            </a:r>
            <a:r>
              <a:rPr kumimoji="1" lang="en-US" altLang="zh-CN" sz="1700" dirty="0"/>
              <a:t>fp16</a:t>
            </a:r>
            <a:r>
              <a:rPr kumimoji="1" lang="zh-CN" altLang="en-US" sz="1700" dirty="0"/>
              <a:t>写回时，</a:t>
            </a:r>
            <a:r>
              <a:rPr kumimoji="1" lang="zh-CN" altLang="en-US" sz="1700" dirty="0">
                <a:highlight>
                  <a:srgbClr val="FCC129"/>
                </a:highlight>
              </a:rPr>
              <a:t>会把</a:t>
            </a:r>
            <a:r>
              <a:rPr kumimoji="1" lang="en-US" altLang="zh-CN" sz="1700" dirty="0">
                <a:highlight>
                  <a:srgbClr val="FCC129"/>
                </a:highlight>
              </a:rPr>
              <a:t>fp16</a:t>
            </a:r>
            <a:r>
              <a:rPr kumimoji="1" lang="zh-CN" altLang="en-US" sz="1700" dirty="0">
                <a:highlight>
                  <a:srgbClr val="FCC129"/>
                </a:highlight>
              </a:rPr>
              <a:t>非规格化数范围的值截断成</a:t>
            </a:r>
            <a:r>
              <a:rPr kumimoji="1" lang="en-US" altLang="zh-CN" sz="1700" dirty="0">
                <a:highlight>
                  <a:srgbClr val="FCC129"/>
                </a:highlight>
              </a:rPr>
              <a:t>0</a:t>
            </a:r>
            <a:r>
              <a:rPr kumimoji="1" lang="zh-CN" altLang="en-US" sz="1700" dirty="0">
                <a:highlight>
                  <a:srgbClr val="FCC129"/>
                </a:highlight>
              </a:rPr>
              <a:t>，此处会有很大精度损失</a:t>
            </a:r>
            <a:r>
              <a:rPr kumimoji="1" lang="zh-CN" altLang="en-US" sz="1700" dirty="0"/>
              <a:t>，可能是一代芯片精度不好的主要问题（因此可以考虑手动截成</a:t>
            </a:r>
            <a:r>
              <a:rPr kumimoji="1" lang="en-US" altLang="zh-CN" sz="1700" dirty="0"/>
              <a:t>bf16</a:t>
            </a:r>
            <a:r>
              <a:rPr kumimoji="1" lang="zh-CN" altLang="en-US" sz="1700" dirty="0"/>
              <a:t>的方案）。</a:t>
            </a:r>
            <a:endParaRPr kumimoji="1" lang="en-US" altLang="zh-CN" sz="17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C1F29FC-5095-C7D2-3F36-AE60C6296C15}"/>
              </a:ext>
            </a:extLst>
          </p:cNvPr>
          <p:cNvSpPr txBox="1"/>
          <p:nvPr/>
        </p:nvSpPr>
        <p:spPr>
          <a:xfrm>
            <a:off x="7331758" y="2250027"/>
            <a:ext cx="1338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80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GB/s</a:t>
            </a:r>
            <a:endParaRPr kumimoji="1" lang="zh-CN" altLang="en-US" sz="16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8385538-E793-50F8-2E56-262D8D76EAF5}"/>
              </a:ext>
            </a:extLst>
          </p:cNvPr>
          <p:cNvSpPr txBox="1"/>
          <p:nvPr/>
        </p:nvSpPr>
        <p:spPr>
          <a:xfrm>
            <a:off x="8689797" y="618211"/>
            <a:ext cx="15529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20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or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27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GB/s</a:t>
            </a:r>
            <a:endParaRPr kumimoji="1" lang="zh-CN" altLang="en-US" sz="16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A50E9BA-A3D1-43F0-39D2-958F219AF56F}"/>
              </a:ext>
            </a:extLst>
          </p:cNvPr>
          <p:cNvSpPr txBox="1"/>
          <p:nvPr/>
        </p:nvSpPr>
        <p:spPr>
          <a:xfrm>
            <a:off x="10792683" y="2806872"/>
            <a:ext cx="15529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15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or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27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GB/s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8562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361950" y="6398036"/>
            <a:ext cx="11367943" cy="295144"/>
            <a:chOff x="371475" y="4964836"/>
            <a:chExt cx="11367943" cy="295144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71475" y="5125367"/>
              <a:ext cx="10521084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1341100" y="5125367"/>
              <a:ext cx="398318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0886209" y="4964836"/>
              <a:ext cx="454891" cy="295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91875" y="207562"/>
            <a:ext cx="7481981" cy="541920"/>
            <a:chOff x="0" y="338431"/>
            <a:chExt cx="7481981" cy="541920"/>
          </a:xfrm>
        </p:grpSpPr>
        <p:sp>
          <p:nvSpPr>
            <p:cNvPr id="5" name="矩形 4"/>
            <p:cNvSpPr/>
            <p:nvPr/>
          </p:nvSpPr>
          <p:spPr>
            <a:xfrm>
              <a:off x="0" y="348602"/>
              <a:ext cx="101600" cy="531749"/>
            </a:xfrm>
            <a:prstGeom prst="rect">
              <a:avLst/>
            </a:prstGeom>
            <a:solidFill>
              <a:srgbClr val="E26C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35003" y="338431"/>
              <a:ext cx="7246978" cy="531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从核内部结构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7D5CFA45-F935-4724-6F3D-504A1B01B749}"/>
              </a:ext>
            </a:extLst>
          </p:cNvPr>
          <p:cNvSpPr/>
          <p:nvPr/>
        </p:nvSpPr>
        <p:spPr>
          <a:xfrm>
            <a:off x="7910938" y="4259831"/>
            <a:ext cx="1662545" cy="8866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LDM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Bank0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6E7255-9976-197E-7A0B-100BA6395CF2}"/>
              </a:ext>
            </a:extLst>
          </p:cNvPr>
          <p:cNvSpPr/>
          <p:nvPr/>
        </p:nvSpPr>
        <p:spPr>
          <a:xfrm>
            <a:off x="9851782" y="4259830"/>
            <a:ext cx="1662545" cy="8866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LDM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Bank1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E4AA64A-04CF-D5C3-4D18-9B57F6482E2F}"/>
              </a:ext>
            </a:extLst>
          </p:cNvPr>
          <p:cNvSpPr txBox="1"/>
          <p:nvPr/>
        </p:nvSpPr>
        <p:spPr>
          <a:xfrm>
            <a:off x="128437" y="1523905"/>
            <a:ext cx="712797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700" b="1" dirty="0">
                <a:solidFill>
                  <a:srgbClr val="FF0000"/>
                </a:solidFill>
              </a:rPr>
              <a:t>LDM</a:t>
            </a:r>
            <a:r>
              <a:rPr kumimoji="1" lang="zh-CN" altLang="en-US" sz="1700" dirty="0"/>
              <a:t>分为两个</a:t>
            </a:r>
            <a:r>
              <a:rPr kumimoji="1" lang="en-US" altLang="zh-CN" sz="1700" dirty="0"/>
              <a:t>Bank</a:t>
            </a:r>
            <a:r>
              <a:rPr kumimoji="1" lang="zh-CN" altLang="en-US" sz="1700" dirty="0"/>
              <a:t>，分别对应于前</a:t>
            </a:r>
            <a:r>
              <a:rPr kumimoji="1" lang="en-US" altLang="zh-CN" sz="1700" dirty="0"/>
              <a:t>128KB</a:t>
            </a:r>
            <a:r>
              <a:rPr kumimoji="1" lang="zh-CN" altLang="en-US" sz="1700" dirty="0"/>
              <a:t>和后</a:t>
            </a:r>
            <a:r>
              <a:rPr kumimoji="1" lang="en-US" altLang="zh-CN" sz="1700" dirty="0"/>
              <a:t>128KB</a:t>
            </a:r>
            <a:r>
              <a:rPr kumimoji="1" lang="zh-CN" altLang="en-US" sz="1700" dirty="0"/>
              <a:t>。两个</a:t>
            </a:r>
            <a:r>
              <a:rPr kumimoji="1" lang="en-US" altLang="zh-CN" sz="1700" dirty="0"/>
              <a:t>Bank</a:t>
            </a:r>
            <a:r>
              <a:rPr kumimoji="1" lang="zh-CN" altLang="en-US" sz="1700" dirty="0"/>
              <a:t>访问完全独立，互不影响。如何把</a:t>
            </a:r>
            <a:r>
              <a:rPr kumimoji="1" lang="en-US" altLang="zh-CN" sz="1700" dirty="0"/>
              <a:t>DMA</a:t>
            </a:r>
            <a:r>
              <a:rPr kumimoji="1" lang="zh-CN" altLang="en-US" sz="1700" dirty="0"/>
              <a:t>、</a:t>
            </a:r>
            <a:r>
              <a:rPr kumimoji="1" lang="en-US" altLang="zh-CN" sz="1700" dirty="0"/>
              <a:t>RMA</a:t>
            </a:r>
            <a:r>
              <a:rPr kumimoji="1" lang="zh-CN" altLang="en-US" sz="1700" dirty="0"/>
              <a:t>、</a:t>
            </a:r>
            <a:r>
              <a:rPr kumimoji="1" lang="en-US" altLang="zh-CN" sz="1700" dirty="0"/>
              <a:t>ACE</a:t>
            </a:r>
            <a:r>
              <a:rPr kumimoji="1" lang="zh-CN" altLang="en-US" sz="1700" dirty="0"/>
              <a:t>和</a:t>
            </a:r>
            <a:r>
              <a:rPr kumimoji="1" lang="en-US" altLang="zh-CN" sz="1700" dirty="0"/>
              <a:t>SIMD</a:t>
            </a:r>
            <a:r>
              <a:rPr kumimoji="1" lang="zh-CN" altLang="en-US" sz="1700" dirty="0"/>
              <a:t>的流量错开到两个</a:t>
            </a:r>
            <a:r>
              <a:rPr kumimoji="1" lang="en-US" altLang="zh-CN" sz="1700" dirty="0"/>
              <a:t>Bank</a:t>
            </a:r>
            <a:r>
              <a:rPr kumimoji="1" lang="zh-CN" altLang="en-US" sz="1700" dirty="0"/>
              <a:t>，是一个重要优化点。</a:t>
            </a:r>
            <a:endParaRPr kumimoji="1" lang="en-US" altLang="zh-CN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1700" b="1" dirty="0"/>
              <a:t>SIMD</a:t>
            </a:r>
            <a:r>
              <a:rPr kumimoji="1" lang="zh-CN" altLang="en-US" sz="1700" b="1" dirty="0"/>
              <a:t>带宽</a:t>
            </a:r>
            <a:r>
              <a:rPr kumimoji="1" lang="zh-CN" altLang="en-US" sz="1700" dirty="0"/>
              <a:t>：</a:t>
            </a:r>
            <a:r>
              <a:rPr kumimoji="1" lang="en-US" altLang="zh-CN" sz="1700" dirty="0"/>
              <a:t>SIMD</a:t>
            </a:r>
            <a:r>
              <a:rPr kumimoji="1" lang="zh-CN" altLang="en-US" sz="1700" dirty="0"/>
              <a:t>读</a:t>
            </a:r>
            <a:r>
              <a:rPr kumimoji="1" lang="en-US" altLang="zh-CN" sz="1700" dirty="0"/>
              <a:t>LDM</a:t>
            </a:r>
            <a:r>
              <a:rPr kumimoji="1" lang="zh-CN" altLang="en-US" sz="1700" dirty="0"/>
              <a:t>的带宽能达到处理器下发指令速度的极限，共</a:t>
            </a:r>
            <a:r>
              <a:rPr kumimoji="1" lang="en-US" altLang="zh-CN" sz="1700" dirty="0"/>
              <a:t>160GB/s</a:t>
            </a:r>
            <a:r>
              <a:rPr kumimoji="1" lang="zh-CN" altLang="en-US" sz="1700" dirty="0"/>
              <a:t>。</a:t>
            </a:r>
            <a:endParaRPr kumimoji="1" lang="en-US" altLang="zh-CN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/>
              <a:t>待完善。</a:t>
            </a:r>
            <a:endParaRPr kumimoji="1" lang="zh-CN" altLang="en-US" sz="17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56087F-1F14-5370-BEFE-2ACE83BF9917}"/>
              </a:ext>
            </a:extLst>
          </p:cNvPr>
          <p:cNvSpPr/>
          <p:nvPr/>
        </p:nvSpPr>
        <p:spPr>
          <a:xfrm>
            <a:off x="8742211" y="1523905"/>
            <a:ext cx="1662545" cy="14522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ACE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2636397-2465-6E7E-FC22-F6AE8381AFBF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7862736" y="2250027"/>
            <a:ext cx="8794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2A61C4E1-9ED5-C6B0-66BE-4105D4FCAF2F}"/>
              </a:ext>
            </a:extLst>
          </p:cNvPr>
          <p:cNvCxnSpPr>
            <a:endCxn id="3" idx="0"/>
          </p:cNvCxnSpPr>
          <p:nvPr/>
        </p:nvCxnSpPr>
        <p:spPr>
          <a:xfrm>
            <a:off x="9573483" y="911821"/>
            <a:ext cx="1" cy="612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肘形连接符 11">
            <a:extLst>
              <a:ext uri="{FF2B5EF4-FFF2-40B4-BE49-F238E27FC236}">
                <a16:creationId xmlns:a16="http://schemas.microsoft.com/office/drawing/2014/main" id="{A0E46780-D380-3DF5-E463-5DF896D6ABBE}"/>
              </a:ext>
            </a:extLst>
          </p:cNvPr>
          <p:cNvCxnSpPr>
            <a:stCxn id="3" idx="3"/>
          </p:cNvCxnSpPr>
          <p:nvPr/>
        </p:nvCxnSpPr>
        <p:spPr>
          <a:xfrm>
            <a:off x="10404756" y="2250027"/>
            <a:ext cx="387927" cy="15093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FBB29E1-7AA8-01B4-2853-7E2AFB506000}"/>
              </a:ext>
            </a:extLst>
          </p:cNvPr>
          <p:cNvSpPr txBox="1"/>
          <p:nvPr/>
        </p:nvSpPr>
        <p:spPr>
          <a:xfrm>
            <a:off x="7331758" y="2250027"/>
            <a:ext cx="1338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80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GB/s</a:t>
            </a:r>
            <a:endParaRPr kumimoji="1" lang="zh-CN" altLang="en-US"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4293FB-664D-D255-A240-38F33B7E972D}"/>
              </a:ext>
            </a:extLst>
          </p:cNvPr>
          <p:cNvSpPr txBox="1"/>
          <p:nvPr/>
        </p:nvSpPr>
        <p:spPr>
          <a:xfrm>
            <a:off x="8689797" y="618211"/>
            <a:ext cx="15529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20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or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27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GB/s</a:t>
            </a:r>
            <a:endParaRPr kumimoji="1"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39E7884-E525-E8D7-00A0-50111B32F85D}"/>
              </a:ext>
            </a:extLst>
          </p:cNvPr>
          <p:cNvSpPr txBox="1"/>
          <p:nvPr/>
        </p:nvSpPr>
        <p:spPr>
          <a:xfrm>
            <a:off x="10792683" y="2806872"/>
            <a:ext cx="15529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15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or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27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GB/s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94330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361950" y="6398036"/>
            <a:ext cx="11367943" cy="295144"/>
            <a:chOff x="371475" y="4964836"/>
            <a:chExt cx="11367943" cy="295144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71475" y="5125367"/>
              <a:ext cx="10521084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1341100" y="5125367"/>
              <a:ext cx="398318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0886209" y="4964836"/>
              <a:ext cx="454891" cy="295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0103" y="99717"/>
            <a:ext cx="7481981" cy="541920"/>
            <a:chOff x="0" y="338431"/>
            <a:chExt cx="7481981" cy="541920"/>
          </a:xfrm>
        </p:grpSpPr>
        <p:sp>
          <p:nvSpPr>
            <p:cNvPr id="5" name="矩形 4"/>
            <p:cNvSpPr/>
            <p:nvPr/>
          </p:nvSpPr>
          <p:spPr>
            <a:xfrm>
              <a:off x="0" y="348602"/>
              <a:ext cx="101600" cy="531749"/>
            </a:xfrm>
            <a:prstGeom prst="rect">
              <a:avLst/>
            </a:prstGeom>
            <a:solidFill>
              <a:srgbClr val="E26C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35003" y="338431"/>
              <a:ext cx="7246978" cy="531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HBM</a:t>
              </a:r>
              <a:r>
                <a:rPr lang="zh-CN" altLang="en-US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交织分析（待补充：设计理念分析）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6CF0C25-0FD2-8B1F-6E07-0324FE72E756}"/>
              </a:ext>
            </a:extLst>
          </p:cNvPr>
          <p:cNvSpPr txBox="1"/>
          <p:nvPr/>
        </p:nvSpPr>
        <p:spPr>
          <a:xfrm>
            <a:off x="135855" y="2979366"/>
            <a:ext cx="64694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effectLst/>
              </a:rPr>
              <a:t>HBM</a:t>
            </a:r>
            <a:r>
              <a:rPr lang="zh-CN" altLang="en-US" sz="1600" b="1" dirty="0">
                <a:effectLst/>
              </a:rPr>
              <a:t>基本信息</a:t>
            </a:r>
            <a:r>
              <a:rPr lang="zh-CN" altLang="en-US" sz="1600" dirty="0">
                <a:effectLst/>
              </a:rPr>
              <a:t>：</a:t>
            </a:r>
            <a:endParaRPr lang="en-US" altLang="zh-CN" sz="1600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effectLst/>
              </a:rPr>
              <a:t>HBM</a:t>
            </a:r>
            <a:r>
              <a:rPr lang="zh-CN" altLang="en-US" sz="1600" dirty="0">
                <a:effectLst/>
              </a:rPr>
              <a:t>供应商为三星，当前</a:t>
            </a:r>
            <a:r>
              <a:rPr lang="zh-CN" altLang="en-US" sz="1600" dirty="0"/>
              <a:t>主频为</a:t>
            </a:r>
            <a:r>
              <a:rPr lang="en-US" altLang="zh-CN" sz="1600" dirty="0"/>
              <a:t>3.2Ghz</a:t>
            </a:r>
            <a:r>
              <a:rPr lang="zh-CN" altLang="en-US" sz="1600" dirty="0"/>
              <a:t>（上升下降沿都采样），位宽</a:t>
            </a:r>
            <a:r>
              <a:rPr lang="en-US" altLang="zh-CN" sz="1600" dirty="0"/>
              <a:t>1024bit</a:t>
            </a:r>
            <a:r>
              <a:rPr lang="zh-CN" altLang="en-US" sz="1600" dirty="0"/>
              <a:t>，因此总带宽为</a:t>
            </a:r>
            <a:r>
              <a:rPr lang="en-US" altLang="zh-CN" sz="1600" dirty="0"/>
              <a:t>3.2Ghz</a:t>
            </a:r>
            <a:r>
              <a:rPr lang="zh-CN" altLang="en-US" sz="1600" dirty="0"/>
              <a:t> </a:t>
            </a:r>
            <a:r>
              <a:rPr lang="en-US" altLang="zh-CN" sz="1600" dirty="0"/>
              <a:t>x</a:t>
            </a:r>
            <a:r>
              <a:rPr lang="zh-CN" altLang="en-US" sz="1600" dirty="0"/>
              <a:t> </a:t>
            </a:r>
            <a:r>
              <a:rPr lang="en-US" altLang="zh-CN" sz="1600" dirty="0"/>
              <a:t>1024bit</a:t>
            </a:r>
            <a:r>
              <a:rPr lang="zh-CN" altLang="en-US" sz="1600" dirty="0"/>
              <a:t> </a:t>
            </a:r>
            <a:r>
              <a:rPr lang="en-US" altLang="zh-CN" sz="1600" dirty="0"/>
              <a:t>/</a:t>
            </a:r>
            <a:r>
              <a:rPr lang="zh-CN" altLang="en-US" sz="1600" dirty="0"/>
              <a:t> </a:t>
            </a:r>
            <a:r>
              <a:rPr lang="en-US" altLang="zh-CN" sz="1600" dirty="0"/>
              <a:t>8</a:t>
            </a:r>
            <a:r>
              <a:rPr lang="zh-CN" altLang="en-US" sz="1600" dirty="0"/>
              <a:t> </a:t>
            </a:r>
            <a:r>
              <a:rPr lang="en-US" altLang="zh-CN" sz="1600" dirty="0"/>
              <a:t>=</a:t>
            </a:r>
            <a:r>
              <a:rPr lang="zh-CN" altLang="en-US" sz="1600" dirty="0"/>
              <a:t> </a:t>
            </a:r>
            <a:r>
              <a:rPr lang="en-US" altLang="zh-CN" sz="1600" dirty="0"/>
              <a:t>410GB/s</a:t>
            </a:r>
            <a:r>
              <a:rPr lang="zh-CN" altLang="en-US" sz="1600" dirty="0"/>
              <a:t>。（</a:t>
            </a:r>
            <a:r>
              <a:rPr lang="en-US" altLang="zh-CN" sz="1600" dirty="0"/>
              <a:t>HBM</a:t>
            </a:r>
            <a:r>
              <a:rPr lang="zh-CN" altLang="en-US" sz="1600" dirty="0"/>
              <a:t>主频有一定调整空间。）</a:t>
            </a:r>
            <a:endParaRPr lang="en-US" altLang="zh-CN" sz="16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effectLst/>
              </a:rPr>
              <a:t>HBM</a:t>
            </a:r>
            <a:r>
              <a:rPr lang="zh-CN" altLang="en-US" sz="1600" b="1" dirty="0">
                <a:effectLst/>
              </a:rPr>
              <a:t>内部结构</a:t>
            </a:r>
            <a:r>
              <a:rPr lang="zh-CN" altLang="en-US" sz="1600" dirty="0">
                <a:effectLst/>
              </a:rPr>
              <a:t>：</a:t>
            </a:r>
            <a:endParaRPr lang="en-US" altLang="zh-CN" sz="1600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通道</a:t>
            </a:r>
            <a:r>
              <a:rPr lang="zh-CN" altLang="en-US" sz="1600" dirty="0"/>
              <a:t>：</a:t>
            </a:r>
            <a:r>
              <a:rPr lang="zh-CN" altLang="en-US" sz="1600" dirty="0">
                <a:effectLst/>
              </a:rPr>
              <a:t>共</a:t>
            </a:r>
            <a:r>
              <a:rPr lang="en-US" altLang="zh-CN" sz="1600" dirty="0">
                <a:effectLst/>
              </a:rPr>
              <a:t>8</a:t>
            </a:r>
            <a:r>
              <a:rPr lang="zh-CN" altLang="en-US" sz="1600" dirty="0">
                <a:effectLst/>
              </a:rPr>
              <a:t>个物理通道，每个通道引脚完全独立，每个通道</a:t>
            </a:r>
            <a:r>
              <a:rPr lang="en-US" altLang="zh-CN" sz="1600" dirty="0">
                <a:effectLst/>
              </a:rPr>
              <a:t>128</a:t>
            </a:r>
            <a:r>
              <a:rPr lang="en-US" altLang="zh-CN" sz="1600" dirty="0"/>
              <a:t>bit</a:t>
            </a:r>
            <a:r>
              <a:rPr lang="zh-CN" altLang="en-US" sz="1600" dirty="0"/>
              <a:t>。每个通道分为两个伪通道（</a:t>
            </a:r>
            <a:r>
              <a:rPr lang="en-US" altLang="zh-CN" sz="1600" dirty="0"/>
              <a:t>HBM2</a:t>
            </a:r>
            <a:r>
              <a:rPr lang="zh-CN" altLang="en-US" sz="1600" dirty="0"/>
              <a:t>开始引入伪通道模式，基本所有产品都会打开），所以共有</a:t>
            </a:r>
            <a:r>
              <a:rPr lang="en-US" altLang="zh-CN" sz="1600" dirty="0"/>
              <a:t>16</a:t>
            </a:r>
            <a:r>
              <a:rPr lang="zh-CN" altLang="en-US" sz="1600" dirty="0"/>
              <a:t>个通道。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 dirty="0"/>
              <a:t>Bank</a:t>
            </a:r>
            <a:r>
              <a:rPr lang="zh-CN" altLang="en-US" sz="1600" dirty="0"/>
              <a:t>：共</a:t>
            </a:r>
            <a:r>
              <a:rPr lang="en-US" altLang="zh-CN" sz="1600" dirty="0"/>
              <a:t>32</a:t>
            </a:r>
            <a:r>
              <a:rPr lang="zh-CN" altLang="en-US" sz="1600" dirty="0"/>
              <a:t>个</a:t>
            </a:r>
            <a:r>
              <a:rPr lang="en-US" altLang="zh-CN" sz="1600" dirty="0"/>
              <a:t>Bank</a:t>
            </a:r>
            <a:r>
              <a:rPr lang="zh-CN" altLang="en-US" sz="1600" dirty="0"/>
              <a:t>，又均匀分成</a:t>
            </a:r>
            <a:r>
              <a:rPr lang="en-US" altLang="zh-CN" sz="1600" dirty="0"/>
              <a:t>8</a:t>
            </a:r>
            <a:r>
              <a:rPr lang="zh-CN" altLang="en-US" sz="1600" dirty="0"/>
              <a:t>个</a:t>
            </a:r>
            <a:r>
              <a:rPr lang="en-US" altLang="zh-CN" sz="1600" dirty="0"/>
              <a:t>Bank</a:t>
            </a:r>
            <a:r>
              <a:rPr lang="zh-CN" altLang="en-US" sz="1600" dirty="0"/>
              <a:t> </a:t>
            </a:r>
            <a:r>
              <a:rPr lang="en-US" altLang="zh-CN" sz="1600" dirty="0"/>
              <a:t>Group</a:t>
            </a:r>
            <a:r>
              <a:rPr lang="zh-CN" altLang="en-US" sz="1600" dirty="0"/>
              <a:t>，每个</a:t>
            </a:r>
            <a:r>
              <a:rPr lang="en-US" altLang="zh-CN" sz="1600" dirty="0"/>
              <a:t>Bank</a:t>
            </a:r>
            <a:r>
              <a:rPr lang="zh-CN" altLang="en-US" sz="1600" dirty="0"/>
              <a:t> </a:t>
            </a:r>
            <a:r>
              <a:rPr lang="en-US" altLang="zh-CN" sz="1600" dirty="0"/>
              <a:t>Group</a:t>
            </a:r>
            <a:r>
              <a:rPr lang="zh-CN" altLang="en-US" sz="1600" dirty="0"/>
              <a:t>中</a:t>
            </a:r>
            <a:r>
              <a:rPr lang="en-US" altLang="zh-CN" sz="1600" dirty="0"/>
              <a:t>4</a:t>
            </a:r>
            <a:r>
              <a:rPr lang="zh-CN" altLang="en-US" sz="1600" dirty="0"/>
              <a:t>个</a:t>
            </a:r>
            <a:r>
              <a:rPr lang="en-US" altLang="zh-CN" sz="1600" dirty="0"/>
              <a:t>Bank</a:t>
            </a:r>
            <a:r>
              <a:rPr lang="zh-CN" altLang="en-US" sz="1600" dirty="0"/>
              <a:t>。</a:t>
            </a:r>
            <a:r>
              <a:rPr lang="en-US" altLang="zh-CN" sz="1600" dirty="0"/>
              <a:t>Bank</a:t>
            </a:r>
            <a:r>
              <a:rPr lang="zh-CN" altLang="en-US" sz="1600" dirty="0"/>
              <a:t> </a:t>
            </a:r>
            <a:r>
              <a:rPr lang="en-US" altLang="zh-CN" sz="1600" dirty="0"/>
              <a:t>Group</a:t>
            </a:r>
            <a:r>
              <a:rPr lang="zh-CN" altLang="en-US" sz="1600" dirty="0"/>
              <a:t>间基本并行，</a:t>
            </a:r>
            <a:r>
              <a:rPr lang="en-US" altLang="zh-CN" sz="1600" dirty="0"/>
              <a:t> Bank</a:t>
            </a:r>
            <a:r>
              <a:rPr lang="zh-CN" altLang="en-US" sz="1600" dirty="0"/>
              <a:t> </a:t>
            </a:r>
            <a:r>
              <a:rPr lang="en-US" altLang="zh-CN" sz="1600" dirty="0"/>
              <a:t>Group</a:t>
            </a:r>
            <a:r>
              <a:rPr lang="zh-CN" altLang="en-US" sz="1600" dirty="0"/>
              <a:t>内切换</a:t>
            </a:r>
            <a:r>
              <a:rPr lang="en-US" altLang="zh-CN" sz="1600" dirty="0"/>
              <a:t>Bank</a:t>
            </a:r>
            <a:r>
              <a:rPr lang="zh-CN" altLang="en-US" sz="1600" dirty="0"/>
              <a:t>会有少量切换开销。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行</a:t>
            </a:r>
            <a:r>
              <a:rPr lang="zh-CN" altLang="en-US" sz="1600" dirty="0"/>
              <a:t>：每个</a:t>
            </a:r>
            <a:r>
              <a:rPr lang="en-US" altLang="zh-CN" sz="1600" dirty="0"/>
              <a:t>Bank</a:t>
            </a:r>
            <a:r>
              <a:rPr lang="zh-CN" altLang="en-US" sz="1600" dirty="0"/>
              <a:t>中有很多行，并且有一个行缓冲（类似于</a:t>
            </a:r>
            <a:r>
              <a:rPr lang="en-US" altLang="zh-CN" sz="1600" dirty="0"/>
              <a:t>CPU</a:t>
            </a:r>
            <a:r>
              <a:rPr lang="zh-CN" altLang="en-US" sz="1600" dirty="0"/>
              <a:t>的</a:t>
            </a:r>
            <a:r>
              <a:rPr lang="en-US" altLang="zh-CN" sz="1600" dirty="0"/>
              <a:t>Cache</a:t>
            </a:r>
            <a:r>
              <a:rPr lang="zh-CN" altLang="en-US" sz="1600" dirty="0"/>
              <a:t>），切换行的时候需要重新读入行缓冲，有较大的开销。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列</a:t>
            </a:r>
            <a:r>
              <a:rPr lang="zh-CN" altLang="en-US" sz="1600" dirty="0"/>
              <a:t>：每行由很多列组成，最后</a:t>
            </a:r>
            <a:r>
              <a:rPr lang="en-US" altLang="zh-CN" sz="1600" dirty="0"/>
              <a:t>5</a:t>
            </a:r>
            <a:r>
              <a:rPr lang="zh-CN" altLang="en-US" sz="1600" dirty="0"/>
              <a:t>位即</a:t>
            </a:r>
            <a:r>
              <a:rPr lang="en-US" altLang="zh-CN" sz="1600" dirty="0"/>
              <a:t>32B</a:t>
            </a:r>
            <a:r>
              <a:rPr lang="zh-CN" altLang="en-US" sz="1600" dirty="0"/>
              <a:t>是最小粒度，也即</a:t>
            </a:r>
            <a:r>
              <a:rPr lang="en-US" altLang="zh-CN" sz="1600" dirty="0"/>
              <a:t>DRAM</a:t>
            </a:r>
            <a:r>
              <a:rPr lang="zh-CN" altLang="en-US" sz="1600" dirty="0"/>
              <a:t>的预取长度。</a:t>
            </a:r>
            <a:endParaRPr lang="en-US" altLang="zh-CN" sz="16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1329F7B-0F31-747E-513D-DAA6E0694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170489"/>
              </p:ext>
            </p:extLst>
          </p:nvPr>
        </p:nvGraphicFramePr>
        <p:xfrm>
          <a:off x="135855" y="641637"/>
          <a:ext cx="11920290" cy="2072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19282">
                  <a:extLst>
                    <a:ext uri="{9D8B030D-6E8A-4147-A177-3AD203B41FA5}">
                      <a16:colId xmlns:a16="http://schemas.microsoft.com/office/drawing/2014/main" val="1260127818"/>
                    </a:ext>
                  </a:extLst>
                </a:gridCol>
                <a:gridCol w="672752">
                  <a:extLst>
                    <a:ext uri="{9D8B030D-6E8A-4147-A177-3AD203B41FA5}">
                      <a16:colId xmlns:a16="http://schemas.microsoft.com/office/drawing/2014/main" val="22006676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2680483222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1507699129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2578599057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3904562497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4266752486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2016990848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3985920082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3678802732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1410380439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919834002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3614292343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1692425664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93611316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2660897868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3814052091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2499457981"/>
                    </a:ext>
                  </a:extLst>
                </a:gridCol>
              </a:tblGrid>
              <a:tr h="442924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物理</a:t>
                      </a:r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地址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PA[0]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PA[2]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PA[3]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PA[4]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PA[5]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PA[6]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PA[7]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PA[8]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PA[9]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PA[10]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PA[11]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PA[12]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PA[13]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PA[14]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PA[15]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PA[16]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52814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HBM</a:t>
                      </a:r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地址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CA[1]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列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CA[2]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CH[0]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通道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CH[1]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通道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CH[2]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通道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BA[4]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伪通道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BA[2]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BG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CA[3]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列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CA[4]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CA[5]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BA[0]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Bank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BA[1]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Bank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587997"/>
                  </a:ext>
                </a:extLst>
              </a:tr>
              <a:tr h="445604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物理</a:t>
                      </a:r>
                      <a:endParaRPr lang="en-US" altLang="zh-C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地址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PA[17]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PA[18]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PA[19]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PA[20]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PA[21]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PA[22]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PA[23]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PA[24]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PA[25]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PA[26]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PA[27]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PA[28]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PA[29]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PA[30]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PA[31]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PA[32]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PA[33]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404763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HBM</a:t>
                      </a:r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地址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BA[3]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BG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SID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BG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RA[0]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RA[1]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RA[2]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RA[3]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RA[4]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RA[5]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RA[6]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RA[7]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RA[8]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RA[9]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RA[10]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RA[11]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RA[12]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RA[13]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RA[14]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186381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8E2288AA-6B96-9738-0940-79BCD242D98B}"/>
              </a:ext>
            </a:extLst>
          </p:cNvPr>
          <p:cNvSpPr txBox="1"/>
          <p:nvPr/>
        </p:nvSpPr>
        <p:spPr>
          <a:xfrm>
            <a:off x="6486768" y="2988493"/>
            <a:ext cx="532824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effectLst/>
              </a:rPr>
              <a:t>HBM</a:t>
            </a:r>
            <a:r>
              <a:rPr lang="zh-CN" altLang="en-US" sz="1600" b="1" dirty="0">
                <a:effectLst/>
              </a:rPr>
              <a:t>地址线组成</a:t>
            </a:r>
            <a:r>
              <a:rPr lang="zh-CN" altLang="en-US" sz="1600" dirty="0">
                <a:effectLst/>
              </a:rPr>
              <a:t>（</a:t>
            </a:r>
            <a:r>
              <a:rPr lang="en-US" altLang="zh-CN" sz="1600" dirty="0">
                <a:effectLst/>
              </a:rPr>
              <a:t> 34</a:t>
            </a:r>
            <a:r>
              <a:rPr lang="zh-CN" altLang="en-US" sz="1600" dirty="0">
                <a:effectLst/>
              </a:rPr>
              <a:t>位共</a:t>
            </a:r>
            <a:r>
              <a:rPr lang="en-US" altLang="zh-CN" sz="1600" dirty="0">
                <a:effectLst/>
              </a:rPr>
              <a:t>16GB</a:t>
            </a:r>
            <a:r>
              <a:rPr lang="zh-CN" altLang="en-US" sz="1600" dirty="0">
                <a:effectLst/>
              </a:rPr>
              <a:t>） ）：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effectLst/>
              </a:rPr>
              <a:t>3</a:t>
            </a:r>
            <a:r>
              <a:rPr lang="zh-CN" altLang="en-US" sz="1600" dirty="0">
                <a:effectLst/>
              </a:rPr>
              <a:t>位物理通道</a:t>
            </a:r>
            <a:r>
              <a:rPr lang="zh-CN" altLang="en-US" sz="1600" dirty="0"/>
              <a:t>（</a:t>
            </a:r>
            <a:r>
              <a:rPr lang="en-US" altLang="zh-CN" sz="1600" dirty="0"/>
              <a:t>CH[0-2]</a:t>
            </a:r>
            <a:r>
              <a:rPr lang="zh-CN" altLang="en-US" sz="1600" dirty="0"/>
              <a:t>）</a:t>
            </a:r>
            <a:r>
              <a:rPr lang="zh-CN" altLang="en-US" sz="1600" dirty="0">
                <a:effectLst/>
              </a:rPr>
              <a:t>，</a:t>
            </a:r>
            <a:r>
              <a:rPr lang="en-US" altLang="zh-CN" sz="1600" dirty="0">
                <a:effectLst/>
              </a:rPr>
              <a:t>1</a:t>
            </a:r>
            <a:r>
              <a:rPr lang="zh-CN" altLang="en-US" sz="1600" dirty="0">
                <a:effectLst/>
              </a:rPr>
              <a:t>位伪通道（</a:t>
            </a:r>
            <a:r>
              <a:rPr lang="en-US" altLang="zh-CN" sz="1600" dirty="0">
                <a:effectLst/>
              </a:rPr>
              <a:t>BA4</a:t>
            </a:r>
            <a:r>
              <a:rPr lang="zh-CN" altLang="en-US" sz="1600" dirty="0">
                <a:effectLst/>
              </a:rPr>
              <a:t>），</a:t>
            </a:r>
            <a:r>
              <a:rPr lang="en-US" altLang="zh-CN" sz="1600" dirty="0">
                <a:effectLst/>
              </a:rPr>
              <a:t>3</a:t>
            </a:r>
            <a:r>
              <a:rPr lang="zh-CN" altLang="en-US" sz="1600" dirty="0">
                <a:effectLst/>
              </a:rPr>
              <a:t>位</a:t>
            </a:r>
            <a:r>
              <a:rPr lang="en-US" altLang="zh-CN" sz="1600" dirty="0" err="1">
                <a:effectLst/>
              </a:rPr>
              <a:t>BankGroup</a:t>
            </a:r>
            <a:r>
              <a:rPr lang="zh-CN" altLang="en-US" sz="1600" dirty="0">
                <a:effectLst/>
              </a:rPr>
              <a:t>编号（</a:t>
            </a:r>
            <a:r>
              <a:rPr lang="en-US" altLang="zh-CN" sz="1600" dirty="0">
                <a:effectLst/>
              </a:rPr>
              <a:t>SID</a:t>
            </a:r>
            <a:r>
              <a:rPr lang="zh-CN" altLang="en-US" sz="1600" dirty="0">
                <a:effectLst/>
              </a:rPr>
              <a:t>、</a:t>
            </a:r>
            <a:r>
              <a:rPr lang="en-US" altLang="zh-CN" sz="1600" dirty="0">
                <a:effectLst/>
              </a:rPr>
              <a:t>BA[3-2]</a:t>
            </a:r>
            <a:r>
              <a:rPr lang="zh-CN" altLang="en-US" sz="1600" dirty="0">
                <a:effectLst/>
              </a:rPr>
              <a:t>），</a:t>
            </a:r>
            <a:r>
              <a:rPr lang="en-US" altLang="zh-CN" sz="1600" dirty="0">
                <a:effectLst/>
              </a:rPr>
              <a:t>2</a:t>
            </a:r>
            <a:r>
              <a:rPr lang="zh-CN" altLang="en-US" sz="1600" dirty="0">
                <a:effectLst/>
              </a:rPr>
              <a:t>位</a:t>
            </a:r>
            <a:r>
              <a:rPr lang="en-US" altLang="zh-CN" sz="1600" dirty="0">
                <a:effectLst/>
              </a:rPr>
              <a:t>Bank</a:t>
            </a:r>
            <a:r>
              <a:rPr lang="zh-CN" altLang="en-US" sz="1600" dirty="0">
                <a:effectLst/>
              </a:rPr>
              <a:t>编号（</a:t>
            </a:r>
            <a:r>
              <a:rPr lang="en-US" altLang="zh-CN" sz="1600" dirty="0">
                <a:effectLst/>
              </a:rPr>
              <a:t>BA[1-0]</a:t>
            </a:r>
            <a:r>
              <a:rPr lang="zh-CN" altLang="en-US" sz="1600" dirty="0">
                <a:effectLst/>
              </a:rPr>
              <a:t>），</a:t>
            </a:r>
            <a:r>
              <a:rPr lang="en-US" altLang="zh-CN" sz="1600" dirty="0">
                <a:effectLst/>
              </a:rPr>
              <a:t>15</a:t>
            </a:r>
            <a:r>
              <a:rPr lang="zh-CN" altLang="en-US" sz="1600" dirty="0">
                <a:effectLst/>
              </a:rPr>
              <a:t>位行编号（</a:t>
            </a:r>
            <a:r>
              <a:rPr lang="en-US" altLang="zh-CN" sz="1600" dirty="0">
                <a:effectLst/>
              </a:rPr>
              <a:t>RA[14-0]</a:t>
            </a:r>
            <a:r>
              <a:rPr lang="zh-CN" altLang="en-US" sz="1600" dirty="0">
                <a:effectLst/>
              </a:rPr>
              <a:t>），</a:t>
            </a:r>
            <a:r>
              <a:rPr lang="en-US" altLang="zh-CN" sz="1600" dirty="0">
                <a:effectLst/>
              </a:rPr>
              <a:t>10</a:t>
            </a:r>
            <a:r>
              <a:rPr lang="zh-CN" altLang="en-US" sz="1600" dirty="0">
                <a:effectLst/>
              </a:rPr>
              <a:t>位</a:t>
            </a:r>
            <a:r>
              <a:rPr lang="en-US" altLang="zh-CN" sz="1600" dirty="0">
                <a:effectLst/>
              </a:rPr>
              <a:t>Page</a:t>
            </a:r>
            <a:r>
              <a:rPr lang="zh-CN" altLang="en-US" sz="1600" dirty="0">
                <a:effectLst/>
              </a:rPr>
              <a:t>（</a:t>
            </a:r>
            <a:r>
              <a:rPr lang="en-US" altLang="zh-CN" sz="1600" dirty="0">
                <a:effectLst/>
              </a:rPr>
              <a:t>CA[5-1]</a:t>
            </a:r>
            <a:r>
              <a:rPr lang="zh-CN" altLang="en-US" sz="1600" dirty="0">
                <a:effectLst/>
              </a:rPr>
              <a:t>和</a:t>
            </a:r>
            <a:r>
              <a:rPr lang="en-US" altLang="zh-CN" sz="1600" dirty="0">
                <a:effectLst/>
              </a:rPr>
              <a:t>5</a:t>
            </a:r>
            <a:r>
              <a:rPr lang="zh-CN" altLang="en-US" sz="1600" dirty="0">
                <a:effectLst/>
              </a:rPr>
              <a:t>位不可寻址的预取长度）。</a:t>
            </a:r>
            <a:endParaRPr lang="en-US" altLang="zh-CN" sz="1600" dirty="0">
              <a:effectLst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1600" dirty="0">
                <a:effectLst/>
              </a:rPr>
              <a:t>备注：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zh-CN" sz="1600" dirty="0">
                <a:effectLst/>
              </a:rPr>
              <a:t>BA4</a:t>
            </a:r>
            <a:r>
              <a:rPr lang="zh-CN" altLang="en-US" sz="1600" dirty="0">
                <a:effectLst/>
              </a:rPr>
              <a:t>和</a:t>
            </a:r>
            <a:r>
              <a:rPr lang="en-US" altLang="zh-CN" sz="1600" dirty="0">
                <a:effectLst/>
              </a:rPr>
              <a:t>SID</a:t>
            </a:r>
            <a:r>
              <a:rPr lang="zh-CN" altLang="en-US" sz="1600" dirty="0">
                <a:effectLst/>
              </a:rPr>
              <a:t>是两根不同的线。</a:t>
            </a:r>
            <a:endParaRPr lang="en-US" altLang="zh-CN" sz="1600" dirty="0">
              <a:effectLst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zh-CN" sz="1600" dirty="0">
                <a:effectLst/>
              </a:rPr>
              <a:t>5</a:t>
            </a:r>
            <a:r>
              <a:rPr lang="zh-CN" altLang="en-US" sz="1600" dirty="0">
                <a:effectLst/>
              </a:rPr>
              <a:t>位预取长度对应于</a:t>
            </a:r>
            <a:r>
              <a:rPr lang="en-US" altLang="zh-CN" sz="1600" dirty="0">
                <a:effectLst/>
              </a:rPr>
              <a:t>256bit</a:t>
            </a:r>
            <a:r>
              <a:rPr lang="zh-CN" altLang="en-US" sz="1600" dirty="0">
                <a:effectLst/>
              </a:rPr>
              <a:t> </a:t>
            </a:r>
            <a:r>
              <a:rPr lang="en-US" altLang="zh-CN" sz="1600" dirty="0">
                <a:effectLst/>
              </a:rPr>
              <a:t>/</a:t>
            </a:r>
            <a:r>
              <a:rPr lang="zh-CN" altLang="en-US" sz="1600" dirty="0">
                <a:effectLst/>
              </a:rPr>
              <a:t> </a:t>
            </a:r>
            <a:r>
              <a:rPr lang="en-US" altLang="zh-CN" sz="1600" dirty="0">
                <a:effectLst/>
              </a:rPr>
              <a:t>32B</a:t>
            </a:r>
            <a:r>
              <a:rPr lang="zh-CN" altLang="en-US" sz="1600" dirty="0">
                <a:effectLst/>
              </a:rPr>
              <a:t>，</a:t>
            </a:r>
            <a:r>
              <a:rPr lang="en-US" altLang="zh-CN" sz="1600" dirty="0">
                <a:effectLst/>
              </a:rPr>
              <a:t>256bit</a:t>
            </a:r>
            <a:r>
              <a:rPr lang="zh-CN" altLang="en-US" sz="1600" dirty="0">
                <a:effectLst/>
              </a:rPr>
              <a:t> 对应</a:t>
            </a:r>
            <a:r>
              <a:rPr lang="en-US" altLang="zh-CN" sz="1600" dirty="0">
                <a:effectLst/>
              </a:rPr>
              <a:t>Burst</a:t>
            </a:r>
            <a:r>
              <a:rPr lang="zh-CN" altLang="en-US" sz="1600" dirty="0">
                <a:effectLst/>
              </a:rPr>
              <a:t> </a:t>
            </a:r>
            <a:r>
              <a:rPr lang="en-US" altLang="zh-CN" sz="1600" dirty="0">
                <a:effectLst/>
              </a:rPr>
              <a:t>Length=4 </a:t>
            </a:r>
            <a:r>
              <a:rPr lang="zh-CN" altLang="en-US" sz="1600" dirty="0">
                <a:effectLst/>
              </a:rPr>
              <a:t>下的</a:t>
            </a:r>
            <a:r>
              <a:rPr lang="en-US" altLang="zh-CN" sz="1600" dirty="0">
                <a:effectLst/>
              </a:rPr>
              <a:t>64</a:t>
            </a:r>
            <a:r>
              <a:rPr lang="zh-CN" altLang="en-US" sz="1600" dirty="0"/>
              <a:t>位</a:t>
            </a:r>
            <a:r>
              <a:rPr lang="en-US" altLang="zh-CN" sz="1600" dirty="0">
                <a:effectLst/>
              </a:rPr>
              <a:t>DQ</a:t>
            </a:r>
            <a:r>
              <a:rPr lang="zh-CN" altLang="en-US" sz="1600" dirty="0">
                <a:effectLst/>
              </a:rPr>
              <a:t>（每个伪通道</a:t>
            </a:r>
            <a:r>
              <a:rPr lang="en-US" altLang="zh-CN" sz="1600" dirty="0"/>
              <a:t>64</a:t>
            </a:r>
            <a:r>
              <a:rPr lang="zh-CN" altLang="en-US" sz="1600" dirty="0"/>
              <a:t>位</a:t>
            </a:r>
            <a:r>
              <a:rPr lang="en-US" altLang="zh-CN" sz="1600" dirty="0"/>
              <a:t>DQ</a:t>
            </a:r>
            <a:r>
              <a:rPr lang="zh-CN" altLang="en-US" sz="1600" dirty="0">
                <a:effectLst/>
              </a:rPr>
              <a:t>）。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zh-CN" altLang="en-US" sz="1600" dirty="0"/>
              <a:t>在伪通道模式中，</a:t>
            </a:r>
            <a:r>
              <a:rPr lang="zh-CN" altLang="en-US" sz="1600" dirty="0">
                <a:effectLst/>
              </a:rPr>
              <a:t>所有的</a:t>
            </a:r>
            <a:r>
              <a:rPr lang="en-US" altLang="zh-CN" sz="1600" dirty="0">
                <a:effectLst/>
              </a:rPr>
              <a:t>Bank</a:t>
            </a:r>
            <a:r>
              <a:rPr lang="zh-CN" altLang="en-US" sz="1600" dirty="0">
                <a:effectLst/>
              </a:rPr>
              <a:t>都被</a:t>
            </a:r>
            <a:r>
              <a:rPr lang="en-US" altLang="zh-CN" sz="1600" dirty="0">
                <a:effectLst/>
              </a:rPr>
              <a:t>0</a:t>
            </a:r>
            <a:r>
              <a:rPr lang="zh-CN" altLang="en-US" sz="1600" dirty="0">
                <a:effectLst/>
              </a:rPr>
              <a:t>和</a:t>
            </a:r>
            <a:r>
              <a:rPr lang="en-US" altLang="zh-CN" sz="1600" dirty="0">
                <a:effectLst/>
              </a:rPr>
              <a:t>1</a:t>
            </a:r>
            <a:r>
              <a:rPr lang="zh-CN" altLang="en-US" sz="1600" dirty="0">
                <a:effectLst/>
              </a:rPr>
              <a:t>两个伪通道共享，所以</a:t>
            </a:r>
            <a:r>
              <a:rPr lang="zh-CN" altLang="en-US" sz="1600" dirty="0"/>
              <a:t>伪通道</a:t>
            </a:r>
            <a:r>
              <a:rPr lang="zh-CN" altLang="en-US" sz="1600" dirty="0">
                <a:effectLst/>
              </a:rPr>
              <a:t>模式中</a:t>
            </a:r>
            <a:r>
              <a:rPr lang="en-US" altLang="zh-CN" sz="1600" dirty="0">
                <a:effectLst/>
              </a:rPr>
              <a:t>Page Size</a:t>
            </a:r>
            <a:r>
              <a:rPr lang="zh-CN" altLang="en-US" sz="1600" dirty="0">
                <a:effectLst/>
              </a:rPr>
              <a:t>相比关闭伪通道要少一半，</a:t>
            </a:r>
            <a:r>
              <a:rPr lang="en-US" altLang="zh-CN" sz="1600" dirty="0">
                <a:effectLst/>
              </a:rPr>
              <a:t>CA[0]</a:t>
            </a:r>
            <a:r>
              <a:rPr lang="zh-CN" altLang="en-US" sz="1600" dirty="0">
                <a:effectLst/>
              </a:rPr>
              <a:t>没有实际意义。</a:t>
            </a:r>
            <a:endParaRPr kumimoji="1" lang="zh-CN" altLang="en-US" sz="1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928C07-5B46-CD1C-C76D-47B1DE4426F8}"/>
              </a:ext>
            </a:extLst>
          </p:cNvPr>
          <p:cNvSpPr txBox="1"/>
          <p:nvPr/>
        </p:nvSpPr>
        <p:spPr>
          <a:xfrm>
            <a:off x="135855" y="2671589"/>
            <a:ext cx="7612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FF0000"/>
                </a:solidFill>
              </a:rPr>
              <a:t>备注：</a:t>
            </a:r>
            <a:r>
              <a:rPr kumimoji="1" lang="en-US" altLang="zh-CN" sz="1400" dirty="0">
                <a:solidFill>
                  <a:srgbClr val="FF0000"/>
                </a:solidFill>
              </a:rPr>
              <a:t>CA[2]</a:t>
            </a:r>
            <a:r>
              <a:rPr kumimoji="1" lang="zh-CN" altLang="en-US" sz="1400" dirty="0">
                <a:solidFill>
                  <a:srgbClr val="FF0000"/>
                </a:solidFill>
              </a:rPr>
              <a:t>和</a:t>
            </a:r>
            <a:r>
              <a:rPr kumimoji="1" lang="en-US" altLang="zh-CN" sz="1400" dirty="0">
                <a:solidFill>
                  <a:srgbClr val="FF0000"/>
                </a:solidFill>
              </a:rPr>
              <a:t>BA[2]</a:t>
            </a:r>
            <a:r>
              <a:rPr kumimoji="1" lang="zh-CN" altLang="en-US" sz="1400" dirty="0">
                <a:solidFill>
                  <a:srgbClr val="FF0000"/>
                </a:solidFill>
              </a:rPr>
              <a:t>的位置和</a:t>
            </a:r>
            <a:r>
              <a:rPr kumimoji="1" lang="en-US" altLang="zh-CN" sz="1400" dirty="0">
                <a:solidFill>
                  <a:srgbClr val="FF0000"/>
                </a:solidFill>
              </a:rPr>
              <a:t>JNS</a:t>
            </a:r>
            <a:r>
              <a:rPr kumimoji="1" lang="zh-CN" altLang="en-US" sz="1400" dirty="0">
                <a:solidFill>
                  <a:srgbClr val="FF0000"/>
                </a:solidFill>
              </a:rPr>
              <a:t>给的版本不同，大家对这个结论可以有自己的质疑和思考</a:t>
            </a:r>
          </a:p>
        </p:txBody>
      </p:sp>
    </p:spTree>
    <p:extLst>
      <p:ext uri="{BB962C8B-B14F-4D97-AF65-F5344CB8AC3E}">
        <p14:creationId xmlns:p14="http://schemas.microsoft.com/office/powerpoint/2010/main" val="4081766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361950" y="6398036"/>
            <a:ext cx="11367943" cy="295144"/>
            <a:chOff x="371475" y="4964836"/>
            <a:chExt cx="11367943" cy="295144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71475" y="5125367"/>
              <a:ext cx="10521084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1341100" y="5125367"/>
              <a:ext cx="398318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0886209" y="4964836"/>
              <a:ext cx="454891" cy="295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0103" y="352983"/>
            <a:ext cx="7481981" cy="541920"/>
            <a:chOff x="0" y="338431"/>
            <a:chExt cx="7481981" cy="541920"/>
          </a:xfrm>
        </p:grpSpPr>
        <p:sp>
          <p:nvSpPr>
            <p:cNvPr id="5" name="矩形 4"/>
            <p:cNvSpPr/>
            <p:nvPr/>
          </p:nvSpPr>
          <p:spPr>
            <a:xfrm>
              <a:off x="0" y="348602"/>
              <a:ext cx="101600" cy="531749"/>
            </a:xfrm>
            <a:prstGeom prst="rect">
              <a:avLst/>
            </a:prstGeom>
            <a:solidFill>
              <a:srgbClr val="E26C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35003" y="338431"/>
              <a:ext cx="7246978" cy="531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Mesh</a:t>
              </a:r>
              <a:r>
                <a:rPr lang="zh-CN" altLang="en-US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RMA</a:t>
              </a:r>
              <a:r>
                <a:rPr lang="zh-CN" altLang="en-US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主要性能问题总结</a:t>
              </a: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2E4AA64A-04CF-D5C3-4D18-9B57F6482E2F}"/>
              </a:ext>
            </a:extLst>
          </p:cNvPr>
          <p:cNvSpPr txBox="1"/>
          <p:nvPr/>
        </p:nvSpPr>
        <p:spPr>
          <a:xfrm>
            <a:off x="170104" y="1075461"/>
            <a:ext cx="574578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700" dirty="0"/>
              <a:t>RMA</a:t>
            </a:r>
            <a:r>
              <a:rPr kumimoji="1" lang="zh-CN" altLang="en-US" sz="1700" dirty="0"/>
              <a:t>经过的硬件通路较为简单，只有</a:t>
            </a:r>
            <a:r>
              <a:rPr kumimoji="1" lang="en-US" altLang="zh-CN" sz="1700" dirty="0"/>
              <a:t>Mesh</a:t>
            </a:r>
            <a:r>
              <a:rPr kumimoji="1" lang="zh-CN" altLang="en-US" sz="1700" dirty="0"/>
              <a:t>，因此对</a:t>
            </a:r>
            <a:r>
              <a:rPr kumimoji="1" lang="en-US" altLang="zh-CN" sz="1700" dirty="0"/>
              <a:t>RMA</a:t>
            </a:r>
            <a:r>
              <a:rPr kumimoji="1" lang="zh-CN" altLang="en-US" sz="1700" dirty="0"/>
              <a:t>进行性能分析就可以获得</a:t>
            </a:r>
            <a:r>
              <a:rPr kumimoji="1" lang="en-US" altLang="zh-CN" sz="1700" dirty="0"/>
              <a:t>Mesh</a:t>
            </a:r>
            <a:r>
              <a:rPr kumimoji="1" lang="zh-CN" altLang="en-US" sz="1700" dirty="0"/>
              <a:t>的主要特性，简化后续</a:t>
            </a:r>
            <a:r>
              <a:rPr kumimoji="1" lang="en-US" altLang="zh-CN" sz="1700" dirty="0"/>
              <a:t>DMA</a:t>
            </a:r>
            <a:r>
              <a:rPr kumimoji="1" lang="zh-CN" altLang="en-US" sz="1700" dirty="0"/>
              <a:t>性能分析的困难。</a:t>
            </a:r>
            <a:endParaRPr kumimoji="1" lang="en-US" altLang="zh-CN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rgbClr val="FF0000"/>
                </a:solidFill>
              </a:rPr>
              <a:t>RMA</a:t>
            </a:r>
            <a:r>
              <a:rPr kumimoji="1" lang="zh-CN" altLang="en-US" b="1" dirty="0">
                <a:solidFill>
                  <a:srgbClr val="FF0000"/>
                </a:solidFill>
              </a:rPr>
              <a:t>性能特性</a:t>
            </a:r>
            <a:r>
              <a:rPr kumimoji="1" lang="zh-CN" altLang="en-US" dirty="0"/>
              <a:t>：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 b="1" dirty="0"/>
              <a:t>横纵冲突</a:t>
            </a:r>
            <a:r>
              <a:rPr kumimoji="1" lang="zh-CN" altLang="en-US" sz="1700" dirty="0"/>
              <a:t>：横向带宽和纵向带宽共享同一根进从核的线，所以即使同时使用横纵向通信，单向带宽上限依旧为</a:t>
            </a:r>
            <a:r>
              <a:rPr kumimoji="1" lang="en-US" altLang="zh-CN" sz="1700" dirty="0"/>
              <a:t>64GB/s</a:t>
            </a:r>
            <a:r>
              <a:rPr kumimoji="1" lang="zh-CN" altLang="en-US" sz="1700" dirty="0"/>
              <a:t>，无法实现</a:t>
            </a:r>
            <a:r>
              <a:rPr kumimoji="1" lang="en-US" altLang="zh-CN" sz="1700" dirty="0"/>
              <a:t>128GB/s</a:t>
            </a:r>
            <a:r>
              <a:rPr kumimoji="1" lang="zh-CN" altLang="en-US" sz="1700" dirty="0"/>
              <a:t>。</a:t>
            </a:r>
            <a:endParaRPr kumimoji="1" lang="en-US" altLang="zh-CN" sz="17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 b="1" dirty="0"/>
              <a:t>读写冲突</a:t>
            </a:r>
            <a:r>
              <a:rPr kumimoji="1" lang="zh-CN" altLang="en-US" sz="1700" dirty="0"/>
              <a:t>：当一个从核同时有读写方向等量的流量时，两个方向的带宽都会从</a:t>
            </a:r>
            <a:r>
              <a:rPr kumimoji="1" lang="en-US" altLang="zh-CN" sz="1700" dirty="0"/>
              <a:t>64GB/s</a:t>
            </a:r>
            <a:r>
              <a:rPr kumimoji="1" lang="zh-CN" altLang="en-US" sz="1700" dirty="0"/>
              <a:t>降为</a:t>
            </a:r>
            <a:r>
              <a:rPr kumimoji="1" lang="en-US" altLang="zh-CN" sz="1700" dirty="0">
                <a:highlight>
                  <a:srgbClr val="FCC129"/>
                </a:highlight>
              </a:rPr>
              <a:t>53GB/s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 b="1" dirty="0"/>
              <a:t>广播性能</a:t>
            </a:r>
            <a:r>
              <a:rPr kumimoji="1" lang="zh-CN" altLang="en-US" sz="1700" dirty="0"/>
              <a:t>：</a:t>
            </a:r>
            <a:r>
              <a:rPr kumimoji="1" lang="en-US" altLang="zh-CN" sz="1700" dirty="0"/>
              <a:t>RMA</a:t>
            </a:r>
            <a:r>
              <a:rPr kumimoji="1" lang="zh-CN" altLang="en-US" sz="1700" dirty="0"/>
              <a:t>广播分为向自己发送数据和不向自己发送数据的两种用法，前者会产生冲突掉速，带宽约为</a:t>
            </a:r>
            <a:r>
              <a:rPr kumimoji="1" lang="en-US" altLang="zh-CN" sz="1700" dirty="0"/>
              <a:t>39GB/s</a:t>
            </a:r>
            <a:r>
              <a:rPr kumimoji="1" lang="zh-CN" altLang="en-US" sz="1700" dirty="0"/>
              <a:t>，后者</a:t>
            </a:r>
            <a:r>
              <a:rPr kumimoji="1" lang="zh-CN" altLang="en-US" sz="1700" dirty="0">
                <a:highlight>
                  <a:srgbClr val="FCC129"/>
                </a:highlight>
              </a:rPr>
              <a:t>带宽约为</a:t>
            </a:r>
            <a:r>
              <a:rPr kumimoji="1" lang="en-US" altLang="zh-CN" sz="1700" dirty="0">
                <a:highlight>
                  <a:srgbClr val="FCC129"/>
                </a:highlight>
              </a:rPr>
              <a:t>60GB/s</a:t>
            </a:r>
            <a:r>
              <a:rPr kumimoji="1" lang="zh-CN" altLang="en-US" sz="1700" dirty="0"/>
              <a:t>（</a:t>
            </a:r>
            <a:r>
              <a:rPr kumimoji="1" lang="zh-CN" altLang="en-US" sz="1700" dirty="0">
                <a:highlight>
                  <a:srgbClr val="FCC129"/>
                </a:highlight>
              </a:rPr>
              <a:t>大家默认使用的是</a:t>
            </a:r>
            <a:r>
              <a:rPr kumimoji="1" lang="en-US" altLang="zh-CN" sz="1700" dirty="0">
                <a:highlight>
                  <a:srgbClr val="FCC129"/>
                </a:highlight>
              </a:rPr>
              <a:t>39GB/s</a:t>
            </a:r>
            <a:r>
              <a:rPr kumimoji="1" lang="zh-CN" altLang="en-US" sz="1700" dirty="0">
                <a:highlight>
                  <a:srgbClr val="FCC129"/>
                </a:highlight>
              </a:rPr>
              <a:t>的版本</a:t>
            </a:r>
            <a:r>
              <a:rPr kumimoji="1" lang="zh-CN" altLang="en-US" sz="1700" dirty="0"/>
              <a:t>）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D485523-F461-DCE3-2040-166B4B49FB25}"/>
              </a:ext>
            </a:extLst>
          </p:cNvPr>
          <p:cNvSpPr/>
          <p:nvPr/>
        </p:nvSpPr>
        <p:spPr>
          <a:xfrm>
            <a:off x="6096000" y="2342595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9BAD78C-B032-ECEB-73A1-BADECBB43FE3}"/>
              </a:ext>
            </a:extLst>
          </p:cNvPr>
          <p:cNvSpPr/>
          <p:nvPr/>
        </p:nvSpPr>
        <p:spPr>
          <a:xfrm>
            <a:off x="6815911" y="2342594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BE2A6A3-28F1-4615-1862-41090C61ADF5}"/>
              </a:ext>
            </a:extLst>
          </p:cNvPr>
          <p:cNvSpPr/>
          <p:nvPr/>
        </p:nvSpPr>
        <p:spPr>
          <a:xfrm>
            <a:off x="6096000" y="3051692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AF1F110-CA80-F868-E311-D93E6B266D57}"/>
              </a:ext>
            </a:extLst>
          </p:cNvPr>
          <p:cNvSpPr/>
          <p:nvPr/>
        </p:nvSpPr>
        <p:spPr>
          <a:xfrm>
            <a:off x="6815911" y="3051692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62361D10-3B29-9691-2D32-53449768D72B}"/>
              </a:ext>
            </a:extLst>
          </p:cNvPr>
          <p:cNvSpPr/>
          <p:nvPr/>
        </p:nvSpPr>
        <p:spPr>
          <a:xfrm>
            <a:off x="7527822" y="2342595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E0308061-6D8B-5344-9FF8-54617132C41F}"/>
              </a:ext>
            </a:extLst>
          </p:cNvPr>
          <p:cNvSpPr/>
          <p:nvPr/>
        </p:nvSpPr>
        <p:spPr>
          <a:xfrm>
            <a:off x="8247733" y="2342594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3DD378CA-61EB-BC28-49E5-DA3D935B44F9}"/>
              </a:ext>
            </a:extLst>
          </p:cNvPr>
          <p:cNvSpPr/>
          <p:nvPr/>
        </p:nvSpPr>
        <p:spPr>
          <a:xfrm>
            <a:off x="7527822" y="3051692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D6C3B4F-DEAD-F4D2-0D3D-DE11AD3752B6}"/>
              </a:ext>
            </a:extLst>
          </p:cNvPr>
          <p:cNvSpPr/>
          <p:nvPr/>
        </p:nvSpPr>
        <p:spPr>
          <a:xfrm>
            <a:off x="8247733" y="3051692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338B8DFA-E455-7679-D903-CCE2E60AA550}"/>
              </a:ext>
            </a:extLst>
          </p:cNvPr>
          <p:cNvSpPr/>
          <p:nvPr/>
        </p:nvSpPr>
        <p:spPr>
          <a:xfrm>
            <a:off x="8959644" y="2342595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7CADA64A-3E2D-592B-378E-3281BEB88935}"/>
              </a:ext>
            </a:extLst>
          </p:cNvPr>
          <p:cNvSpPr/>
          <p:nvPr/>
        </p:nvSpPr>
        <p:spPr>
          <a:xfrm>
            <a:off x="9679555" y="2342594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FD640A56-2167-D6D2-CC17-65D701FBBA22}"/>
              </a:ext>
            </a:extLst>
          </p:cNvPr>
          <p:cNvSpPr/>
          <p:nvPr/>
        </p:nvSpPr>
        <p:spPr>
          <a:xfrm>
            <a:off x="8959644" y="3051692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40715A0F-000D-3B9C-00C1-0102C5C6329C}"/>
              </a:ext>
            </a:extLst>
          </p:cNvPr>
          <p:cNvSpPr/>
          <p:nvPr/>
        </p:nvSpPr>
        <p:spPr>
          <a:xfrm>
            <a:off x="9679555" y="3051692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57740E4-5C2C-3B0A-C633-C003B4723A64}"/>
              </a:ext>
            </a:extLst>
          </p:cNvPr>
          <p:cNvSpPr/>
          <p:nvPr/>
        </p:nvSpPr>
        <p:spPr>
          <a:xfrm>
            <a:off x="10398506" y="2341827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008F7F44-3A0C-285F-AC75-D7282E3182BC}"/>
              </a:ext>
            </a:extLst>
          </p:cNvPr>
          <p:cNvSpPr/>
          <p:nvPr/>
        </p:nvSpPr>
        <p:spPr>
          <a:xfrm>
            <a:off x="11118417" y="2341826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22C808F4-8FCB-6430-E50C-6A21224B02B6}"/>
              </a:ext>
            </a:extLst>
          </p:cNvPr>
          <p:cNvSpPr/>
          <p:nvPr/>
        </p:nvSpPr>
        <p:spPr>
          <a:xfrm>
            <a:off x="10398506" y="3050924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EEF8C22B-A32F-3405-D39B-FD41DC9CD63A}"/>
              </a:ext>
            </a:extLst>
          </p:cNvPr>
          <p:cNvSpPr/>
          <p:nvPr/>
        </p:nvSpPr>
        <p:spPr>
          <a:xfrm>
            <a:off x="11118417" y="3050924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336C1E9E-8D35-FF4E-EB17-CEEC21BB5C24}"/>
              </a:ext>
            </a:extLst>
          </p:cNvPr>
          <p:cNvSpPr/>
          <p:nvPr/>
        </p:nvSpPr>
        <p:spPr>
          <a:xfrm>
            <a:off x="6102016" y="3747222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AAC33C70-C2C3-C8A1-595B-F258A9E8618B}"/>
              </a:ext>
            </a:extLst>
          </p:cNvPr>
          <p:cNvSpPr/>
          <p:nvPr/>
        </p:nvSpPr>
        <p:spPr>
          <a:xfrm>
            <a:off x="6821927" y="3747221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A4534D05-0384-96C9-9350-891FE76B558E}"/>
              </a:ext>
            </a:extLst>
          </p:cNvPr>
          <p:cNvSpPr/>
          <p:nvPr/>
        </p:nvSpPr>
        <p:spPr>
          <a:xfrm>
            <a:off x="6102016" y="4456319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E39D3747-C75D-FE0A-E497-5C533F958AAD}"/>
              </a:ext>
            </a:extLst>
          </p:cNvPr>
          <p:cNvSpPr/>
          <p:nvPr/>
        </p:nvSpPr>
        <p:spPr>
          <a:xfrm>
            <a:off x="6821927" y="4456319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A13C5144-CE27-F8E0-4F92-4E29284CD4A3}"/>
              </a:ext>
            </a:extLst>
          </p:cNvPr>
          <p:cNvSpPr/>
          <p:nvPr/>
        </p:nvSpPr>
        <p:spPr>
          <a:xfrm>
            <a:off x="7533838" y="3747222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A9A7E928-DFDF-D26D-8529-0A2175E9FFF2}"/>
              </a:ext>
            </a:extLst>
          </p:cNvPr>
          <p:cNvSpPr/>
          <p:nvPr/>
        </p:nvSpPr>
        <p:spPr>
          <a:xfrm>
            <a:off x="8253749" y="3747221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238F92B9-51ED-0C8E-C7E9-E79B796AAF44}"/>
              </a:ext>
            </a:extLst>
          </p:cNvPr>
          <p:cNvSpPr/>
          <p:nvPr/>
        </p:nvSpPr>
        <p:spPr>
          <a:xfrm>
            <a:off x="7533838" y="4456319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DECDC6FD-4EA2-71B8-B56E-1F2EAC54964F}"/>
              </a:ext>
            </a:extLst>
          </p:cNvPr>
          <p:cNvSpPr/>
          <p:nvPr/>
        </p:nvSpPr>
        <p:spPr>
          <a:xfrm>
            <a:off x="8253749" y="4456319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EA42E732-2201-7A8F-3ED9-D658ABACA700}"/>
              </a:ext>
            </a:extLst>
          </p:cNvPr>
          <p:cNvSpPr/>
          <p:nvPr/>
        </p:nvSpPr>
        <p:spPr>
          <a:xfrm>
            <a:off x="8965660" y="3747222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ADF4B3A0-EC2A-300B-6689-5DFC4B29409F}"/>
              </a:ext>
            </a:extLst>
          </p:cNvPr>
          <p:cNvSpPr/>
          <p:nvPr/>
        </p:nvSpPr>
        <p:spPr>
          <a:xfrm>
            <a:off x="9685571" y="3747221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F4AE7FFC-FF5A-47C6-A47F-5D28BD729E4E}"/>
              </a:ext>
            </a:extLst>
          </p:cNvPr>
          <p:cNvSpPr/>
          <p:nvPr/>
        </p:nvSpPr>
        <p:spPr>
          <a:xfrm>
            <a:off x="8965660" y="4456319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B1DF0326-EF2E-1F5D-43A0-5E0E46099609}"/>
              </a:ext>
            </a:extLst>
          </p:cNvPr>
          <p:cNvSpPr/>
          <p:nvPr/>
        </p:nvSpPr>
        <p:spPr>
          <a:xfrm>
            <a:off x="9685571" y="4456319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3A15EA78-617B-E1B0-4FA7-75A3D4C7A122}"/>
              </a:ext>
            </a:extLst>
          </p:cNvPr>
          <p:cNvSpPr/>
          <p:nvPr/>
        </p:nvSpPr>
        <p:spPr>
          <a:xfrm>
            <a:off x="10404522" y="3746454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6366802F-280E-8502-015A-229C2B5C77C9}"/>
              </a:ext>
            </a:extLst>
          </p:cNvPr>
          <p:cNvSpPr/>
          <p:nvPr/>
        </p:nvSpPr>
        <p:spPr>
          <a:xfrm>
            <a:off x="11124433" y="3746453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64C08DF9-37FC-1165-E5F2-A4B72037B1B3}"/>
              </a:ext>
            </a:extLst>
          </p:cNvPr>
          <p:cNvSpPr/>
          <p:nvPr/>
        </p:nvSpPr>
        <p:spPr>
          <a:xfrm>
            <a:off x="10404522" y="4455551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B6228E7C-6FE4-C283-2868-D45DEF52B834}"/>
              </a:ext>
            </a:extLst>
          </p:cNvPr>
          <p:cNvSpPr/>
          <p:nvPr/>
        </p:nvSpPr>
        <p:spPr>
          <a:xfrm>
            <a:off x="11124433" y="4455551"/>
            <a:ext cx="348916" cy="37297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4CE90245-0BF6-1AD7-F86B-1387B0E88441}"/>
              </a:ext>
            </a:extLst>
          </p:cNvPr>
          <p:cNvCxnSpPr>
            <a:cxnSpLocks/>
          </p:cNvCxnSpPr>
          <p:nvPr/>
        </p:nvCxnSpPr>
        <p:spPr>
          <a:xfrm>
            <a:off x="6096000" y="2871986"/>
            <a:ext cx="569695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98743C81-7A73-1B1C-31FD-82CAD572A590}"/>
              </a:ext>
            </a:extLst>
          </p:cNvPr>
          <p:cNvCxnSpPr>
            <a:cxnSpLocks/>
          </p:cNvCxnSpPr>
          <p:nvPr/>
        </p:nvCxnSpPr>
        <p:spPr>
          <a:xfrm>
            <a:off x="6111167" y="3610174"/>
            <a:ext cx="569695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A617FADE-4B23-9E0D-5715-49E63F4F93A6}"/>
              </a:ext>
            </a:extLst>
          </p:cNvPr>
          <p:cNvCxnSpPr>
            <a:cxnSpLocks/>
          </p:cNvCxnSpPr>
          <p:nvPr/>
        </p:nvCxnSpPr>
        <p:spPr>
          <a:xfrm>
            <a:off x="6111167" y="4310261"/>
            <a:ext cx="569695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F3D74597-EB93-04F9-44D6-BCD4772EA2B6}"/>
              </a:ext>
            </a:extLst>
          </p:cNvPr>
          <p:cNvCxnSpPr>
            <a:cxnSpLocks/>
          </p:cNvCxnSpPr>
          <p:nvPr/>
        </p:nvCxnSpPr>
        <p:spPr>
          <a:xfrm>
            <a:off x="6111167" y="5038923"/>
            <a:ext cx="569695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0D3EF4D9-3FBB-4242-49A3-8745B9E782D4}"/>
              </a:ext>
            </a:extLst>
          </p:cNvPr>
          <p:cNvCxnSpPr>
            <a:cxnSpLocks/>
          </p:cNvCxnSpPr>
          <p:nvPr/>
        </p:nvCxnSpPr>
        <p:spPr>
          <a:xfrm flipH="1">
            <a:off x="6590799" y="2087121"/>
            <a:ext cx="19627" cy="2951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0C35C71F-E1AE-517F-129C-C11E6543100F}"/>
              </a:ext>
            </a:extLst>
          </p:cNvPr>
          <p:cNvCxnSpPr>
            <a:cxnSpLocks/>
          </p:cNvCxnSpPr>
          <p:nvPr/>
        </p:nvCxnSpPr>
        <p:spPr>
          <a:xfrm>
            <a:off x="7364589" y="2087121"/>
            <a:ext cx="7260" cy="29234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4B1BF8E7-3B13-0E14-46B6-2BF17FF871D9}"/>
              </a:ext>
            </a:extLst>
          </p:cNvPr>
          <p:cNvCxnSpPr>
            <a:cxnSpLocks/>
          </p:cNvCxnSpPr>
          <p:nvPr/>
        </p:nvCxnSpPr>
        <p:spPr>
          <a:xfrm>
            <a:off x="8100511" y="2087121"/>
            <a:ext cx="0" cy="2951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8A293A08-5D90-5A41-4413-090FFE801CE1}"/>
              </a:ext>
            </a:extLst>
          </p:cNvPr>
          <p:cNvCxnSpPr>
            <a:cxnSpLocks/>
          </p:cNvCxnSpPr>
          <p:nvPr/>
        </p:nvCxnSpPr>
        <p:spPr>
          <a:xfrm>
            <a:off x="8800599" y="2087121"/>
            <a:ext cx="0" cy="2951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7B9248DA-C43C-73C2-31F3-904B9D2E8A8F}"/>
              </a:ext>
            </a:extLst>
          </p:cNvPr>
          <p:cNvCxnSpPr>
            <a:cxnSpLocks/>
          </p:cNvCxnSpPr>
          <p:nvPr/>
        </p:nvCxnSpPr>
        <p:spPr>
          <a:xfrm>
            <a:off x="9529260" y="2073619"/>
            <a:ext cx="1" cy="2936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连接符 59">
            <a:extLst>
              <a:ext uri="{FF2B5EF4-FFF2-40B4-BE49-F238E27FC236}">
                <a16:creationId xmlns:a16="http://schemas.microsoft.com/office/drawing/2014/main" id="{BD0876BF-42C5-31C8-75C2-4A5A9FC12F7D}"/>
              </a:ext>
            </a:extLst>
          </p:cNvPr>
          <p:cNvCxnSpPr>
            <a:cxnSpLocks/>
          </p:cNvCxnSpPr>
          <p:nvPr/>
        </p:nvCxnSpPr>
        <p:spPr>
          <a:xfrm>
            <a:off x="10235861" y="2087121"/>
            <a:ext cx="7775" cy="2961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B98B6A86-2D77-3F6A-B15E-9CFCDEC94956}"/>
              </a:ext>
            </a:extLst>
          </p:cNvPr>
          <p:cNvCxnSpPr>
            <a:cxnSpLocks/>
          </p:cNvCxnSpPr>
          <p:nvPr/>
        </p:nvCxnSpPr>
        <p:spPr>
          <a:xfrm>
            <a:off x="10972298" y="2063691"/>
            <a:ext cx="1" cy="2984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AE5BF995-FE0B-3208-FB07-18AA85DE44D3}"/>
              </a:ext>
            </a:extLst>
          </p:cNvPr>
          <p:cNvCxnSpPr/>
          <p:nvPr/>
        </p:nvCxnSpPr>
        <p:spPr>
          <a:xfrm>
            <a:off x="6444916" y="2714805"/>
            <a:ext cx="145883" cy="157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F7F21F18-A8B3-390B-5485-61AD336A6B05}"/>
              </a:ext>
            </a:extLst>
          </p:cNvPr>
          <p:cNvCxnSpPr>
            <a:cxnSpLocks/>
          </p:cNvCxnSpPr>
          <p:nvPr/>
        </p:nvCxnSpPr>
        <p:spPr>
          <a:xfrm>
            <a:off x="7164827" y="2720695"/>
            <a:ext cx="207021" cy="160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菱形 63">
            <a:extLst>
              <a:ext uri="{FF2B5EF4-FFF2-40B4-BE49-F238E27FC236}">
                <a16:creationId xmlns:a16="http://schemas.microsoft.com/office/drawing/2014/main" id="{55553AD3-F17C-1F07-3EA8-446764A0D785}"/>
              </a:ext>
            </a:extLst>
          </p:cNvPr>
          <p:cNvSpPr/>
          <p:nvPr/>
        </p:nvSpPr>
        <p:spPr>
          <a:xfrm>
            <a:off x="6524437" y="2775321"/>
            <a:ext cx="145883" cy="17893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菱形 64">
            <a:extLst>
              <a:ext uri="{FF2B5EF4-FFF2-40B4-BE49-F238E27FC236}">
                <a16:creationId xmlns:a16="http://schemas.microsoft.com/office/drawing/2014/main" id="{A135F65D-EBEC-D2F4-5E34-790177CEB546}"/>
              </a:ext>
            </a:extLst>
          </p:cNvPr>
          <p:cNvSpPr/>
          <p:nvPr/>
        </p:nvSpPr>
        <p:spPr>
          <a:xfrm>
            <a:off x="7291651" y="2769881"/>
            <a:ext cx="145883" cy="17893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菱形 65">
            <a:extLst>
              <a:ext uri="{FF2B5EF4-FFF2-40B4-BE49-F238E27FC236}">
                <a16:creationId xmlns:a16="http://schemas.microsoft.com/office/drawing/2014/main" id="{8F3522A4-5436-D69B-BAEB-C5903E72D6AC}"/>
              </a:ext>
            </a:extLst>
          </p:cNvPr>
          <p:cNvSpPr/>
          <p:nvPr/>
        </p:nvSpPr>
        <p:spPr>
          <a:xfrm>
            <a:off x="8026127" y="2778580"/>
            <a:ext cx="145883" cy="17893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002D232C-D90D-EF6A-4641-904C8D3FB142}"/>
              </a:ext>
            </a:extLst>
          </p:cNvPr>
          <p:cNvSpPr/>
          <p:nvPr/>
        </p:nvSpPr>
        <p:spPr>
          <a:xfrm>
            <a:off x="6518310" y="3520455"/>
            <a:ext cx="145883" cy="17893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8994D17A-193A-4ADE-7B5F-229F89676550}"/>
              </a:ext>
            </a:extLst>
          </p:cNvPr>
          <p:cNvCxnSpPr>
            <a:cxnSpLocks/>
          </p:cNvCxnSpPr>
          <p:nvPr/>
        </p:nvCxnSpPr>
        <p:spPr>
          <a:xfrm>
            <a:off x="7871684" y="2691803"/>
            <a:ext cx="207021" cy="160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1D6A1EF1-0B2A-887D-15CD-FB0F00D7D47D}"/>
              </a:ext>
            </a:extLst>
          </p:cNvPr>
          <p:cNvCxnSpPr>
            <a:cxnSpLocks/>
          </p:cNvCxnSpPr>
          <p:nvPr/>
        </p:nvCxnSpPr>
        <p:spPr>
          <a:xfrm>
            <a:off x="6403405" y="3430910"/>
            <a:ext cx="207021" cy="160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26A62DEF-AFAF-B2AD-4DE5-266008E30152}"/>
              </a:ext>
            </a:extLst>
          </p:cNvPr>
          <p:cNvSpPr/>
          <p:nvPr/>
        </p:nvSpPr>
        <p:spPr>
          <a:xfrm>
            <a:off x="6096000" y="1783672"/>
            <a:ext cx="523374" cy="29131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E47D972-9B38-F35E-943D-B08E9E4D3928}"/>
              </a:ext>
            </a:extLst>
          </p:cNvPr>
          <p:cNvSpPr/>
          <p:nvPr/>
        </p:nvSpPr>
        <p:spPr>
          <a:xfrm>
            <a:off x="6815910" y="1782321"/>
            <a:ext cx="548679" cy="2872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25B4FF66-52CB-9F5C-DAE9-F67B0118B216}"/>
              </a:ext>
            </a:extLst>
          </p:cNvPr>
          <p:cNvSpPr/>
          <p:nvPr/>
        </p:nvSpPr>
        <p:spPr>
          <a:xfrm>
            <a:off x="7522515" y="1802248"/>
            <a:ext cx="574623" cy="27599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E4675CA-3E97-EC82-A556-7045262A7BB7}"/>
              </a:ext>
            </a:extLst>
          </p:cNvPr>
          <p:cNvSpPr/>
          <p:nvPr/>
        </p:nvSpPr>
        <p:spPr>
          <a:xfrm>
            <a:off x="8234591" y="1819878"/>
            <a:ext cx="566008" cy="26872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16B7DAF-6900-0487-E433-91EA0AB2C80A}"/>
              </a:ext>
            </a:extLst>
          </p:cNvPr>
          <p:cNvSpPr/>
          <p:nvPr/>
        </p:nvSpPr>
        <p:spPr>
          <a:xfrm>
            <a:off x="8954501" y="1782451"/>
            <a:ext cx="574759" cy="2812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294A193-5BAB-0604-42EA-4FD15E388FD1}"/>
              </a:ext>
            </a:extLst>
          </p:cNvPr>
          <p:cNvSpPr/>
          <p:nvPr/>
        </p:nvSpPr>
        <p:spPr>
          <a:xfrm>
            <a:off x="9661106" y="1782994"/>
            <a:ext cx="574755" cy="2919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172C18E-12C5-2E0B-2BFA-D26A1F4414A0}"/>
              </a:ext>
            </a:extLst>
          </p:cNvPr>
          <p:cNvSpPr/>
          <p:nvPr/>
        </p:nvSpPr>
        <p:spPr>
          <a:xfrm>
            <a:off x="10381017" y="1783672"/>
            <a:ext cx="591281" cy="29130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FEFE987-0726-DF1E-3DD2-AA05CBCA7E96}"/>
              </a:ext>
            </a:extLst>
          </p:cNvPr>
          <p:cNvSpPr/>
          <p:nvPr/>
        </p:nvSpPr>
        <p:spPr>
          <a:xfrm>
            <a:off x="11100929" y="1782321"/>
            <a:ext cx="591280" cy="2912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AEEA9B96-F16F-BE7D-DC5D-70F657C3FE87}"/>
              </a:ext>
            </a:extLst>
          </p:cNvPr>
          <p:cNvCxnSpPr>
            <a:cxnSpLocks/>
          </p:cNvCxnSpPr>
          <p:nvPr/>
        </p:nvCxnSpPr>
        <p:spPr>
          <a:xfrm>
            <a:off x="11693642" y="2033908"/>
            <a:ext cx="1" cy="2984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D4433DF2-2644-1B1B-7E66-21D3F7819316}"/>
              </a:ext>
            </a:extLst>
          </p:cNvPr>
          <p:cNvSpPr txBox="1"/>
          <p:nvPr/>
        </p:nvSpPr>
        <p:spPr>
          <a:xfrm>
            <a:off x="5974014" y="2015951"/>
            <a:ext cx="13384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64/80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GB/s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4217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361950" y="6398036"/>
            <a:ext cx="11367943" cy="295144"/>
            <a:chOff x="371475" y="4964836"/>
            <a:chExt cx="11367943" cy="295144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71475" y="5125367"/>
              <a:ext cx="10521084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1341100" y="5125367"/>
              <a:ext cx="398318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0886209" y="4964836"/>
              <a:ext cx="454891" cy="295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0103" y="352983"/>
            <a:ext cx="7481981" cy="541920"/>
            <a:chOff x="0" y="338431"/>
            <a:chExt cx="7481981" cy="541920"/>
          </a:xfrm>
        </p:grpSpPr>
        <p:sp>
          <p:nvSpPr>
            <p:cNvPr id="5" name="矩形 4"/>
            <p:cNvSpPr/>
            <p:nvPr/>
          </p:nvSpPr>
          <p:spPr>
            <a:xfrm>
              <a:off x="0" y="348602"/>
              <a:ext cx="101600" cy="531749"/>
            </a:xfrm>
            <a:prstGeom prst="rect">
              <a:avLst/>
            </a:prstGeom>
            <a:solidFill>
              <a:srgbClr val="E26C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35003" y="338431"/>
              <a:ext cx="7246978" cy="531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DMA</a:t>
              </a:r>
              <a:r>
                <a:rPr lang="zh-CN" altLang="en-US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性能问题总结</a:t>
              </a: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2E4AA64A-04CF-D5C3-4D18-9B57F6482E2F}"/>
              </a:ext>
            </a:extLst>
          </p:cNvPr>
          <p:cNvSpPr txBox="1"/>
          <p:nvPr/>
        </p:nvSpPr>
        <p:spPr>
          <a:xfrm>
            <a:off x="200507" y="1000605"/>
            <a:ext cx="574578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rgbClr val="FF0000"/>
                </a:solidFill>
              </a:rPr>
              <a:t>DMA</a:t>
            </a:r>
            <a:r>
              <a:rPr kumimoji="1" lang="zh-CN" altLang="en-US" b="1" dirty="0">
                <a:solidFill>
                  <a:srgbClr val="FF0000"/>
                </a:solidFill>
              </a:rPr>
              <a:t>常规性能：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 dirty="0"/>
              <a:t>常规使用模式下（</a:t>
            </a:r>
            <a:r>
              <a:rPr kumimoji="1" lang="en-US" altLang="zh-CN" sz="1700" dirty="0"/>
              <a:t>256B-1024B</a:t>
            </a:r>
            <a:r>
              <a:rPr kumimoji="1" lang="zh-CN" altLang="en-US" sz="1700" dirty="0"/>
              <a:t>），</a:t>
            </a:r>
            <a:r>
              <a:rPr kumimoji="1" lang="en-US" altLang="zh-CN" sz="1700" dirty="0"/>
              <a:t>read</a:t>
            </a:r>
            <a:r>
              <a:rPr kumimoji="1" lang="zh-CN" altLang="en-US" sz="1700" dirty="0"/>
              <a:t>方向</a:t>
            </a:r>
            <a:r>
              <a:rPr kumimoji="1" lang="en-US" altLang="zh-CN" sz="1700" dirty="0"/>
              <a:t>275GB/s</a:t>
            </a:r>
            <a:r>
              <a:rPr kumimoji="1" lang="zh-CN" altLang="en-US" sz="1700" dirty="0"/>
              <a:t>，</a:t>
            </a:r>
            <a:r>
              <a:rPr kumimoji="1" lang="en-US" altLang="zh-CN" sz="1700" dirty="0"/>
              <a:t>write</a:t>
            </a:r>
            <a:r>
              <a:rPr kumimoji="1" lang="zh-CN" altLang="en-US" sz="1700" dirty="0"/>
              <a:t>方向</a:t>
            </a:r>
            <a:r>
              <a:rPr kumimoji="1" lang="en-US" altLang="zh-CN" sz="1700" dirty="0"/>
              <a:t>305GB/s</a:t>
            </a:r>
            <a:r>
              <a:rPr kumimoji="1" lang="zh-CN" altLang="en-US" sz="1700" dirty="0"/>
              <a:t>。</a:t>
            </a:r>
            <a:endParaRPr kumimoji="1" lang="en-US" altLang="zh-CN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 dirty="0"/>
              <a:t>数据块变大（涉及到</a:t>
            </a:r>
            <a:r>
              <a:rPr kumimoji="1" lang="en-US" altLang="zh-CN" sz="1700" dirty="0"/>
              <a:t>HBM</a:t>
            </a:r>
            <a:r>
              <a:rPr kumimoji="1" lang="zh-CN" altLang="en-US" sz="1700" dirty="0"/>
              <a:t>行切换）最多会掉速到</a:t>
            </a:r>
            <a:r>
              <a:rPr kumimoji="1" lang="en-US" altLang="zh-CN" sz="1700" dirty="0"/>
              <a:t>220GB/s</a:t>
            </a:r>
            <a:r>
              <a:rPr kumimoji="1" lang="zh-CN" altLang="en-US" sz="1700" dirty="0"/>
              <a:t>左右。</a:t>
            </a:r>
            <a:endParaRPr kumimoji="1" lang="en-US" altLang="zh-CN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 dirty="0"/>
              <a:t>读写切换也会导致类似比率掉速。</a:t>
            </a:r>
            <a:endParaRPr kumimoji="1" lang="en-US" altLang="zh-CN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rgbClr val="FF0000"/>
                </a:solidFill>
              </a:rPr>
              <a:t>DMA</a:t>
            </a:r>
            <a:r>
              <a:rPr kumimoji="1" lang="zh-CN" altLang="en-US" b="1" dirty="0">
                <a:solidFill>
                  <a:srgbClr val="FF0000"/>
                </a:solidFill>
              </a:rPr>
              <a:t>极限性能：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 dirty="0"/>
              <a:t>不可用性场景最高带宽：</a:t>
            </a:r>
            <a:endParaRPr kumimoji="1" lang="en-US" altLang="zh-CN" sz="17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n-US" altLang="zh-CN" sz="1700" dirty="0" err="1"/>
              <a:t>Get+Put</a:t>
            </a:r>
            <a:r>
              <a:rPr kumimoji="1" lang="zh-CN" altLang="en-US" sz="1700" dirty="0"/>
              <a:t>场景</a:t>
            </a:r>
            <a:r>
              <a:rPr kumimoji="1" lang="en-US" altLang="zh-CN" sz="1700" dirty="0"/>
              <a:t>345GB/s </a:t>
            </a:r>
            <a:r>
              <a:rPr kumimoji="1" lang="zh-CN" altLang="en-US" sz="1700" dirty="0"/>
              <a:t>：</a:t>
            </a:r>
            <a:r>
              <a:rPr kumimoji="1" lang="en-US" altLang="zh-CN" sz="1700" dirty="0"/>
              <a:t>Get</a:t>
            </a:r>
            <a:r>
              <a:rPr kumimoji="1" lang="zh-CN" altLang="en-US" sz="1700" dirty="0"/>
              <a:t>和</a:t>
            </a:r>
            <a:r>
              <a:rPr kumimoji="1" lang="en-US" altLang="zh-CN" sz="1700" dirty="0"/>
              <a:t>Put</a:t>
            </a:r>
            <a:r>
              <a:rPr kumimoji="1" lang="zh-CN" altLang="en-US" sz="1700" dirty="0"/>
              <a:t>在内存中的位置完全错开，所有的</a:t>
            </a:r>
            <a:r>
              <a:rPr kumimoji="1" lang="en-US" altLang="zh-CN" sz="1700" dirty="0"/>
              <a:t>Get</a:t>
            </a:r>
            <a:r>
              <a:rPr kumimoji="1" lang="zh-CN" altLang="en-US" sz="1700" dirty="0"/>
              <a:t>固定向不变的一段内存读取，所有的</a:t>
            </a:r>
            <a:r>
              <a:rPr kumimoji="1" lang="en-US" altLang="zh-CN" sz="1700" dirty="0"/>
              <a:t>Put</a:t>
            </a:r>
            <a:r>
              <a:rPr kumimoji="1" lang="zh-CN" altLang="en-US" sz="1700" dirty="0"/>
              <a:t>亦然。原因有待分析。</a:t>
            </a:r>
            <a:endParaRPr kumimoji="1" lang="en-US" altLang="zh-CN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 dirty="0"/>
              <a:t>单通道最高带宽：</a:t>
            </a:r>
            <a:endParaRPr kumimoji="1" lang="en-US" altLang="zh-CN" sz="17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zh-CN" altLang="en-US" sz="1700" dirty="0"/>
              <a:t>在</a:t>
            </a:r>
            <a:r>
              <a:rPr kumimoji="1" lang="en-US" altLang="zh-CN" sz="1700" dirty="0"/>
              <a:t>DMA</a:t>
            </a:r>
            <a:r>
              <a:rPr kumimoji="1" lang="zh-CN" altLang="en-US" sz="1700" dirty="0"/>
              <a:t>引擎和</a:t>
            </a:r>
            <a:r>
              <a:rPr kumimoji="1" lang="en-US" altLang="zh-CN" sz="1700" dirty="0"/>
              <a:t>HBM</a:t>
            </a:r>
            <a:r>
              <a:rPr kumimoji="1" lang="zh-CN" altLang="en-US" sz="1700" dirty="0"/>
              <a:t>通道一一对应的场景，</a:t>
            </a:r>
            <a:r>
              <a:rPr kumimoji="1" lang="en-US" altLang="zh-CN" sz="1700" dirty="0"/>
              <a:t>put</a:t>
            </a:r>
            <a:r>
              <a:rPr kumimoji="1" lang="zh-CN" altLang="en-US" sz="1700" dirty="0"/>
              <a:t>方向单个</a:t>
            </a:r>
            <a:r>
              <a:rPr kumimoji="1" lang="en-US" altLang="zh-CN" sz="1700" dirty="0"/>
              <a:t>DMA</a:t>
            </a:r>
            <a:r>
              <a:rPr kumimoji="1" lang="zh-CN" altLang="en-US" sz="1700" dirty="0"/>
              <a:t>通道带宽最高，能达到</a:t>
            </a:r>
            <a:r>
              <a:rPr kumimoji="1" lang="en-US" altLang="zh-CN" sz="1700" dirty="0"/>
              <a:t>49.5GB/s</a:t>
            </a:r>
            <a:r>
              <a:rPr kumimoji="1" lang="zh-CN" altLang="en-US" sz="1700" dirty="0"/>
              <a:t>，乘</a:t>
            </a:r>
            <a:r>
              <a:rPr kumimoji="1" lang="en-US" altLang="zh-CN" sz="1700" dirty="0"/>
              <a:t>8</a:t>
            </a:r>
            <a:r>
              <a:rPr kumimoji="1" lang="zh-CN" altLang="en-US" sz="1700" dirty="0"/>
              <a:t>以后为</a:t>
            </a:r>
            <a:r>
              <a:rPr kumimoji="1" lang="en-US" altLang="zh-CN" sz="1700" dirty="0"/>
              <a:t>396GB/s</a:t>
            </a:r>
            <a:r>
              <a:rPr kumimoji="1" lang="zh-CN" altLang="en-US" sz="1700" dirty="0"/>
              <a:t>，接近</a:t>
            </a:r>
            <a:r>
              <a:rPr kumimoji="1" lang="en-US" altLang="zh-CN" sz="1700" dirty="0"/>
              <a:t>HBM</a:t>
            </a:r>
            <a:r>
              <a:rPr kumimoji="1" lang="zh-CN" altLang="en-US" sz="1700" dirty="0"/>
              <a:t>极限</a:t>
            </a:r>
            <a:r>
              <a:rPr kumimoji="1" lang="en-US" altLang="zh-CN" sz="1700" dirty="0"/>
              <a:t>410GB/s</a:t>
            </a:r>
            <a:r>
              <a:rPr kumimoji="1" lang="zh-CN" altLang="en-US" sz="1700" dirty="0"/>
              <a:t>。说明硬件通路上导致掉速的一些原因，并且具有不对称性。原因有待分析。</a:t>
            </a:r>
            <a:endParaRPr kumimoji="1" lang="en-US" altLang="zh-CN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rgbClr val="FF0000"/>
                </a:solidFill>
              </a:rPr>
              <a:t>DMA</a:t>
            </a:r>
            <a:r>
              <a:rPr kumimoji="1" lang="zh-CN" altLang="en-US" b="1" dirty="0">
                <a:solidFill>
                  <a:srgbClr val="FF0000"/>
                </a:solidFill>
              </a:rPr>
              <a:t>异常性能：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700" dirty="0"/>
              <a:t>写</a:t>
            </a:r>
            <a:r>
              <a:rPr kumimoji="1" lang="en-US" altLang="zh-CN" sz="1700" dirty="0"/>
              <a:t>64B</a:t>
            </a:r>
            <a:r>
              <a:rPr kumimoji="1" lang="zh-CN" altLang="en-US" sz="1700" dirty="0"/>
              <a:t>数据会发生读改写（</a:t>
            </a:r>
            <a:r>
              <a:rPr kumimoji="1" lang="en-US" altLang="zh-CN" sz="1700" dirty="0"/>
              <a:t>RMW</a:t>
            </a:r>
            <a:r>
              <a:rPr kumimoji="1" lang="zh-CN" altLang="en-US" sz="1700" dirty="0"/>
              <a:t>），整核组带宽性能下降到</a:t>
            </a:r>
            <a:r>
              <a:rPr kumimoji="1" lang="en-US" altLang="zh-CN" sz="1700" dirty="0"/>
              <a:t>3.7GB/s</a:t>
            </a:r>
            <a:r>
              <a:rPr kumimoji="1" lang="zh-CN" altLang="en-US" sz="1700" dirty="0"/>
              <a:t>左右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D14C81A-46DE-0B0C-CEEE-A80B240C4691}"/>
              </a:ext>
            </a:extLst>
          </p:cNvPr>
          <p:cNvSpPr txBox="1"/>
          <p:nvPr/>
        </p:nvSpPr>
        <p:spPr>
          <a:xfrm>
            <a:off x="6147602" y="3978842"/>
            <a:ext cx="50268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关于带宽进制的说明：</a:t>
            </a:r>
            <a:endParaRPr kumimoji="1"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700" dirty="0"/>
              <a:t>GB</a:t>
            </a:r>
            <a:r>
              <a:rPr kumimoji="1" lang="zh-CN" altLang="en-US" sz="1700" dirty="0"/>
              <a:t>指</a:t>
            </a:r>
            <a:r>
              <a:rPr kumimoji="1" lang="en-US" altLang="zh-CN" sz="1700" dirty="0"/>
              <a:t>gigabyte</a:t>
            </a:r>
            <a:r>
              <a:rPr kumimoji="1" lang="zh-CN" altLang="en-US" sz="1700" dirty="0"/>
              <a:t>，是</a:t>
            </a:r>
            <a:r>
              <a:rPr kumimoji="1" lang="en-US" altLang="zh-CN" sz="1700" dirty="0"/>
              <a:t>IS</a:t>
            </a:r>
            <a:r>
              <a:rPr kumimoji="1" lang="zh-CN" altLang="en-US" sz="1700" dirty="0"/>
              <a:t>科学标准协会制定的量纲前缀，指</a:t>
            </a:r>
            <a:r>
              <a:rPr kumimoji="1" lang="en-US" altLang="zh-CN" sz="1700" dirty="0"/>
              <a:t>10^9</a:t>
            </a:r>
            <a:r>
              <a:rPr kumimoji="1" lang="zh-CN" altLang="en-US" sz="1700" dirty="0"/>
              <a:t>；</a:t>
            </a:r>
            <a:r>
              <a:rPr kumimoji="1" lang="en-US" altLang="zh-CN" sz="1700" dirty="0"/>
              <a:t>GiB</a:t>
            </a:r>
            <a:r>
              <a:rPr kumimoji="1" lang="zh-CN" altLang="en-US" sz="1700" dirty="0"/>
              <a:t>指</a:t>
            </a:r>
            <a:r>
              <a:rPr kumimoji="1" lang="en-US" altLang="zh-CN" sz="1700" dirty="0" err="1"/>
              <a:t>gigibyte</a:t>
            </a:r>
            <a:r>
              <a:rPr kumimoji="1" lang="en-US" altLang="zh-CN" sz="1700" dirty="0"/>
              <a:t>, </a:t>
            </a:r>
            <a:r>
              <a:rPr kumimoji="1" lang="zh-CN" altLang="en-US" sz="1700" dirty="0"/>
              <a:t>是</a:t>
            </a:r>
            <a:r>
              <a:rPr kumimoji="1" lang="en-US" altLang="zh-CN" sz="1700" dirty="0"/>
              <a:t>ISQ</a:t>
            </a:r>
            <a:r>
              <a:rPr kumimoji="1" lang="zh-CN" altLang="en-US" sz="1700" dirty="0"/>
              <a:t>国际量纲写回指定的量纲前缀，指</a:t>
            </a:r>
            <a:r>
              <a:rPr kumimoji="1" lang="en-US" altLang="zh-CN" sz="1700" dirty="0"/>
              <a:t>2^30</a:t>
            </a:r>
            <a:r>
              <a:rPr kumimoji="1" lang="zh-CN" altLang="en-US" sz="1700" dirty="0"/>
              <a:t>。</a:t>
            </a:r>
            <a:r>
              <a:rPr kumimoji="1" lang="zh-CN" altLang="en-US" sz="1700" b="1" dirty="0">
                <a:solidFill>
                  <a:srgbClr val="FF0000"/>
                </a:solidFill>
              </a:rPr>
              <a:t>带宽类应该统一使用</a:t>
            </a:r>
            <a:r>
              <a:rPr kumimoji="1" lang="en-US" altLang="zh-CN" sz="1700" b="1" dirty="0">
                <a:solidFill>
                  <a:srgbClr val="FF0000"/>
                </a:solidFill>
              </a:rPr>
              <a:t>GB</a:t>
            </a:r>
            <a:r>
              <a:rPr kumimoji="1" lang="zh-CN" altLang="en-US" sz="1700" b="1" dirty="0">
                <a:solidFill>
                  <a:srgbClr val="FF0000"/>
                </a:solidFill>
              </a:rPr>
              <a:t>，即</a:t>
            </a:r>
            <a:r>
              <a:rPr kumimoji="1" lang="en-US" altLang="zh-CN" sz="1700" b="1" dirty="0">
                <a:solidFill>
                  <a:srgbClr val="FF0000"/>
                </a:solidFill>
              </a:rPr>
              <a:t>1000</a:t>
            </a:r>
            <a:r>
              <a:rPr kumimoji="1" lang="zh-CN" altLang="en-US" sz="1700" b="1" dirty="0">
                <a:solidFill>
                  <a:srgbClr val="FF0000"/>
                </a:solidFill>
              </a:rPr>
              <a:t>进制。</a:t>
            </a:r>
            <a:endParaRPr kumimoji="1" lang="en-US" altLang="zh-CN" sz="17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700" dirty="0">
                <a:highlight>
                  <a:srgbClr val="FCC129"/>
                </a:highlight>
              </a:rPr>
              <a:t>用</a:t>
            </a:r>
            <a:r>
              <a:rPr kumimoji="1" lang="en-US" altLang="zh-CN" sz="1700" dirty="0">
                <a:highlight>
                  <a:srgbClr val="FCC129"/>
                </a:highlight>
              </a:rPr>
              <a:t>1024</a:t>
            </a:r>
            <a:r>
              <a:rPr kumimoji="1" lang="zh-CN" altLang="en-US" sz="1700" dirty="0">
                <a:highlight>
                  <a:srgbClr val="FCC129"/>
                </a:highlight>
              </a:rPr>
              <a:t>进制进行带宽数据测算是错误的，会比实际值低约</a:t>
            </a:r>
            <a:r>
              <a:rPr kumimoji="1" lang="en-US" altLang="zh-CN" sz="1700" dirty="0">
                <a:highlight>
                  <a:srgbClr val="FCC129"/>
                </a:highlight>
              </a:rPr>
              <a:t>7%</a:t>
            </a:r>
            <a:r>
              <a:rPr kumimoji="1" lang="zh-CN" altLang="en-US" sz="1700" dirty="0">
                <a:highlight>
                  <a:srgbClr val="FCC129"/>
                </a:highlight>
              </a:rPr>
              <a:t>，也会导致和竞品不对齐。</a:t>
            </a:r>
            <a:endParaRPr kumimoji="1" lang="en-US" altLang="zh-CN" sz="1700" dirty="0">
              <a:highlight>
                <a:srgbClr val="FCC129"/>
              </a:highlight>
            </a:endParaRP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412253-9CEA-38B6-26F6-86772627B2D7}"/>
              </a:ext>
            </a:extLst>
          </p:cNvPr>
          <p:cNvSpPr/>
          <p:nvPr/>
        </p:nvSpPr>
        <p:spPr>
          <a:xfrm>
            <a:off x="6104034" y="2967004"/>
            <a:ext cx="523374" cy="29131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69F55D-5BD0-1F0B-0312-98305C041BB8}"/>
              </a:ext>
            </a:extLst>
          </p:cNvPr>
          <p:cNvSpPr/>
          <p:nvPr/>
        </p:nvSpPr>
        <p:spPr>
          <a:xfrm>
            <a:off x="6823944" y="2965653"/>
            <a:ext cx="548679" cy="2872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512E44-CBD0-E443-2CFE-AE6D9F0BC7A5}"/>
              </a:ext>
            </a:extLst>
          </p:cNvPr>
          <p:cNvSpPr/>
          <p:nvPr/>
        </p:nvSpPr>
        <p:spPr>
          <a:xfrm>
            <a:off x="7530549" y="2985580"/>
            <a:ext cx="574623" cy="27599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20CD1C-D936-98F2-353F-7F0F42E50F6A}"/>
              </a:ext>
            </a:extLst>
          </p:cNvPr>
          <p:cNvSpPr/>
          <p:nvPr/>
        </p:nvSpPr>
        <p:spPr>
          <a:xfrm>
            <a:off x="8242625" y="3003210"/>
            <a:ext cx="566008" cy="26872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C158170-4369-E79B-7FFD-725C098482F3}"/>
              </a:ext>
            </a:extLst>
          </p:cNvPr>
          <p:cNvSpPr/>
          <p:nvPr/>
        </p:nvSpPr>
        <p:spPr>
          <a:xfrm>
            <a:off x="8962535" y="2965783"/>
            <a:ext cx="574759" cy="2812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C431B11-DDC8-DE8C-6560-D85C573BA447}"/>
              </a:ext>
            </a:extLst>
          </p:cNvPr>
          <p:cNvSpPr/>
          <p:nvPr/>
        </p:nvSpPr>
        <p:spPr>
          <a:xfrm>
            <a:off x="9669140" y="2966326"/>
            <a:ext cx="574755" cy="2919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E946497-EA38-7175-98D6-80C7462813F6}"/>
              </a:ext>
            </a:extLst>
          </p:cNvPr>
          <p:cNvSpPr/>
          <p:nvPr/>
        </p:nvSpPr>
        <p:spPr>
          <a:xfrm>
            <a:off x="10389051" y="2967004"/>
            <a:ext cx="591281" cy="29130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BAEFBE0-9404-6EF1-73DF-AAEAD180B661}"/>
              </a:ext>
            </a:extLst>
          </p:cNvPr>
          <p:cNvSpPr/>
          <p:nvPr/>
        </p:nvSpPr>
        <p:spPr>
          <a:xfrm>
            <a:off x="11108963" y="2965653"/>
            <a:ext cx="591280" cy="2912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菱形 77">
            <a:extLst>
              <a:ext uri="{FF2B5EF4-FFF2-40B4-BE49-F238E27FC236}">
                <a16:creationId xmlns:a16="http://schemas.microsoft.com/office/drawing/2014/main" id="{37C1EE10-96AF-6762-5978-1CCD974035A1}"/>
              </a:ext>
            </a:extLst>
          </p:cNvPr>
          <p:cNvSpPr/>
          <p:nvPr/>
        </p:nvSpPr>
        <p:spPr>
          <a:xfrm>
            <a:off x="7251532" y="2219696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菱形 78">
            <a:extLst>
              <a:ext uri="{FF2B5EF4-FFF2-40B4-BE49-F238E27FC236}">
                <a16:creationId xmlns:a16="http://schemas.microsoft.com/office/drawing/2014/main" id="{E26A417F-701B-9C09-C190-2D502B33097E}"/>
              </a:ext>
            </a:extLst>
          </p:cNvPr>
          <p:cNvSpPr/>
          <p:nvPr/>
        </p:nvSpPr>
        <p:spPr>
          <a:xfrm>
            <a:off x="10130576" y="2219696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菱形 79">
            <a:extLst>
              <a:ext uri="{FF2B5EF4-FFF2-40B4-BE49-F238E27FC236}">
                <a16:creationId xmlns:a16="http://schemas.microsoft.com/office/drawing/2014/main" id="{D2A87704-BD12-E7C2-488A-55FAA2A6969D}"/>
              </a:ext>
            </a:extLst>
          </p:cNvPr>
          <p:cNvSpPr/>
          <p:nvPr/>
        </p:nvSpPr>
        <p:spPr>
          <a:xfrm>
            <a:off x="6606981" y="1581398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菱形 80">
            <a:extLst>
              <a:ext uri="{FF2B5EF4-FFF2-40B4-BE49-F238E27FC236}">
                <a16:creationId xmlns:a16="http://schemas.microsoft.com/office/drawing/2014/main" id="{48609DB7-BEE6-0EE6-624A-A45443046126}"/>
              </a:ext>
            </a:extLst>
          </p:cNvPr>
          <p:cNvSpPr/>
          <p:nvPr/>
        </p:nvSpPr>
        <p:spPr>
          <a:xfrm>
            <a:off x="8309131" y="1581398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菱形 81">
            <a:extLst>
              <a:ext uri="{FF2B5EF4-FFF2-40B4-BE49-F238E27FC236}">
                <a16:creationId xmlns:a16="http://schemas.microsoft.com/office/drawing/2014/main" id="{02A66E3B-B35E-F34E-675B-2EBCFABA1494}"/>
              </a:ext>
            </a:extLst>
          </p:cNvPr>
          <p:cNvSpPr/>
          <p:nvPr/>
        </p:nvSpPr>
        <p:spPr>
          <a:xfrm>
            <a:off x="9015900" y="1581398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菱形 82">
            <a:extLst>
              <a:ext uri="{FF2B5EF4-FFF2-40B4-BE49-F238E27FC236}">
                <a16:creationId xmlns:a16="http://schemas.microsoft.com/office/drawing/2014/main" id="{EE7300D6-321F-E6C1-B883-8A22E3FCB6AE}"/>
              </a:ext>
            </a:extLst>
          </p:cNvPr>
          <p:cNvSpPr/>
          <p:nvPr/>
        </p:nvSpPr>
        <p:spPr>
          <a:xfrm>
            <a:off x="10728680" y="1581398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07978627-3A3D-D9C5-3B36-4748A0C0DA96}"/>
              </a:ext>
            </a:extLst>
          </p:cNvPr>
          <p:cNvCxnSpPr>
            <a:cxnSpLocks/>
            <a:stCxn id="7" idx="0"/>
            <a:endCxn id="78" idx="2"/>
          </p:cNvCxnSpPr>
          <p:nvPr/>
        </p:nvCxnSpPr>
        <p:spPr>
          <a:xfrm flipV="1">
            <a:off x="6365721" y="2524496"/>
            <a:ext cx="1006905" cy="442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0103B63C-9D64-4DA7-19A0-06C245E6CD85}"/>
              </a:ext>
            </a:extLst>
          </p:cNvPr>
          <p:cNvCxnSpPr>
            <a:cxnSpLocks/>
            <a:stCxn id="9" idx="0"/>
            <a:endCxn id="78" idx="2"/>
          </p:cNvCxnSpPr>
          <p:nvPr/>
        </p:nvCxnSpPr>
        <p:spPr>
          <a:xfrm flipV="1">
            <a:off x="7098284" y="2524496"/>
            <a:ext cx="274342" cy="441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3D455915-89EA-BBC6-D33F-2D9313CF9DB1}"/>
              </a:ext>
            </a:extLst>
          </p:cNvPr>
          <p:cNvCxnSpPr>
            <a:cxnSpLocks/>
            <a:stCxn id="11" idx="0"/>
            <a:endCxn id="78" idx="2"/>
          </p:cNvCxnSpPr>
          <p:nvPr/>
        </p:nvCxnSpPr>
        <p:spPr>
          <a:xfrm flipH="1" flipV="1">
            <a:off x="7372626" y="2524496"/>
            <a:ext cx="445235" cy="461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81EBD9AC-4D0C-AF57-68CA-13B04D93AAE3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7372625" y="2524496"/>
            <a:ext cx="1153004" cy="478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D754866A-A6F8-A9EE-1113-98C2E6389712}"/>
              </a:ext>
            </a:extLst>
          </p:cNvPr>
          <p:cNvCxnSpPr>
            <a:cxnSpLocks/>
            <a:stCxn id="19" idx="0"/>
            <a:endCxn id="79" idx="2"/>
          </p:cNvCxnSpPr>
          <p:nvPr/>
        </p:nvCxnSpPr>
        <p:spPr>
          <a:xfrm flipV="1">
            <a:off x="9249915" y="2524496"/>
            <a:ext cx="1001755" cy="441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A6DD7D80-F969-4B16-E3D8-67053158E2DB}"/>
              </a:ext>
            </a:extLst>
          </p:cNvPr>
          <p:cNvCxnSpPr>
            <a:cxnSpLocks/>
            <a:stCxn id="55" idx="0"/>
            <a:endCxn id="79" idx="2"/>
          </p:cNvCxnSpPr>
          <p:nvPr/>
        </p:nvCxnSpPr>
        <p:spPr>
          <a:xfrm flipV="1">
            <a:off x="9956518" y="2524496"/>
            <a:ext cx="295152" cy="441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AC12C5FE-9A63-3429-197D-FB7C59866D77}"/>
              </a:ext>
            </a:extLst>
          </p:cNvPr>
          <p:cNvCxnSpPr>
            <a:cxnSpLocks/>
            <a:stCxn id="57" idx="0"/>
          </p:cNvCxnSpPr>
          <p:nvPr/>
        </p:nvCxnSpPr>
        <p:spPr>
          <a:xfrm flipH="1" flipV="1">
            <a:off x="10251669" y="2524496"/>
            <a:ext cx="433023" cy="442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96E2A6F3-EC8D-2340-8438-73C51D1AFEF3}"/>
              </a:ext>
            </a:extLst>
          </p:cNvPr>
          <p:cNvCxnSpPr>
            <a:cxnSpLocks/>
            <a:stCxn id="58" idx="0"/>
            <a:endCxn id="79" idx="2"/>
          </p:cNvCxnSpPr>
          <p:nvPr/>
        </p:nvCxnSpPr>
        <p:spPr>
          <a:xfrm flipH="1" flipV="1">
            <a:off x="10251670" y="2524496"/>
            <a:ext cx="1152933" cy="441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08C3A300-4A85-8C92-94EE-CE27F23B5555}"/>
              </a:ext>
            </a:extLst>
          </p:cNvPr>
          <p:cNvCxnSpPr>
            <a:cxnSpLocks/>
            <a:stCxn id="78" idx="0"/>
            <a:endCxn id="80" idx="2"/>
          </p:cNvCxnSpPr>
          <p:nvPr/>
        </p:nvCxnSpPr>
        <p:spPr>
          <a:xfrm flipH="1" flipV="1">
            <a:off x="6728075" y="1886198"/>
            <a:ext cx="644551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0422497F-DEC5-436D-D426-E6976D3F5403}"/>
              </a:ext>
            </a:extLst>
          </p:cNvPr>
          <p:cNvCxnSpPr>
            <a:stCxn id="78" idx="0"/>
            <a:endCxn id="82" idx="2"/>
          </p:cNvCxnSpPr>
          <p:nvPr/>
        </p:nvCxnSpPr>
        <p:spPr>
          <a:xfrm flipV="1">
            <a:off x="7372626" y="1886198"/>
            <a:ext cx="1764368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1860406C-978E-1148-C8F9-1B5F1DD27559}"/>
              </a:ext>
            </a:extLst>
          </p:cNvPr>
          <p:cNvCxnSpPr>
            <a:stCxn id="78" idx="0"/>
            <a:endCxn id="83" idx="2"/>
          </p:cNvCxnSpPr>
          <p:nvPr/>
        </p:nvCxnSpPr>
        <p:spPr>
          <a:xfrm flipV="1">
            <a:off x="7372626" y="1886198"/>
            <a:ext cx="3477148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363BE910-2110-966C-A77D-711C818E90DE}"/>
              </a:ext>
            </a:extLst>
          </p:cNvPr>
          <p:cNvCxnSpPr>
            <a:stCxn id="78" idx="0"/>
            <a:endCxn id="81" idx="2"/>
          </p:cNvCxnSpPr>
          <p:nvPr/>
        </p:nvCxnSpPr>
        <p:spPr>
          <a:xfrm flipV="1">
            <a:off x="7372626" y="1886198"/>
            <a:ext cx="1057599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2779B7CD-D427-4347-A58A-78A6C90FC276}"/>
              </a:ext>
            </a:extLst>
          </p:cNvPr>
          <p:cNvCxnSpPr>
            <a:stCxn id="79" idx="0"/>
            <a:endCxn id="80" idx="2"/>
          </p:cNvCxnSpPr>
          <p:nvPr/>
        </p:nvCxnSpPr>
        <p:spPr>
          <a:xfrm flipH="1" flipV="1">
            <a:off x="6728075" y="1886198"/>
            <a:ext cx="3523595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B20DFA66-D020-3C5C-3FDD-DCBF251856B9}"/>
              </a:ext>
            </a:extLst>
          </p:cNvPr>
          <p:cNvCxnSpPr>
            <a:stCxn id="79" idx="0"/>
            <a:endCxn id="83" idx="2"/>
          </p:cNvCxnSpPr>
          <p:nvPr/>
        </p:nvCxnSpPr>
        <p:spPr>
          <a:xfrm flipV="1">
            <a:off x="10251670" y="1886198"/>
            <a:ext cx="598104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76097FD5-7520-CD91-B977-2E95B4848061}"/>
              </a:ext>
            </a:extLst>
          </p:cNvPr>
          <p:cNvCxnSpPr>
            <a:stCxn id="79" idx="0"/>
          </p:cNvCxnSpPr>
          <p:nvPr/>
        </p:nvCxnSpPr>
        <p:spPr>
          <a:xfrm flipH="1" flipV="1">
            <a:off x="9136993" y="1886198"/>
            <a:ext cx="1114677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68D4AD70-3694-0F1A-9262-5976740B77C5}"/>
              </a:ext>
            </a:extLst>
          </p:cNvPr>
          <p:cNvCxnSpPr>
            <a:stCxn id="79" idx="0"/>
          </p:cNvCxnSpPr>
          <p:nvPr/>
        </p:nvCxnSpPr>
        <p:spPr>
          <a:xfrm flipH="1" flipV="1">
            <a:off x="8417083" y="1886198"/>
            <a:ext cx="1834587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 99">
            <a:extLst>
              <a:ext uri="{FF2B5EF4-FFF2-40B4-BE49-F238E27FC236}">
                <a16:creationId xmlns:a16="http://schemas.microsoft.com/office/drawing/2014/main" id="{030C6EC4-201D-15D7-B37D-7ED3572B6AAD}"/>
              </a:ext>
            </a:extLst>
          </p:cNvPr>
          <p:cNvSpPr/>
          <p:nvPr/>
        </p:nvSpPr>
        <p:spPr>
          <a:xfrm>
            <a:off x="6823945" y="823077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CC0063F2-3D7B-35D5-0FEE-DEDB2AA2860B}"/>
              </a:ext>
            </a:extLst>
          </p:cNvPr>
          <p:cNvSpPr/>
          <p:nvPr/>
        </p:nvSpPr>
        <p:spPr>
          <a:xfrm>
            <a:off x="6104034" y="821335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3BDC5005-7F21-0BE5-40C1-BEAD15FF9FE4}"/>
              </a:ext>
            </a:extLst>
          </p:cNvPr>
          <p:cNvSpPr/>
          <p:nvPr/>
        </p:nvSpPr>
        <p:spPr>
          <a:xfrm>
            <a:off x="7543645" y="838845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F5957837-0A0A-7E3C-DB3B-D8B5E055E048}"/>
              </a:ext>
            </a:extLst>
          </p:cNvPr>
          <p:cNvSpPr/>
          <p:nvPr/>
        </p:nvSpPr>
        <p:spPr>
          <a:xfrm>
            <a:off x="8254810" y="821335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9BFDEBD9-3B45-79E5-4183-F535B2596C3A}"/>
              </a:ext>
            </a:extLst>
          </p:cNvPr>
          <p:cNvSpPr/>
          <p:nvPr/>
        </p:nvSpPr>
        <p:spPr>
          <a:xfrm>
            <a:off x="8971513" y="838845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F41323B7-1128-5DFE-85C6-5CDDEA76150E}"/>
              </a:ext>
            </a:extLst>
          </p:cNvPr>
          <p:cNvSpPr/>
          <p:nvPr/>
        </p:nvSpPr>
        <p:spPr>
          <a:xfrm>
            <a:off x="9667139" y="827321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5F624B4-D112-5A5E-1437-2B850B366CE2}"/>
              </a:ext>
            </a:extLst>
          </p:cNvPr>
          <p:cNvSpPr/>
          <p:nvPr/>
        </p:nvSpPr>
        <p:spPr>
          <a:xfrm>
            <a:off x="10387205" y="839759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06078C36-81FC-E33D-66B7-8015BC2E67A2}"/>
              </a:ext>
            </a:extLst>
          </p:cNvPr>
          <p:cNvSpPr/>
          <p:nvPr/>
        </p:nvSpPr>
        <p:spPr>
          <a:xfrm>
            <a:off x="11126451" y="827321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4E4D2BDB-FE5E-8B3E-64FF-7EAD9542E5E1}"/>
              </a:ext>
            </a:extLst>
          </p:cNvPr>
          <p:cNvCxnSpPr>
            <a:stCxn id="80" idx="0"/>
            <a:endCxn id="101" idx="2"/>
          </p:cNvCxnSpPr>
          <p:nvPr/>
        </p:nvCxnSpPr>
        <p:spPr>
          <a:xfrm flipH="1" flipV="1">
            <a:off x="6278492" y="1179875"/>
            <a:ext cx="449583" cy="401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C9058353-5ED9-4C82-79B8-6023B9E2902F}"/>
              </a:ext>
            </a:extLst>
          </p:cNvPr>
          <p:cNvCxnSpPr>
            <a:stCxn id="80" idx="0"/>
            <a:endCxn id="100" idx="2"/>
          </p:cNvCxnSpPr>
          <p:nvPr/>
        </p:nvCxnSpPr>
        <p:spPr>
          <a:xfrm flipV="1">
            <a:off x="6728075" y="1181617"/>
            <a:ext cx="270328" cy="399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3E7860CA-3DFA-E7E2-8067-D347544AE07D}"/>
              </a:ext>
            </a:extLst>
          </p:cNvPr>
          <p:cNvCxnSpPr>
            <a:stCxn id="81" idx="0"/>
            <a:endCxn id="102" idx="2"/>
          </p:cNvCxnSpPr>
          <p:nvPr/>
        </p:nvCxnSpPr>
        <p:spPr>
          <a:xfrm flipH="1" flipV="1">
            <a:off x="7718103" y="1197385"/>
            <a:ext cx="712122" cy="384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61CE8133-060C-5CF4-60E3-E88A81E6676A}"/>
              </a:ext>
            </a:extLst>
          </p:cNvPr>
          <p:cNvCxnSpPr>
            <a:stCxn id="81" idx="0"/>
            <a:endCxn id="103" idx="2"/>
          </p:cNvCxnSpPr>
          <p:nvPr/>
        </p:nvCxnSpPr>
        <p:spPr>
          <a:xfrm flipH="1" flipV="1">
            <a:off x="8429268" y="1179875"/>
            <a:ext cx="957" cy="401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D3520FE6-24C9-3885-7908-881B5C5489C4}"/>
              </a:ext>
            </a:extLst>
          </p:cNvPr>
          <p:cNvCxnSpPr>
            <a:cxnSpLocks/>
            <a:stCxn id="82" idx="0"/>
            <a:endCxn id="104" idx="2"/>
          </p:cNvCxnSpPr>
          <p:nvPr/>
        </p:nvCxnSpPr>
        <p:spPr>
          <a:xfrm flipV="1">
            <a:off x="9136994" y="1197385"/>
            <a:ext cx="8977" cy="384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5C06A713-B1EB-0681-2514-D33A63A1BD67}"/>
              </a:ext>
            </a:extLst>
          </p:cNvPr>
          <p:cNvCxnSpPr>
            <a:stCxn id="82" idx="0"/>
            <a:endCxn id="105" idx="2"/>
          </p:cNvCxnSpPr>
          <p:nvPr/>
        </p:nvCxnSpPr>
        <p:spPr>
          <a:xfrm flipV="1">
            <a:off x="9136994" y="1185861"/>
            <a:ext cx="704603" cy="395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135A34E0-0A57-282D-ED83-0A87738CDEC0}"/>
              </a:ext>
            </a:extLst>
          </p:cNvPr>
          <p:cNvCxnSpPr>
            <a:stCxn id="83" idx="0"/>
            <a:endCxn id="106" idx="2"/>
          </p:cNvCxnSpPr>
          <p:nvPr/>
        </p:nvCxnSpPr>
        <p:spPr>
          <a:xfrm flipH="1" flipV="1">
            <a:off x="10561663" y="1198299"/>
            <a:ext cx="288111" cy="383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E47D32F1-1B20-6884-7C20-16D13D23CFBB}"/>
              </a:ext>
            </a:extLst>
          </p:cNvPr>
          <p:cNvCxnSpPr>
            <a:cxnSpLocks/>
            <a:stCxn id="83" idx="0"/>
            <a:endCxn id="107" idx="2"/>
          </p:cNvCxnSpPr>
          <p:nvPr/>
        </p:nvCxnSpPr>
        <p:spPr>
          <a:xfrm flipV="1">
            <a:off x="10849774" y="1185861"/>
            <a:ext cx="451135" cy="395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5330CDF1-1888-92B3-2C57-6E082338DF27}"/>
              </a:ext>
            </a:extLst>
          </p:cNvPr>
          <p:cNvSpPr txBox="1"/>
          <p:nvPr/>
        </p:nvSpPr>
        <p:spPr>
          <a:xfrm>
            <a:off x="6049295" y="1983247"/>
            <a:ext cx="1338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49/70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GB/s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4100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361950" y="6398036"/>
            <a:ext cx="11367943" cy="295144"/>
            <a:chOff x="371475" y="4964836"/>
            <a:chExt cx="11367943" cy="295144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71475" y="5125367"/>
              <a:ext cx="10521084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1341100" y="5125367"/>
              <a:ext cx="398318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0886209" y="4964836"/>
              <a:ext cx="454891" cy="295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0103" y="87898"/>
            <a:ext cx="7481981" cy="541920"/>
            <a:chOff x="0" y="338431"/>
            <a:chExt cx="7481981" cy="541920"/>
          </a:xfrm>
        </p:grpSpPr>
        <p:sp>
          <p:nvSpPr>
            <p:cNvPr id="5" name="矩形 4"/>
            <p:cNvSpPr/>
            <p:nvPr/>
          </p:nvSpPr>
          <p:spPr>
            <a:xfrm>
              <a:off x="0" y="348602"/>
              <a:ext cx="101600" cy="531749"/>
            </a:xfrm>
            <a:prstGeom prst="rect">
              <a:avLst/>
            </a:prstGeom>
            <a:solidFill>
              <a:srgbClr val="E26C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35003" y="338431"/>
              <a:ext cx="7246978" cy="531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DMA</a:t>
              </a:r>
              <a:r>
                <a:rPr lang="zh-CN" altLang="en-US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性能问题总结</a:t>
              </a: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2E4AA64A-04CF-D5C3-4D18-9B57F6482E2F}"/>
              </a:ext>
            </a:extLst>
          </p:cNvPr>
          <p:cNvSpPr txBox="1"/>
          <p:nvPr/>
        </p:nvSpPr>
        <p:spPr>
          <a:xfrm>
            <a:off x="8928" y="603745"/>
            <a:ext cx="6310742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rgbClr val="FF0000"/>
                </a:solidFill>
              </a:rPr>
              <a:t>DMA</a:t>
            </a:r>
            <a:r>
              <a:rPr kumimoji="1" lang="zh-CN" altLang="en-US" b="1" dirty="0">
                <a:solidFill>
                  <a:srgbClr val="FF0000"/>
                </a:solidFill>
              </a:rPr>
              <a:t>目前最优性能访存模式的构造方法：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1500" dirty="0"/>
              <a:t>DMA</a:t>
            </a:r>
            <a:r>
              <a:rPr kumimoji="1" lang="zh-CN" altLang="en-US" sz="1500" dirty="0"/>
              <a:t>引擎和</a:t>
            </a:r>
            <a:r>
              <a:rPr kumimoji="1" lang="en-US" altLang="zh-CN" sz="1500" dirty="0"/>
              <a:t>HBM</a:t>
            </a:r>
            <a:r>
              <a:rPr kumimoji="1" lang="zh-CN" altLang="en-US" sz="1500" dirty="0"/>
              <a:t>通道一一对应时，可以避开一些网络冲突导致的降速，此时能获得较好的带宽。原因有待分析。</a:t>
            </a:r>
            <a:endParaRPr kumimoji="1" lang="en-US" altLang="zh-CN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从</a:t>
            </a:r>
            <a:r>
              <a:rPr kumimoji="1" lang="en-US" altLang="zh-CN" sz="1500" dirty="0"/>
              <a:t>HBM</a:t>
            </a:r>
            <a:r>
              <a:rPr kumimoji="1" lang="zh-CN" altLang="en-US" sz="1500" dirty="0"/>
              <a:t>交织表可知：</a:t>
            </a:r>
            <a:r>
              <a:rPr kumimoji="1" lang="en-US" altLang="zh-CN" sz="1500" dirty="0"/>
              <a:t>PA[6]</a:t>
            </a:r>
            <a:r>
              <a:rPr kumimoji="1" lang="zh-CN" altLang="en-US" sz="1500" dirty="0"/>
              <a:t>以下单个数据片，即</a:t>
            </a:r>
            <a:r>
              <a:rPr kumimoji="1" lang="en-US" altLang="zh-CN" sz="1500" dirty="0"/>
              <a:t>128B</a:t>
            </a:r>
            <a:r>
              <a:rPr kumimoji="1" lang="zh-CN" altLang="en-US" sz="1500" dirty="0"/>
              <a:t>的数据。</a:t>
            </a:r>
            <a:endParaRPr kumimoji="1" lang="en-US" altLang="zh-CN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可以根据下表，每列从核对应一个</a:t>
            </a:r>
            <a:r>
              <a:rPr kumimoji="1" lang="en-US" altLang="zh-CN" sz="1500" dirty="0"/>
              <a:t>DMA</a:t>
            </a:r>
            <a:r>
              <a:rPr kumimoji="1" lang="zh-CN" altLang="en-US" sz="1500" dirty="0"/>
              <a:t>引擎，严格只负责</a:t>
            </a:r>
            <a:r>
              <a:rPr kumimoji="1" lang="en-US" altLang="zh-CN" sz="1500" dirty="0"/>
              <a:t>PA[7-9]</a:t>
            </a:r>
            <a:r>
              <a:rPr kumimoji="1" lang="zh-CN" altLang="en-US" sz="1500" dirty="0"/>
              <a:t>指定的一个通道的数据发送，更高的地址线每列从核都均匀负责。</a:t>
            </a:r>
            <a:endParaRPr kumimoji="1" lang="en-US" altLang="zh-CN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交叉开关冲突避免方法：如果</a:t>
            </a:r>
            <a:r>
              <a:rPr kumimoji="1" lang="en-US" altLang="zh-CN" sz="1500" dirty="0"/>
              <a:t>DMA</a:t>
            </a:r>
            <a:r>
              <a:rPr kumimoji="1" lang="zh-CN" altLang="en-US" sz="1500" dirty="0"/>
              <a:t>引擎和</a:t>
            </a:r>
            <a:r>
              <a:rPr kumimoji="1" lang="en-US" altLang="zh-CN" sz="1500" dirty="0"/>
              <a:t>HBM</a:t>
            </a:r>
            <a:r>
              <a:rPr kumimoji="1" lang="zh-CN" altLang="en-US" sz="1500" dirty="0"/>
              <a:t>通道按顺序对应（</a:t>
            </a:r>
            <a:r>
              <a:rPr kumimoji="1" lang="en-US" altLang="zh-CN" sz="1500" dirty="0"/>
              <a:t>0-&gt;0,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1-&gt;1,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etc.</a:t>
            </a:r>
            <a:r>
              <a:rPr kumimoji="1" lang="zh-CN" altLang="en-US" sz="1500" dirty="0"/>
              <a:t>），会在第一级交叉开关和第二级交叉开关产生流量冲突。为了避免流量冲突掉速，应当把</a:t>
            </a:r>
            <a:r>
              <a:rPr kumimoji="1" lang="en-US" altLang="zh-CN" sz="1500" dirty="0"/>
              <a:t>DMA</a:t>
            </a:r>
            <a:r>
              <a:rPr kumimoji="1" lang="zh-CN" altLang="en-US" sz="1500" dirty="0"/>
              <a:t>引擎按照奇偶交错的重新编号，即</a:t>
            </a:r>
            <a:r>
              <a:rPr kumimoji="1" lang="en-US" altLang="zh-CN" sz="1500" dirty="0"/>
              <a:t>(0,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2,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4,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6,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1,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3,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5,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7)</a:t>
            </a:r>
            <a:r>
              <a:rPr kumimoji="1" lang="zh-CN" altLang="en-US" sz="1500" dirty="0"/>
              <a:t>。</a:t>
            </a:r>
            <a:endParaRPr kumimoji="1" lang="en-US" altLang="zh-CN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500" dirty="0">
                <a:highlight>
                  <a:srgbClr val="FCC129"/>
                </a:highlight>
              </a:rPr>
              <a:t>即采用</a:t>
            </a:r>
            <a:r>
              <a:rPr kumimoji="1" lang="en-US" altLang="zh-CN" sz="1500" dirty="0">
                <a:highlight>
                  <a:srgbClr val="FCC129"/>
                </a:highlight>
              </a:rPr>
              <a:t>128B</a:t>
            </a:r>
            <a:r>
              <a:rPr kumimoji="1" lang="zh-CN" altLang="en-US" sz="1500" dirty="0">
                <a:highlight>
                  <a:srgbClr val="FCC129"/>
                </a:highlight>
              </a:rPr>
              <a:t>为基本块，跨步为</a:t>
            </a:r>
            <a:r>
              <a:rPr kumimoji="1" lang="en-US" altLang="zh-CN" sz="1500" dirty="0">
                <a:highlight>
                  <a:srgbClr val="FCC129"/>
                </a:highlight>
              </a:rPr>
              <a:t>1024B</a:t>
            </a:r>
            <a:r>
              <a:rPr kumimoji="1" lang="zh-CN" altLang="en-US" sz="1500" dirty="0">
                <a:highlight>
                  <a:srgbClr val="FCC129"/>
                </a:highlight>
              </a:rPr>
              <a:t>的跨步访存来实现，并且</a:t>
            </a:r>
            <a:r>
              <a:rPr kumimoji="1" lang="en-US" altLang="zh-CN" sz="1500" dirty="0">
                <a:highlight>
                  <a:srgbClr val="FCC129"/>
                </a:highlight>
              </a:rPr>
              <a:t>DMA</a:t>
            </a:r>
            <a:r>
              <a:rPr kumimoji="1" lang="zh-CN" altLang="en-US" sz="1500" dirty="0">
                <a:highlight>
                  <a:srgbClr val="FCC129"/>
                </a:highlight>
              </a:rPr>
              <a:t>引擎采用奇偶交错</a:t>
            </a:r>
            <a:r>
              <a:rPr kumimoji="1" lang="zh-CN" altLang="en-US" sz="1500" dirty="0"/>
              <a:t>。</a:t>
            </a:r>
            <a:endParaRPr kumimoji="1" lang="en-US" altLang="zh-CN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此种方法性能好的原因尚未完全清晰，很可能是避开了交叉开关路由冲突，以及</a:t>
            </a:r>
            <a:r>
              <a:rPr kumimoji="1" lang="en-US" altLang="zh-CN" sz="1500" dirty="0"/>
              <a:t>HBM</a:t>
            </a:r>
            <a:r>
              <a:rPr kumimoji="1" lang="zh-CN" altLang="en-US" sz="1500" dirty="0"/>
              <a:t>内部</a:t>
            </a:r>
            <a:r>
              <a:rPr kumimoji="1" lang="en-US" altLang="zh-CN" sz="1500" dirty="0"/>
              <a:t>Bank</a:t>
            </a:r>
            <a:r>
              <a:rPr kumimoji="1" lang="zh-CN" altLang="en-US" sz="1500" dirty="0"/>
              <a:t>冲突</a:t>
            </a:r>
            <a:endParaRPr kumimoji="1" lang="en-US" altLang="zh-CN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500" b="1" dirty="0"/>
              <a:t>单</a:t>
            </a:r>
            <a:r>
              <a:rPr kumimoji="1" lang="en-US" altLang="zh-CN" sz="1500" b="1" dirty="0"/>
              <a:t>Get</a:t>
            </a:r>
            <a:r>
              <a:rPr kumimoji="1" lang="zh-CN" altLang="en-US" sz="1500" b="1" dirty="0"/>
              <a:t>：</a:t>
            </a:r>
            <a:r>
              <a:rPr lang="en-US" altLang="zh-CN" sz="1500" b="1" dirty="0">
                <a:effectLst/>
              </a:rPr>
              <a:t>324</a:t>
            </a:r>
            <a:r>
              <a:rPr kumimoji="1" lang="en-US" altLang="zh-CN" sz="1500" b="1" dirty="0"/>
              <a:t>GB/s</a:t>
            </a:r>
            <a:r>
              <a:rPr kumimoji="1" lang="zh-CN" altLang="en-US" sz="1500" b="1" dirty="0"/>
              <a:t>，单</a:t>
            </a:r>
            <a:r>
              <a:rPr kumimoji="1" lang="en-US" altLang="zh-CN" sz="1500" b="1" dirty="0"/>
              <a:t>Put</a:t>
            </a:r>
            <a:r>
              <a:rPr kumimoji="1" lang="zh-CN" altLang="en-US" sz="1500" b="1" dirty="0"/>
              <a:t>：</a:t>
            </a:r>
            <a:r>
              <a:rPr kumimoji="1" lang="en-US" altLang="zh-CN" sz="1500" b="1" dirty="0"/>
              <a:t>348GB/s</a:t>
            </a:r>
            <a:r>
              <a:rPr kumimoji="1" lang="zh-CN" altLang="en-US" sz="1500" b="1" dirty="0"/>
              <a:t>，</a:t>
            </a:r>
            <a:r>
              <a:rPr kumimoji="1" lang="en-US" altLang="zh-CN" sz="1500" b="1" dirty="0" err="1"/>
              <a:t>Get+put</a:t>
            </a:r>
            <a:r>
              <a:rPr kumimoji="1" lang="zh-CN" altLang="en-US" sz="1500" b="1" dirty="0"/>
              <a:t>：</a:t>
            </a:r>
            <a:r>
              <a:rPr kumimoji="1" lang="en-US" altLang="zh-CN" sz="1500" b="1" dirty="0"/>
              <a:t>313GB/s</a:t>
            </a:r>
          </a:p>
          <a:p>
            <a:pPr lvl="2"/>
            <a:endParaRPr kumimoji="1" lang="en-US" altLang="zh-CN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412253-9CEA-38B6-26F6-86772627B2D7}"/>
              </a:ext>
            </a:extLst>
          </p:cNvPr>
          <p:cNvSpPr/>
          <p:nvPr/>
        </p:nvSpPr>
        <p:spPr>
          <a:xfrm>
            <a:off x="6104034" y="2967004"/>
            <a:ext cx="523374" cy="29131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69F55D-5BD0-1F0B-0312-98305C041BB8}"/>
              </a:ext>
            </a:extLst>
          </p:cNvPr>
          <p:cNvSpPr/>
          <p:nvPr/>
        </p:nvSpPr>
        <p:spPr>
          <a:xfrm>
            <a:off x="6823944" y="2965653"/>
            <a:ext cx="548679" cy="2872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512E44-CBD0-E443-2CFE-AE6D9F0BC7A5}"/>
              </a:ext>
            </a:extLst>
          </p:cNvPr>
          <p:cNvSpPr/>
          <p:nvPr/>
        </p:nvSpPr>
        <p:spPr>
          <a:xfrm>
            <a:off x="7530549" y="2985580"/>
            <a:ext cx="574623" cy="27599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20CD1C-D936-98F2-353F-7F0F42E50F6A}"/>
              </a:ext>
            </a:extLst>
          </p:cNvPr>
          <p:cNvSpPr/>
          <p:nvPr/>
        </p:nvSpPr>
        <p:spPr>
          <a:xfrm>
            <a:off x="8242625" y="3003210"/>
            <a:ext cx="566008" cy="26872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C158170-4369-E79B-7FFD-725C098482F3}"/>
              </a:ext>
            </a:extLst>
          </p:cNvPr>
          <p:cNvSpPr/>
          <p:nvPr/>
        </p:nvSpPr>
        <p:spPr>
          <a:xfrm>
            <a:off x="8962535" y="2965783"/>
            <a:ext cx="574759" cy="2812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C431B11-DDC8-DE8C-6560-D85C573BA447}"/>
              </a:ext>
            </a:extLst>
          </p:cNvPr>
          <p:cNvSpPr/>
          <p:nvPr/>
        </p:nvSpPr>
        <p:spPr>
          <a:xfrm>
            <a:off x="9669140" y="2966326"/>
            <a:ext cx="574755" cy="2919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E946497-EA38-7175-98D6-80C7462813F6}"/>
              </a:ext>
            </a:extLst>
          </p:cNvPr>
          <p:cNvSpPr/>
          <p:nvPr/>
        </p:nvSpPr>
        <p:spPr>
          <a:xfrm>
            <a:off x="10389051" y="2967004"/>
            <a:ext cx="591281" cy="29130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BAEFBE0-9404-6EF1-73DF-AAEAD180B661}"/>
              </a:ext>
            </a:extLst>
          </p:cNvPr>
          <p:cNvSpPr/>
          <p:nvPr/>
        </p:nvSpPr>
        <p:spPr>
          <a:xfrm>
            <a:off x="11108963" y="2965653"/>
            <a:ext cx="591280" cy="2912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菱形 77">
            <a:extLst>
              <a:ext uri="{FF2B5EF4-FFF2-40B4-BE49-F238E27FC236}">
                <a16:creationId xmlns:a16="http://schemas.microsoft.com/office/drawing/2014/main" id="{37C1EE10-96AF-6762-5978-1CCD974035A1}"/>
              </a:ext>
            </a:extLst>
          </p:cNvPr>
          <p:cNvSpPr/>
          <p:nvPr/>
        </p:nvSpPr>
        <p:spPr>
          <a:xfrm>
            <a:off x="7251532" y="2219696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菱形 78">
            <a:extLst>
              <a:ext uri="{FF2B5EF4-FFF2-40B4-BE49-F238E27FC236}">
                <a16:creationId xmlns:a16="http://schemas.microsoft.com/office/drawing/2014/main" id="{E26A417F-701B-9C09-C190-2D502B33097E}"/>
              </a:ext>
            </a:extLst>
          </p:cNvPr>
          <p:cNvSpPr/>
          <p:nvPr/>
        </p:nvSpPr>
        <p:spPr>
          <a:xfrm>
            <a:off x="10130576" y="2219696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菱形 79">
            <a:extLst>
              <a:ext uri="{FF2B5EF4-FFF2-40B4-BE49-F238E27FC236}">
                <a16:creationId xmlns:a16="http://schemas.microsoft.com/office/drawing/2014/main" id="{D2A87704-BD12-E7C2-488A-55FAA2A6969D}"/>
              </a:ext>
            </a:extLst>
          </p:cNvPr>
          <p:cNvSpPr/>
          <p:nvPr/>
        </p:nvSpPr>
        <p:spPr>
          <a:xfrm>
            <a:off x="6606981" y="1581398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菱形 80">
            <a:extLst>
              <a:ext uri="{FF2B5EF4-FFF2-40B4-BE49-F238E27FC236}">
                <a16:creationId xmlns:a16="http://schemas.microsoft.com/office/drawing/2014/main" id="{48609DB7-BEE6-0EE6-624A-A45443046126}"/>
              </a:ext>
            </a:extLst>
          </p:cNvPr>
          <p:cNvSpPr/>
          <p:nvPr/>
        </p:nvSpPr>
        <p:spPr>
          <a:xfrm>
            <a:off x="8309131" y="1581398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菱形 81">
            <a:extLst>
              <a:ext uri="{FF2B5EF4-FFF2-40B4-BE49-F238E27FC236}">
                <a16:creationId xmlns:a16="http://schemas.microsoft.com/office/drawing/2014/main" id="{02A66E3B-B35E-F34E-675B-2EBCFABA1494}"/>
              </a:ext>
            </a:extLst>
          </p:cNvPr>
          <p:cNvSpPr/>
          <p:nvPr/>
        </p:nvSpPr>
        <p:spPr>
          <a:xfrm>
            <a:off x="9015900" y="1581398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菱形 82">
            <a:extLst>
              <a:ext uri="{FF2B5EF4-FFF2-40B4-BE49-F238E27FC236}">
                <a16:creationId xmlns:a16="http://schemas.microsoft.com/office/drawing/2014/main" id="{EE7300D6-321F-E6C1-B883-8A22E3FCB6AE}"/>
              </a:ext>
            </a:extLst>
          </p:cNvPr>
          <p:cNvSpPr/>
          <p:nvPr/>
        </p:nvSpPr>
        <p:spPr>
          <a:xfrm>
            <a:off x="10728680" y="1581398"/>
            <a:ext cx="242187" cy="3048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07978627-3A3D-D9C5-3B36-4748A0C0DA96}"/>
              </a:ext>
            </a:extLst>
          </p:cNvPr>
          <p:cNvCxnSpPr>
            <a:cxnSpLocks/>
            <a:stCxn id="7" idx="0"/>
            <a:endCxn id="78" idx="2"/>
          </p:cNvCxnSpPr>
          <p:nvPr/>
        </p:nvCxnSpPr>
        <p:spPr>
          <a:xfrm flipV="1">
            <a:off x="6365721" y="2524496"/>
            <a:ext cx="1006905" cy="442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0103B63C-9D64-4DA7-19A0-06C245E6CD85}"/>
              </a:ext>
            </a:extLst>
          </p:cNvPr>
          <p:cNvCxnSpPr>
            <a:cxnSpLocks/>
            <a:stCxn id="9" idx="0"/>
            <a:endCxn id="78" idx="2"/>
          </p:cNvCxnSpPr>
          <p:nvPr/>
        </p:nvCxnSpPr>
        <p:spPr>
          <a:xfrm flipV="1">
            <a:off x="7098284" y="2524496"/>
            <a:ext cx="274342" cy="441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3D455915-89EA-BBC6-D33F-2D9313CF9DB1}"/>
              </a:ext>
            </a:extLst>
          </p:cNvPr>
          <p:cNvCxnSpPr>
            <a:cxnSpLocks/>
            <a:stCxn id="11" idx="0"/>
            <a:endCxn id="78" idx="2"/>
          </p:cNvCxnSpPr>
          <p:nvPr/>
        </p:nvCxnSpPr>
        <p:spPr>
          <a:xfrm flipH="1" flipV="1">
            <a:off x="7372626" y="2524496"/>
            <a:ext cx="445235" cy="461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81EBD9AC-4D0C-AF57-68CA-13B04D93AAE3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7372625" y="2524496"/>
            <a:ext cx="1153004" cy="478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D754866A-A6F8-A9EE-1113-98C2E6389712}"/>
              </a:ext>
            </a:extLst>
          </p:cNvPr>
          <p:cNvCxnSpPr>
            <a:cxnSpLocks/>
            <a:stCxn id="19" idx="0"/>
            <a:endCxn id="79" idx="2"/>
          </p:cNvCxnSpPr>
          <p:nvPr/>
        </p:nvCxnSpPr>
        <p:spPr>
          <a:xfrm flipV="1">
            <a:off x="9249915" y="2524496"/>
            <a:ext cx="1001755" cy="441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A6DD7D80-F969-4B16-E3D8-67053158E2DB}"/>
              </a:ext>
            </a:extLst>
          </p:cNvPr>
          <p:cNvCxnSpPr>
            <a:cxnSpLocks/>
            <a:stCxn id="55" idx="0"/>
            <a:endCxn id="79" idx="2"/>
          </p:cNvCxnSpPr>
          <p:nvPr/>
        </p:nvCxnSpPr>
        <p:spPr>
          <a:xfrm flipV="1">
            <a:off x="9956518" y="2524496"/>
            <a:ext cx="295152" cy="441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AC12C5FE-9A63-3429-197D-FB7C59866D77}"/>
              </a:ext>
            </a:extLst>
          </p:cNvPr>
          <p:cNvCxnSpPr>
            <a:cxnSpLocks/>
            <a:stCxn id="57" idx="0"/>
          </p:cNvCxnSpPr>
          <p:nvPr/>
        </p:nvCxnSpPr>
        <p:spPr>
          <a:xfrm flipH="1" flipV="1">
            <a:off x="10251669" y="2524496"/>
            <a:ext cx="433023" cy="442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96E2A6F3-EC8D-2340-8438-73C51D1AFEF3}"/>
              </a:ext>
            </a:extLst>
          </p:cNvPr>
          <p:cNvCxnSpPr>
            <a:cxnSpLocks/>
            <a:stCxn id="58" idx="0"/>
            <a:endCxn id="79" idx="2"/>
          </p:cNvCxnSpPr>
          <p:nvPr/>
        </p:nvCxnSpPr>
        <p:spPr>
          <a:xfrm flipH="1" flipV="1">
            <a:off x="10251670" y="2524496"/>
            <a:ext cx="1152933" cy="441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08C3A300-4A85-8C92-94EE-CE27F23B5555}"/>
              </a:ext>
            </a:extLst>
          </p:cNvPr>
          <p:cNvCxnSpPr>
            <a:cxnSpLocks/>
            <a:stCxn id="78" idx="0"/>
            <a:endCxn id="80" idx="2"/>
          </p:cNvCxnSpPr>
          <p:nvPr/>
        </p:nvCxnSpPr>
        <p:spPr>
          <a:xfrm flipH="1" flipV="1">
            <a:off x="6728075" y="1886198"/>
            <a:ext cx="644551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0422497F-DEC5-436D-D426-E6976D3F5403}"/>
              </a:ext>
            </a:extLst>
          </p:cNvPr>
          <p:cNvCxnSpPr>
            <a:stCxn id="78" idx="0"/>
            <a:endCxn id="82" idx="2"/>
          </p:cNvCxnSpPr>
          <p:nvPr/>
        </p:nvCxnSpPr>
        <p:spPr>
          <a:xfrm flipV="1">
            <a:off x="7372626" y="1886198"/>
            <a:ext cx="1764368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1860406C-978E-1148-C8F9-1B5F1DD27559}"/>
              </a:ext>
            </a:extLst>
          </p:cNvPr>
          <p:cNvCxnSpPr>
            <a:stCxn id="78" idx="0"/>
            <a:endCxn id="83" idx="2"/>
          </p:cNvCxnSpPr>
          <p:nvPr/>
        </p:nvCxnSpPr>
        <p:spPr>
          <a:xfrm flipV="1">
            <a:off x="7372626" y="1886198"/>
            <a:ext cx="3477148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363BE910-2110-966C-A77D-711C818E90DE}"/>
              </a:ext>
            </a:extLst>
          </p:cNvPr>
          <p:cNvCxnSpPr>
            <a:stCxn id="78" idx="0"/>
            <a:endCxn id="81" idx="2"/>
          </p:cNvCxnSpPr>
          <p:nvPr/>
        </p:nvCxnSpPr>
        <p:spPr>
          <a:xfrm flipV="1">
            <a:off x="7372626" y="1886198"/>
            <a:ext cx="1057599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2779B7CD-D427-4347-A58A-78A6C90FC276}"/>
              </a:ext>
            </a:extLst>
          </p:cNvPr>
          <p:cNvCxnSpPr>
            <a:stCxn id="79" idx="0"/>
            <a:endCxn id="80" idx="2"/>
          </p:cNvCxnSpPr>
          <p:nvPr/>
        </p:nvCxnSpPr>
        <p:spPr>
          <a:xfrm flipH="1" flipV="1">
            <a:off x="6728075" y="1886198"/>
            <a:ext cx="3523595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B20DFA66-D020-3C5C-3FDD-DCBF251856B9}"/>
              </a:ext>
            </a:extLst>
          </p:cNvPr>
          <p:cNvCxnSpPr>
            <a:stCxn id="79" idx="0"/>
            <a:endCxn id="83" idx="2"/>
          </p:cNvCxnSpPr>
          <p:nvPr/>
        </p:nvCxnSpPr>
        <p:spPr>
          <a:xfrm flipV="1">
            <a:off x="10251670" y="1886198"/>
            <a:ext cx="598104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76097FD5-7520-CD91-B977-2E95B4848061}"/>
              </a:ext>
            </a:extLst>
          </p:cNvPr>
          <p:cNvCxnSpPr>
            <a:stCxn id="79" idx="0"/>
          </p:cNvCxnSpPr>
          <p:nvPr/>
        </p:nvCxnSpPr>
        <p:spPr>
          <a:xfrm flipH="1" flipV="1">
            <a:off x="9136993" y="1886198"/>
            <a:ext cx="1114677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68D4AD70-3694-0F1A-9262-5976740B77C5}"/>
              </a:ext>
            </a:extLst>
          </p:cNvPr>
          <p:cNvCxnSpPr>
            <a:stCxn id="79" idx="0"/>
          </p:cNvCxnSpPr>
          <p:nvPr/>
        </p:nvCxnSpPr>
        <p:spPr>
          <a:xfrm flipH="1" flipV="1">
            <a:off x="8417083" y="1886198"/>
            <a:ext cx="1834587" cy="333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 99">
            <a:extLst>
              <a:ext uri="{FF2B5EF4-FFF2-40B4-BE49-F238E27FC236}">
                <a16:creationId xmlns:a16="http://schemas.microsoft.com/office/drawing/2014/main" id="{030C6EC4-201D-15D7-B37D-7ED3572B6AAD}"/>
              </a:ext>
            </a:extLst>
          </p:cNvPr>
          <p:cNvSpPr/>
          <p:nvPr/>
        </p:nvSpPr>
        <p:spPr>
          <a:xfrm>
            <a:off x="6823945" y="823077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CC0063F2-3D7B-35D5-0FEE-DEDB2AA2860B}"/>
              </a:ext>
            </a:extLst>
          </p:cNvPr>
          <p:cNvSpPr/>
          <p:nvPr/>
        </p:nvSpPr>
        <p:spPr>
          <a:xfrm>
            <a:off x="6104034" y="821335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3BDC5005-7F21-0BE5-40C1-BEAD15FF9FE4}"/>
              </a:ext>
            </a:extLst>
          </p:cNvPr>
          <p:cNvSpPr/>
          <p:nvPr/>
        </p:nvSpPr>
        <p:spPr>
          <a:xfrm>
            <a:off x="7543645" y="838845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F5957837-0A0A-7E3C-DB3B-D8B5E055E048}"/>
              </a:ext>
            </a:extLst>
          </p:cNvPr>
          <p:cNvSpPr/>
          <p:nvPr/>
        </p:nvSpPr>
        <p:spPr>
          <a:xfrm>
            <a:off x="8254810" y="821335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9BFDEBD9-3B45-79E5-4183-F535B2596C3A}"/>
              </a:ext>
            </a:extLst>
          </p:cNvPr>
          <p:cNvSpPr/>
          <p:nvPr/>
        </p:nvSpPr>
        <p:spPr>
          <a:xfrm>
            <a:off x="8971513" y="838845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F41323B7-1128-5DFE-85C6-5CDDEA76150E}"/>
              </a:ext>
            </a:extLst>
          </p:cNvPr>
          <p:cNvSpPr/>
          <p:nvPr/>
        </p:nvSpPr>
        <p:spPr>
          <a:xfrm>
            <a:off x="9667139" y="827321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5F624B4-D112-5A5E-1437-2B850B366CE2}"/>
              </a:ext>
            </a:extLst>
          </p:cNvPr>
          <p:cNvSpPr/>
          <p:nvPr/>
        </p:nvSpPr>
        <p:spPr>
          <a:xfrm>
            <a:off x="10387205" y="839759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06078C36-81FC-E33D-66B7-8015BC2E67A2}"/>
              </a:ext>
            </a:extLst>
          </p:cNvPr>
          <p:cNvSpPr/>
          <p:nvPr/>
        </p:nvSpPr>
        <p:spPr>
          <a:xfrm>
            <a:off x="11126451" y="827321"/>
            <a:ext cx="348916" cy="358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4E4D2BDB-FE5E-8B3E-64FF-7EAD9542E5E1}"/>
              </a:ext>
            </a:extLst>
          </p:cNvPr>
          <p:cNvCxnSpPr>
            <a:stCxn id="80" idx="0"/>
            <a:endCxn id="101" idx="2"/>
          </p:cNvCxnSpPr>
          <p:nvPr/>
        </p:nvCxnSpPr>
        <p:spPr>
          <a:xfrm flipH="1" flipV="1">
            <a:off x="6278492" y="1179875"/>
            <a:ext cx="449583" cy="401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C9058353-5ED9-4C82-79B8-6023B9E2902F}"/>
              </a:ext>
            </a:extLst>
          </p:cNvPr>
          <p:cNvCxnSpPr>
            <a:stCxn id="80" idx="0"/>
            <a:endCxn id="100" idx="2"/>
          </p:cNvCxnSpPr>
          <p:nvPr/>
        </p:nvCxnSpPr>
        <p:spPr>
          <a:xfrm flipV="1">
            <a:off x="6728075" y="1181617"/>
            <a:ext cx="270328" cy="399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3E7860CA-3DFA-E7E2-8067-D347544AE07D}"/>
              </a:ext>
            </a:extLst>
          </p:cNvPr>
          <p:cNvCxnSpPr>
            <a:stCxn id="81" idx="0"/>
            <a:endCxn id="102" idx="2"/>
          </p:cNvCxnSpPr>
          <p:nvPr/>
        </p:nvCxnSpPr>
        <p:spPr>
          <a:xfrm flipH="1" flipV="1">
            <a:off x="7718103" y="1197385"/>
            <a:ext cx="712122" cy="384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61CE8133-060C-5CF4-60E3-E88A81E6676A}"/>
              </a:ext>
            </a:extLst>
          </p:cNvPr>
          <p:cNvCxnSpPr>
            <a:stCxn id="81" idx="0"/>
            <a:endCxn id="103" idx="2"/>
          </p:cNvCxnSpPr>
          <p:nvPr/>
        </p:nvCxnSpPr>
        <p:spPr>
          <a:xfrm flipH="1" flipV="1">
            <a:off x="8429268" y="1179875"/>
            <a:ext cx="957" cy="401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D3520FE6-24C9-3885-7908-881B5C5489C4}"/>
              </a:ext>
            </a:extLst>
          </p:cNvPr>
          <p:cNvCxnSpPr>
            <a:cxnSpLocks/>
            <a:stCxn id="82" idx="0"/>
            <a:endCxn id="104" idx="2"/>
          </p:cNvCxnSpPr>
          <p:nvPr/>
        </p:nvCxnSpPr>
        <p:spPr>
          <a:xfrm flipV="1">
            <a:off x="9136994" y="1197385"/>
            <a:ext cx="8977" cy="384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5C06A713-B1EB-0681-2514-D33A63A1BD67}"/>
              </a:ext>
            </a:extLst>
          </p:cNvPr>
          <p:cNvCxnSpPr>
            <a:stCxn id="82" idx="0"/>
            <a:endCxn id="105" idx="2"/>
          </p:cNvCxnSpPr>
          <p:nvPr/>
        </p:nvCxnSpPr>
        <p:spPr>
          <a:xfrm flipV="1">
            <a:off x="9136994" y="1185861"/>
            <a:ext cx="704603" cy="395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135A34E0-0A57-282D-ED83-0A87738CDEC0}"/>
              </a:ext>
            </a:extLst>
          </p:cNvPr>
          <p:cNvCxnSpPr>
            <a:stCxn id="83" idx="0"/>
            <a:endCxn id="106" idx="2"/>
          </p:cNvCxnSpPr>
          <p:nvPr/>
        </p:nvCxnSpPr>
        <p:spPr>
          <a:xfrm flipH="1" flipV="1">
            <a:off x="10561663" y="1198299"/>
            <a:ext cx="288111" cy="383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E47D32F1-1B20-6884-7C20-16D13D23CFBB}"/>
              </a:ext>
            </a:extLst>
          </p:cNvPr>
          <p:cNvCxnSpPr>
            <a:cxnSpLocks/>
            <a:stCxn id="83" idx="0"/>
            <a:endCxn id="107" idx="2"/>
          </p:cNvCxnSpPr>
          <p:nvPr/>
        </p:nvCxnSpPr>
        <p:spPr>
          <a:xfrm flipV="1">
            <a:off x="10849774" y="1185861"/>
            <a:ext cx="451135" cy="395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5330CDF1-1888-92B3-2C57-6E082338DF27}"/>
              </a:ext>
            </a:extLst>
          </p:cNvPr>
          <p:cNvSpPr txBox="1"/>
          <p:nvPr/>
        </p:nvSpPr>
        <p:spPr>
          <a:xfrm>
            <a:off x="10514301" y="1972120"/>
            <a:ext cx="1338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49/70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GB/s</a:t>
            </a:r>
            <a:endParaRPr kumimoji="1" lang="zh-CN" altLang="en-US" sz="16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E72DA03-805C-E5BF-4F65-BBBA24276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776367"/>
              </p:ext>
            </p:extLst>
          </p:nvPr>
        </p:nvGraphicFramePr>
        <p:xfrm>
          <a:off x="191039" y="4409752"/>
          <a:ext cx="11920290" cy="2072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19282">
                  <a:extLst>
                    <a:ext uri="{9D8B030D-6E8A-4147-A177-3AD203B41FA5}">
                      <a16:colId xmlns:a16="http://schemas.microsoft.com/office/drawing/2014/main" val="1260127818"/>
                    </a:ext>
                  </a:extLst>
                </a:gridCol>
                <a:gridCol w="672752">
                  <a:extLst>
                    <a:ext uri="{9D8B030D-6E8A-4147-A177-3AD203B41FA5}">
                      <a16:colId xmlns:a16="http://schemas.microsoft.com/office/drawing/2014/main" val="22006676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2680483222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1507699129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2578599057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3904562497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4266752486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2016990848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3985920082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3678802732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1410380439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919834002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3614292343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1692425664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93611316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2660897868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3814052091"/>
                    </a:ext>
                  </a:extLst>
                </a:gridCol>
                <a:gridCol w="658016">
                  <a:extLst>
                    <a:ext uri="{9D8B030D-6E8A-4147-A177-3AD203B41FA5}">
                      <a16:colId xmlns:a16="http://schemas.microsoft.com/office/drawing/2014/main" val="2499457981"/>
                    </a:ext>
                  </a:extLst>
                </a:gridCol>
              </a:tblGrid>
              <a:tr h="442924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物理</a:t>
                      </a:r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地址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PA[0]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PA[2]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PA[3]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PA[4]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PA[5]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PA[6]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PA[7]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PA[8]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PA[9]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PA[10]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PA[11]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PA[12]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PA[13]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PA[14]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PA[15]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PA[16]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52814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HBM</a:t>
                      </a:r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地址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CA[1]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列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CA[2]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CH[0]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通道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CH[1]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通道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CH[2]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通道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BA[4]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伪通道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BA[2]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BG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CA[3]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列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CA[4]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CA[5]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BA[0]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Bank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BA[1]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Bank</a:t>
                      </a:r>
                      <a:endParaRPr lang="zh-CN" altLang="en-US" sz="1200" b="1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587997"/>
                  </a:ext>
                </a:extLst>
              </a:tr>
              <a:tr h="445604">
                <a:tc>
                  <a:txBody>
                    <a:bodyPr/>
                    <a:lstStyle/>
                    <a:p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物理</a:t>
                      </a:r>
                      <a:endParaRPr lang="en-US" altLang="zh-C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地址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PA[17]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PA[18]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PA[19]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PA[20]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PA[21]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PA[22]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PA[23]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PA[24]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PA[25]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PA[26]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PA[27]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PA[28]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PA[29]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PA[30]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PA[31]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PA[32]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PA[33]</a:t>
                      </a:r>
                      <a:endParaRPr lang="zh-CN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404763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HBM</a:t>
                      </a:r>
                      <a:r>
                        <a:rPr lang="zh-CN" alt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地址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BA[3]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BG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SID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BG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RA[0]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RA[1]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RA[2]</a:t>
                      </a:r>
                      <a:endParaRPr lang="zh-CN" alt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RA[3]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RA[4]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RA[5]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RA[6]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RA[7]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RA[8]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RA[9]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RA[10]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RA[11]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RA[12]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RA[13]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RA[14]</a:t>
                      </a:r>
                    </a:p>
                    <a:p>
                      <a:pPr marL="0" algn="l" defTabSz="914400" rtl="0" eaLnBrk="1" latinLnBrk="0" hangingPunct="1"/>
                      <a:r>
                        <a:rPr lang="zh-CN" altLang="en-US" sz="12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18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21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361950" y="6398036"/>
            <a:ext cx="11367943" cy="295144"/>
            <a:chOff x="371475" y="4964836"/>
            <a:chExt cx="11367943" cy="295144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71475" y="5125367"/>
              <a:ext cx="10521084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1341100" y="5125367"/>
              <a:ext cx="398318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0886209" y="4964836"/>
              <a:ext cx="454891" cy="295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0103" y="352983"/>
            <a:ext cx="7481981" cy="541920"/>
            <a:chOff x="0" y="338431"/>
            <a:chExt cx="7481981" cy="541920"/>
          </a:xfrm>
        </p:grpSpPr>
        <p:sp>
          <p:nvSpPr>
            <p:cNvPr id="5" name="矩形 4"/>
            <p:cNvSpPr/>
            <p:nvPr/>
          </p:nvSpPr>
          <p:spPr>
            <a:xfrm>
              <a:off x="0" y="348602"/>
              <a:ext cx="101600" cy="531749"/>
            </a:xfrm>
            <a:prstGeom prst="rect">
              <a:avLst/>
            </a:prstGeom>
            <a:solidFill>
              <a:srgbClr val="E26C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35003" y="338431"/>
              <a:ext cx="7246978" cy="531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多模块协作掉速分析（待完善）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C02C4A53-88F8-80DA-B014-ED8EBC20FC85}"/>
              </a:ext>
            </a:extLst>
          </p:cNvPr>
          <p:cNvSpPr txBox="1"/>
          <p:nvPr/>
        </p:nvSpPr>
        <p:spPr>
          <a:xfrm>
            <a:off x="389837" y="1060869"/>
            <a:ext cx="6771545" cy="5955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分析完了各个模块的性能参数，就应该分析不同模块协作引发的性能下降，这里的模块包括了</a:t>
            </a:r>
            <a:r>
              <a:rPr kumimoji="1" lang="en-US" altLang="zh-CN" dirty="0"/>
              <a:t>DMA</a:t>
            </a:r>
            <a:r>
              <a:rPr kumimoji="1" lang="zh-CN" altLang="en-US" dirty="0"/>
              <a:t>、</a:t>
            </a:r>
            <a:r>
              <a:rPr kumimoji="1" lang="en-US" altLang="zh-CN" dirty="0"/>
              <a:t>RMA</a:t>
            </a:r>
            <a:r>
              <a:rPr kumimoji="1" lang="zh-CN" altLang="en-US" dirty="0"/>
              <a:t>、</a:t>
            </a:r>
            <a:r>
              <a:rPr kumimoji="1" lang="en-US" altLang="zh-CN" dirty="0"/>
              <a:t>SIMD</a:t>
            </a:r>
            <a:r>
              <a:rPr kumimoji="1" lang="zh-CN" altLang="en-US" dirty="0"/>
              <a:t>和</a:t>
            </a:r>
            <a:r>
              <a:rPr kumimoji="1" lang="en-US" altLang="zh-CN" dirty="0"/>
              <a:t>ACE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/>
              <a:t>RMA</a:t>
            </a:r>
            <a:r>
              <a:rPr kumimoji="1" lang="zh-CN" altLang="en-US" b="1" dirty="0"/>
              <a:t>和</a:t>
            </a:r>
            <a:r>
              <a:rPr kumimoji="1" lang="en-US" altLang="zh-CN" b="1" dirty="0"/>
              <a:t>ACE</a:t>
            </a:r>
            <a:r>
              <a:rPr kumimoji="1" lang="zh-CN" altLang="en-US" b="1" dirty="0"/>
              <a:t>模块的冲突：</a:t>
            </a:r>
            <a:endParaRPr kumimoji="1" lang="en-US" altLang="zh-CN" b="1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700" dirty="0"/>
              <a:t>ACE</a:t>
            </a:r>
            <a:r>
              <a:rPr kumimoji="1" lang="zh-CN" altLang="en-US" sz="1700" dirty="0"/>
              <a:t>西向带宽需求有</a:t>
            </a:r>
            <a:r>
              <a:rPr kumimoji="1" lang="en-US" altLang="zh-CN" sz="1700" dirty="0"/>
              <a:t>80GB/s</a:t>
            </a:r>
            <a:r>
              <a:rPr kumimoji="1" lang="zh-CN" altLang="en-US" sz="1700" dirty="0"/>
              <a:t>，和</a:t>
            </a:r>
            <a:r>
              <a:rPr kumimoji="1" lang="en-US" altLang="zh-CN" sz="1700" dirty="0"/>
              <a:t>RMA</a:t>
            </a:r>
            <a:r>
              <a:rPr kumimoji="1" lang="zh-CN" altLang="en-US" sz="1700" dirty="0"/>
              <a:t>流量冲突时会有显著掉速。</a:t>
            </a:r>
            <a:r>
              <a:rPr kumimoji="1" lang="en-US" altLang="zh-CN" sz="1700" dirty="0">
                <a:highlight>
                  <a:srgbClr val="FCC129"/>
                </a:highlight>
              </a:rPr>
              <a:t>RMA</a:t>
            </a:r>
            <a:r>
              <a:rPr kumimoji="1" lang="zh-CN" altLang="en-US" sz="1700" dirty="0">
                <a:highlight>
                  <a:srgbClr val="FCC129"/>
                </a:highlight>
              </a:rPr>
              <a:t>需要优先和西向数据错开</a:t>
            </a:r>
            <a:r>
              <a:rPr kumimoji="1" lang="en-US" altLang="zh-CN" sz="1700" dirty="0">
                <a:highlight>
                  <a:srgbClr val="FCC129"/>
                </a:highlight>
              </a:rPr>
              <a:t>LDM</a:t>
            </a:r>
            <a:r>
              <a:rPr kumimoji="1" lang="zh-CN" altLang="en-US" sz="1700" dirty="0">
                <a:highlight>
                  <a:srgbClr val="FCC129"/>
                </a:highlight>
              </a:rPr>
              <a:t> </a:t>
            </a:r>
            <a:r>
              <a:rPr kumimoji="1" lang="en-US" altLang="zh-CN" sz="1700" dirty="0">
                <a:highlight>
                  <a:srgbClr val="FCC129"/>
                </a:highlight>
              </a:rPr>
              <a:t>Bank</a:t>
            </a:r>
            <a:r>
              <a:rPr kumimoji="1" lang="zh-CN" altLang="en-US" sz="1700" dirty="0">
                <a:highlight>
                  <a:srgbClr val="FCC129"/>
                </a:highlight>
              </a:rPr>
              <a:t>，这是优化中需要最优先处理的</a:t>
            </a:r>
            <a:r>
              <a:rPr kumimoji="1" lang="en-US" altLang="zh-CN" sz="1700" dirty="0">
                <a:highlight>
                  <a:srgbClr val="FCC129"/>
                </a:highlight>
              </a:rPr>
              <a:t>LDM</a:t>
            </a:r>
            <a:r>
              <a:rPr kumimoji="1" lang="zh-CN" altLang="en-US" sz="1700" dirty="0">
                <a:highlight>
                  <a:srgbClr val="FCC129"/>
                </a:highlight>
              </a:rPr>
              <a:t> </a:t>
            </a:r>
            <a:r>
              <a:rPr kumimoji="1" lang="en-US" altLang="zh-CN" sz="1700" dirty="0">
                <a:highlight>
                  <a:srgbClr val="FCC129"/>
                </a:highlight>
              </a:rPr>
              <a:t>Bank</a:t>
            </a:r>
            <a:r>
              <a:rPr kumimoji="1" lang="zh-CN" altLang="en-US" sz="1700" dirty="0">
                <a:highlight>
                  <a:srgbClr val="FCC129"/>
                </a:highlight>
              </a:rPr>
              <a:t>冲突问题。</a:t>
            </a:r>
            <a:endParaRPr kumimoji="1" lang="en-US" altLang="zh-CN" sz="1700" dirty="0">
              <a:highlight>
                <a:srgbClr val="FCC129"/>
              </a:highlight>
            </a:endParaRPr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700" dirty="0"/>
              <a:t>当错开</a:t>
            </a:r>
            <a:r>
              <a:rPr kumimoji="1" lang="en-US" altLang="zh-CN" sz="1700" dirty="0"/>
              <a:t>LDM</a:t>
            </a:r>
            <a:r>
              <a:rPr kumimoji="1" lang="zh-CN" altLang="en-US" sz="1700" dirty="0"/>
              <a:t> </a:t>
            </a:r>
            <a:r>
              <a:rPr kumimoji="1" lang="en-US" altLang="zh-CN" sz="1700" dirty="0"/>
              <a:t>Bank</a:t>
            </a:r>
            <a:r>
              <a:rPr kumimoji="1" lang="zh-CN" altLang="en-US" sz="1700" dirty="0"/>
              <a:t>时，两者可以完全掩盖。</a:t>
            </a:r>
            <a:endParaRPr kumimoji="1" lang="en-US" altLang="zh-CN" sz="1700" dirty="0"/>
          </a:p>
          <a:p>
            <a:pPr lvl="1"/>
            <a:endParaRPr kumimoji="1"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b="1" dirty="0"/>
              <a:t>ACE</a:t>
            </a:r>
            <a:r>
              <a:rPr kumimoji="1" lang="zh-CN" altLang="en-US" b="1" dirty="0"/>
              <a:t>和</a:t>
            </a:r>
            <a:r>
              <a:rPr kumimoji="1" lang="en-US" altLang="zh-CN" b="1" dirty="0"/>
              <a:t>SIMD</a:t>
            </a:r>
            <a:r>
              <a:rPr kumimoji="1" lang="zh-CN" altLang="en-US" b="1" dirty="0"/>
              <a:t>模块的冲突：</a:t>
            </a:r>
            <a:endParaRPr kumimoji="1" lang="en-US" altLang="zh-CN" b="1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700" dirty="0">
                <a:highlight>
                  <a:srgbClr val="FCC129"/>
                </a:highlight>
              </a:rPr>
              <a:t>在错开</a:t>
            </a:r>
            <a:r>
              <a:rPr kumimoji="1" lang="en-US" altLang="zh-CN" sz="1700" dirty="0">
                <a:highlight>
                  <a:srgbClr val="FCC129"/>
                </a:highlight>
              </a:rPr>
              <a:t>LDM</a:t>
            </a:r>
            <a:r>
              <a:rPr kumimoji="1" lang="zh-CN" altLang="en-US" sz="1700" dirty="0">
                <a:highlight>
                  <a:srgbClr val="FCC129"/>
                </a:highlight>
              </a:rPr>
              <a:t> </a:t>
            </a:r>
            <a:r>
              <a:rPr kumimoji="1" lang="en-US" altLang="zh-CN" sz="1700" dirty="0">
                <a:highlight>
                  <a:srgbClr val="FCC129"/>
                </a:highlight>
              </a:rPr>
              <a:t>Bank</a:t>
            </a:r>
            <a:r>
              <a:rPr kumimoji="1" lang="zh-CN" altLang="en-US" sz="1700" dirty="0">
                <a:highlight>
                  <a:srgbClr val="FCC129"/>
                </a:highlight>
              </a:rPr>
              <a:t>的前提下，</a:t>
            </a:r>
            <a:r>
              <a:rPr kumimoji="1" lang="en-US" altLang="zh-CN" sz="1700" dirty="0">
                <a:highlight>
                  <a:srgbClr val="FCC129"/>
                </a:highlight>
              </a:rPr>
              <a:t>ACE</a:t>
            </a:r>
            <a:r>
              <a:rPr kumimoji="1" lang="zh-CN" altLang="en-US" sz="1700" dirty="0">
                <a:highlight>
                  <a:srgbClr val="FCC129"/>
                </a:highlight>
              </a:rPr>
              <a:t>和</a:t>
            </a:r>
            <a:r>
              <a:rPr kumimoji="1" lang="en-US" altLang="zh-CN" sz="1700" dirty="0">
                <a:highlight>
                  <a:srgbClr val="FCC129"/>
                </a:highlight>
              </a:rPr>
              <a:t>SIMD</a:t>
            </a:r>
            <a:r>
              <a:rPr kumimoji="1" lang="zh-CN" altLang="en-US" sz="1700" dirty="0">
                <a:highlight>
                  <a:srgbClr val="FCC129"/>
                </a:highlight>
              </a:rPr>
              <a:t>的掩盖率接近</a:t>
            </a:r>
            <a:r>
              <a:rPr kumimoji="1" lang="en-US" altLang="zh-CN" sz="1700" dirty="0">
                <a:highlight>
                  <a:srgbClr val="FCC129"/>
                </a:highlight>
              </a:rPr>
              <a:t>100%</a:t>
            </a:r>
            <a:r>
              <a:rPr kumimoji="1" lang="zh-CN" altLang="en-US" sz="1700" dirty="0">
                <a:highlight>
                  <a:srgbClr val="FCC129"/>
                </a:highlight>
              </a:rPr>
              <a:t>。</a:t>
            </a:r>
            <a:endParaRPr kumimoji="1" lang="en-US" altLang="zh-CN" sz="1700" dirty="0">
              <a:highlight>
                <a:srgbClr val="FCC129"/>
              </a:highlight>
            </a:endParaRPr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700" dirty="0"/>
              <a:t>在同一</a:t>
            </a:r>
            <a:r>
              <a:rPr kumimoji="1" lang="en-US" altLang="zh-CN" sz="1700" dirty="0"/>
              <a:t>LDM</a:t>
            </a:r>
            <a:r>
              <a:rPr kumimoji="1" lang="zh-CN" altLang="en-US" sz="1700" dirty="0"/>
              <a:t> </a:t>
            </a:r>
            <a:r>
              <a:rPr kumimoji="1" lang="en-US" altLang="zh-CN" sz="1700" dirty="0"/>
              <a:t>Bank</a:t>
            </a:r>
            <a:r>
              <a:rPr kumimoji="1" lang="zh-CN" altLang="en-US" sz="1700" dirty="0"/>
              <a:t>时，掩盖性能取决于</a:t>
            </a:r>
            <a:r>
              <a:rPr kumimoji="1" lang="en-US" altLang="zh-CN" sz="1700" dirty="0"/>
              <a:t>SIMD</a:t>
            </a:r>
            <a:r>
              <a:rPr kumimoji="1" lang="zh-CN" altLang="en-US" sz="1700" dirty="0"/>
              <a:t>的访存模式（比如</a:t>
            </a:r>
            <a:r>
              <a:rPr kumimoji="1" lang="en-US" altLang="zh-CN" sz="1700" dirty="0"/>
              <a:t>SIMD</a:t>
            </a:r>
            <a:r>
              <a:rPr kumimoji="1" lang="zh-CN" altLang="en-US" sz="1700" dirty="0"/>
              <a:t> </a:t>
            </a:r>
            <a:r>
              <a:rPr kumimoji="1" lang="en-US" altLang="zh-CN" sz="1700" dirty="0"/>
              <a:t>160/GB/s</a:t>
            </a:r>
            <a:r>
              <a:rPr kumimoji="1" lang="zh-CN" altLang="en-US" sz="1700" dirty="0"/>
              <a:t>的</a:t>
            </a:r>
            <a:r>
              <a:rPr kumimoji="1" lang="en-US" altLang="zh-CN" sz="1700" dirty="0"/>
              <a:t>load</a:t>
            </a:r>
            <a:r>
              <a:rPr kumimoji="1" lang="zh-CN" altLang="en-US" sz="1700" dirty="0"/>
              <a:t>就会和</a:t>
            </a:r>
            <a:r>
              <a:rPr kumimoji="1" lang="en-US" altLang="zh-CN" sz="1700" dirty="0"/>
              <a:t>80GB/s</a:t>
            </a:r>
            <a:r>
              <a:rPr kumimoji="1" lang="zh-CN" altLang="en-US" sz="1700" dirty="0"/>
              <a:t>带宽需求的西向产生严重的冲突掉速）。常规场景仍能做到较好的掩盖效果，以大模型推理量化</a:t>
            </a:r>
            <a:r>
              <a:rPr kumimoji="1" lang="en-US" altLang="zh-CN" sz="1700" dirty="0" err="1"/>
              <a:t>Microbench</a:t>
            </a:r>
            <a:r>
              <a:rPr kumimoji="1" lang="zh-CN" altLang="en-US" sz="1700" dirty="0"/>
              <a:t>为例，有</a:t>
            </a:r>
            <a:r>
              <a:rPr kumimoji="1" lang="en-US" altLang="zh-CN" sz="1700" dirty="0"/>
              <a:t>85%</a:t>
            </a:r>
            <a:r>
              <a:rPr kumimoji="1" lang="zh-CN" altLang="en-US" sz="1700" dirty="0"/>
              <a:t>以上掩盖效果。</a:t>
            </a:r>
            <a:endParaRPr kumimoji="1" lang="en-US" altLang="zh-CN" sz="17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700" dirty="0"/>
              <a:t>实现</a:t>
            </a:r>
            <a:r>
              <a:rPr kumimoji="1" lang="en-US" altLang="zh-CN" sz="1700" dirty="0"/>
              <a:t>ACE</a:t>
            </a:r>
            <a:r>
              <a:rPr kumimoji="1" lang="zh-CN" altLang="en-US" sz="1700" dirty="0"/>
              <a:t>和</a:t>
            </a:r>
            <a:r>
              <a:rPr kumimoji="1" lang="en-US" altLang="zh-CN" sz="1700" dirty="0"/>
              <a:t>SIMD</a:t>
            </a:r>
            <a:r>
              <a:rPr kumimoji="1" lang="zh-CN" altLang="en-US" sz="1700" dirty="0"/>
              <a:t>掩盖时，需要考虑</a:t>
            </a:r>
            <a:r>
              <a:rPr kumimoji="1" lang="en-US" altLang="zh-CN" sz="1700" dirty="0"/>
              <a:t>ACE</a:t>
            </a:r>
            <a:r>
              <a:rPr kumimoji="1" lang="zh-CN" altLang="en-US" sz="1700" dirty="0"/>
              <a:t>内部队列长度，避免</a:t>
            </a:r>
            <a:r>
              <a:rPr kumimoji="1" lang="en-US" altLang="zh-CN" sz="1700" dirty="0"/>
              <a:t>ACE</a:t>
            </a:r>
            <a:r>
              <a:rPr kumimoji="1" lang="zh-CN" altLang="en-US" sz="1700" dirty="0"/>
              <a:t>指令反压。详细分析有待摸排。</a:t>
            </a:r>
            <a:endParaRPr kumimoji="1" lang="en-US" altLang="zh-CN" sz="17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kumimoji="1" lang="en-US" altLang="zh-CN" sz="1700" dirty="0"/>
              <a:t>ACE</a:t>
            </a:r>
            <a:r>
              <a:rPr kumimoji="1" lang="zh-CN" altLang="en-US" sz="1700" dirty="0"/>
              <a:t>队列存在反压，例如发送</a:t>
            </a:r>
            <a:r>
              <a:rPr kumimoji="1" lang="en-US" altLang="zh-CN" sz="1700" dirty="0"/>
              <a:t>32</a:t>
            </a:r>
            <a:r>
              <a:rPr kumimoji="1" lang="zh-CN" altLang="en-US" sz="1700" dirty="0"/>
              <a:t>条</a:t>
            </a:r>
            <a:r>
              <a:rPr kumimoji="1" lang="en-US" altLang="zh-CN" sz="1700" dirty="0"/>
              <a:t>ACE</a:t>
            </a:r>
            <a:r>
              <a:rPr kumimoji="1" lang="zh-CN" altLang="en-US" sz="1700" dirty="0"/>
              <a:t>指令后再算</a:t>
            </a:r>
            <a:r>
              <a:rPr kumimoji="1" lang="en-US" altLang="zh-CN" sz="1700" dirty="0"/>
              <a:t>SIMD</a:t>
            </a:r>
            <a:r>
              <a:rPr kumimoji="1" lang="zh-CN" altLang="en-US" sz="1700" dirty="0"/>
              <a:t>，一定会卡在</a:t>
            </a:r>
            <a:r>
              <a:rPr kumimoji="1" lang="en-US" altLang="zh-CN" sz="1700" dirty="0"/>
              <a:t>ACE</a:t>
            </a:r>
            <a:r>
              <a:rPr kumimoji="1" lang="zh-CN" altLang="en-US" sz="1700" dirty="0"/>
              <a:t>上。暂时推荐发送</a:t>
            </a:r>
            <a:r>
              <a:rPr kumimoji="1" lang="en-US" altLang="zh-CN" sz="1700" dirty="0"/>
              <a:t>4</a:t>
            </a:r>
            <a:r>
              <a:rPr kumimoji="1" lang="zh-CN" altLang="en-US" sz="1700" dirty="0"/>
              <a:t>条</a:t>
            </a:r>
            <a:r>
              <a:rPr kumimoji="1" lang="en-US" altLang="zh-CN" sz="1700" dirty="0"/>
              <a:t>ACE</a:t>
            </a:r>
            <a:r>
              <a:rPr kumimoji="1" lang="zh-CN" altLang="en-US" sz="1700" dirty="0"/>
              <a:t>就进行</a:t>
            </a:r>
            <a:r>
              <a:rPr kumimoji="1" lang="en-US" altLang="zh-CN" sz="1700" dirty="0"/>
              <a:t>SIMD</a:t>
            </a:r>
            <a:r>
              <a:rPr kumimoji="1" lang="zh-CN" altLang="en-US" sz="1700" dirty="0"/>
              <a:t>。</a:t>
            </a:r>
            <a:endParaRPr kumimoji="1" lang="en-US" altLang="zh-CN" sz="17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kumimoji="1" lang="zh-CN" altLang="en-US" sz="1700" dirty="0"/>
              <a:t>根据</a:t>
            </a:r>
            <a:r>
              <a:rPr kumimoji="1" lang="en-US" altLang="zh-CN" sz="1700" dirty="0"/>
              <a:t>IO</a:t>
            </a:r>
            <a:r>
              <a:rPr kumimoji="1" lang="zh-CN" altLang="en-US" sz="1700" dirty="0"/>
              <a:t>寄存器手册，</a:t>
            </a:r>
            <a:r>
              <a:rPr kumimoji="1" lang="en-US" altLang="zh-CN" sz="1700" dirty="0"/>
              <a:t>ACE</a:t>
            </a:r>
            <a:r>
              <a:rPr kumimoji="1" lang="zh-CN" altLang="en-US" sz="1700" dirty="0"/>
              <a:t>内部有通用队列和每条指令的专用队列，长度和特性有待分析。</a:t>
            </a:r>
            <a:endParaRPr kumimoji="1" lang="en-US" altLang="zh-CN" sz="17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kumimoji="1"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F5E985-1EE3-6F7B-01F1-1D8372D565B5}"/>
              </a:ext>
            </a:extLst>
          </p:cNvPr>
          <p:cNvSpPr/>
          <p:nvPr/>
        </p:nvSpPr>
        <p:spPr>
          <a:xfrm>
            <a:off x="8321106" y="1950957"/>
            <a:ext cx="1662545" cy="14522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ACE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FBE3BE32-3396-224E-2BA1-105DF618A339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7441631" y="2677079"/>
            <a:ext cx="8794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A0031743-4CA3-398A-C451-0E731661E164}"/>
              </a:ext>
            </a:extLst>
          </p:cNvPr>
          <p:cNvCxnSpPr>
            <a:endCxn id="2" idx="0"/>
          </p:cNvCxnSpPr>
          <p:nvPr/>
        </p:nvCxnSpPr>
        <p:spPr>
          <a:xfrm>
            <a:off x="9152378" y="1338873"/>
            <a:ext cx="1" cy="612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肘形连接符 8">
            <a:extLst>
              <a:ext uri="{FF2B5EF4-FFF2-40B4-BE49-F238E27FC236}">
                <a16:creationId xmlns:a16="http://schemas.microsoft.com/office/drawing/2014/main" id="{038C1D54-9D95-004A-EB19-2E3742D25681}"/>
              </a:ext>
            </a:extLst>
          </p:cNvPr>
          <p:cNvCxnSpPr>
            <a:stCxn id="2" idx="3"/>
          </p:cNvCxnSpPr>
          <p:nvPr/>
        </p:nvCxnSpPr>
        <p:spPr>
          <a:xfrm>
            <a:off x="9983651" y="2677079"/>
            <a:ext cx="387927" cy="15093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D42F2929-9E90-1C8B-1EAD-A089EDD6B47B}"/>
              </a:ext>
            </a:extLst>
          </p:cNvPr>
          <p:cNvSpPr txBox="1"/>
          <p:nvPr/>
        </p:nvSpPr>
        <p:spPr>
          <a:xfrm>
            <a:off x="6910653" y="2677079"/>
            <a:ext cx="1338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80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GB/s</a:t>
            </a:r>
            <a:endParaRPr kumimoji="1"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73AE60-AD89-82FC-3CEF-89A6DC5C5A56}"/>
              </a:ext>
            </a:extLst>
          </p:cNvPr>
          <p:cNvSpPr txBox="1"/>
          <p:nvPr/>
        </p:nvSpPr>
        <p:spPr>
          <a:xfrm>
            <a:off x="8268692" y="1045263"/>
            <a:ext cx="15529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20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or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27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GB/s</a:t>
            </a:r>
            <a:endParaRPr kumimoji="1" lang="zh-CN" altLang="en-US" sz="1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490FB76-D107-28CE-BF05-68D6777BC325}"/>
              </a:ext>
            </a:extLst>
          </p:cNvPr>
          <p:cNvSpPr txBox="1"/>
          <p:nvPr/>
        </p:nvSpPr>
        <p:spPr>
          <a:xfrm>
            <a:off x="10371578" y="3233924"/>
            <a:ext cx="15529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15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or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27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GB/s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36220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361950" y="6398036"/>
            <a:ext cx="11367943" cy="295144"/>
            <a:chOff x="371475" y="4964836"/>
            <a:chExt cx="11367943" cy="295144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71475" y="5125367"/>
              <a:ext cx="10521084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1341100" y="5125367"/>
              <a:ext cx="398318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0886209" y="4964836"/>
              <a:ext cx="454891" cy="295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0103" y="352983"/>
            <a:ext cx="7481981" cy="541920"/>
            <a:chOff x="0" y="338431"/>
            <a:chExt cx="7481981" cy="541920"/>
          </a:xfrm>
        </p:grpSpPr>
        <p:sp>
          <p:nvSpPr>
            <p:cNvPr id="5" name="矩形 4"/>
            <p:cNvSpPr/>
            <p:nvPr/>
          </p:nvSpPr>
          <p:spPr>
            <a:xfrm>
              <a:off x="0" y="348602"/>
              <a:ext cx="101600" cy="531749"/>
            </a:xfrm>
            <a:prstGeom prst="rect">
              <a:avLst/>
            </a:prstGeom>
            <a:solidFill>
              <a:srgbClr val="E26C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35003" y="338431"/>
              <a:ext cx="7246978" cy="531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多模块协作掉速分析（待完善）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C02C4A53-88F8-80DA-B014-ED8EBC20FC85}"/>
              </a:ext>
            </a:extLst>
          </p:cNvPr>
          <p:cNvSpPr txBox="1"/>
          <p:nvPr/>
        </p:nvSpPr>
        <p:spPr>
          <a:xfrm>
            <a:off x="389838" y="1060869"/>
            <a:ext cx="541091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/>
              <a:t>DMA</a:t>
            </a:r>
            <a:r>
              <a:rPr kumimoji="1" lang="zh-CN" altLang="en-US" b="1" dirty="0"/>
              <a:t>和其他模块的冲突：</a:t>
            </a:r>
            <a:endParaRPr kumimoji="1" lang="en-US" altLang="zh-CN" b="1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700" dirty="0"/>
              <a:t>常见的</a:t>
            </a:r>
            <a:r>
              <a:rPr kumimoji="1" lang="en-US" altLang="zh-CN" sz="1700" dirty="0"/>
              <a:t>DMA</a:t>
            </a:r>
            <a:r>
              <a:rPr kumimoji="1" lang="zh-CN" altLang="en-US" sz="1700" dirty="0"/>
              <a:t>和</a:t>
            </a:r>
            <a:r>
              <a:rPr kumimoji="1" lang="en-US" altLang="zh-CN" sz="1700" dirty="0"/>
              <a:t>RMA</a:t>
            </a:r>
            <a:r>
              <a:rPr kumimoji="1" lang="zh-CN" altLang="en-US" sz="1700" dirty="0"/>
              <a:t>使用模式下，不会在路由和从核端口间的</a:t>
            </a:r>
            <a:r>
              <a:rPr kumimoji="1" lang="en-US" altLang="zh-CN" sz="1700" dirty="0"/>
              <a:t>64GB/s</a:t>
            </a:r>
            <a:r>
              <a:rPr kumimoji="1" lang="zh-CN" altLang="en-US" sz="1700" dirty="0"/>
              <a:t>处掉速。</a:t>
            </a:r>
            <a:endParaRPr kumimoji="1" lang="en-US" altLang="zh-CN" sz="1700" dirty="0"/>
          </a:p>
          <a:p>
            <a:pPr marL="800100" lvl="1" indent="-342900">
              <a:buFont typeface="+mj-lt"/>
              <a:buAutoNum type="arabicPeriod"/>
            </a:pPr>
            <a:endParaRPr kumimoji="1" lang="en-US" altLang="zh-CN" sz="17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700" dirty="0"/>
              <a:t>在</a:t>
            </a:r>
            <a:r>
              <a:rPr kumimoji="1" lang="en-US" altLang="zh-CN" sz="1700" dirty="0"/>
              <a:t>DMA</a:t>
            </a:r>
            <a:r>
              <a:rPr kumimoji="1" lang="zh-CN" altLang="en-US" sz="1700" dirty="0"/>
              <a:t>和计算同时存在的</a:t>
            </a:r>
            <a:r>
              <a:rPr kumimoji="1" lang="en-US" altLang="zh-CN" sz="1700" dirty="0"/>
              <a:t>【</a:t>
            </a:r>
            <a:r>
              <a:rPr kumimoji="1" lang="zh-CN" altLang="en-US" sz="1700" dirty="0"/>
              <a:t>访存瓶颈</a:t>
            </a:r>
            <a:r>
              <a:rPr kumimoji="1" lang="en-US" altLang="zh-CN" sz="1700" dirty="0"/>
              <a:t>】</a:t>
            </a:r>
            <a:r>
              <a:rPr kumimoji="1" lang="zh-CN" altLang="en-US" sz="1700" dirty="0"/>
              <a:t>应用中，如果同时存在至少两组数据大小和访问间隔不一致的</a:t>
            </a:r>
            <a:r>
              <a:rPr kumimoji="1" lang="en-US" altLang="zh-CN" sz="1700" dirty="0"/>
              <a:t>DMA</a:t>
            </a:r>
            <a:r>
              <a:rPr kumimoji="1" lang="zh-CN" altLang="en-US" sz="1700" dirty="0"/>
              <a:t>，可能导致部分计算处于关键路径上。比如右图的</a:t>
            </a:r>
            <a:r>
              <a:rPr kumimoji="1" lang="en-US" altLang="zh-CN" sz="1700" dirty="0"/>
              <a:t>DMA_GET_PUT_C</a:t>
            </a:r>
            <a:r>
              <a:rPr kumimoji="1" lang="zh-CN" altLang="en-US" sz="1700" dirty="0"/>
              <a:t>和</a:t>
            </a:r>
            <a:r>
              <a:rPr kumimoji="1" lang="en-US" altLang="zh-CN" sz="1700" dirty="0"/>
              <a:t>DMA_B</a:t>
            </a:r>
            <a:r>
              <a:rPr kumimoji="1" lang="zh-CN" altLang="en-US" sz="1700" dirty="0"/>
              <a:t>，每</a:t>
            </a:r>
            <a:r>
              <a:rPr kumimoji="1" lang="en-US" altLang="zh-CN" sz="1700" dirty="0"/>
              <a:t>4</a:t>
            </a:r>
            <a:r>
              <a:rPr kumimoji="1" lang="zh-CN" altLang="en-US" sz="1700" dirty="0"/>
              <a:t>次</a:t>
            </a:r>
            <a:r>
              <a:rPr kumimoji="1" lang="en-US" altLang="zh-CN" sz="1700" dirty="0"/>
              <a:t>DMA_GET_PUT_C</a:t>
            </a:r>
            <a:r>
              <a:rPr kumimoji="1" lang="zh-CN" altLang="en-US" sz="1700" dirty="0"/>
              <a:t>调用</a:t>
            </a:r>
            <a:r>
              <a:rPr kumimoji="1" lang="en-US" altLang="zh-CN" sz="1700" dirty="0"/>
              <a:t>1</a:t>
            </a:r>
            <a:r>
              <a:rPr kumimoji="1" lang="zh-CN" altLang="en-US" sz="1700" dirty="0"/>
              <a:t>次</a:t>
            </a:r>
            <a:r>
              <a:rPr kumimoji="1" lang="en-US" altLang="zh-CN" sz="1700" dirty="0"/>
              <a:t>DMA_B</a:t>
            </a:r>
            <a:r>
              <a:rPr kumimoji="1" lang="zh-CN" altLang="en-US" sz="1700" dirty="0"/>
              <a:t>，</a:t>
            </a:r>
            <a:r>
              <a:rPr kumimoji="1" lang="en-US" altLang="zh-CN" sz="1700" dirty="0"/>
              <a:t>DMA_B</a:t>
            </a:r>
            <a:r>
              <a:rPr kumimoji="1" lang="zh-CN" altLang="en-US" sz="1700" dirty="0"/>
              <a:t>在前两个周期完成后，后两个周期</a:t>
            </a:r>
            <a:r>
              <a:rPr kumimoji="1" lang="en-US" altLang="zh-CN" sz="1700" dirty="0"/>
              <a:t>ACE</a:t>
            </a:r>
            <a:r>
              <a:rPr kumimoji="1" lang="zh-CN" altLang="en-US" sz="1700" dirty="0"/>
              <a:t>计算位于关键路径上，从而</a:t>
            </a:r>
            <a:r>
              <a:rPr kumimoji="1" lang="en-US" altLang="zh-CN" sz="1700" dirty="0"/>
              <a:t>DMA_GET_PUT_C</a:t>
            </a:r>
            <a:r>
              <a:rPr kumimoji="1" lang="zh-CN" altLang="en-US" sz="1700" dirty="0"/>
              <a:t>之间存在空泡。此场景把</a:t>
            </a:r>
            <a:r>
              <a:rPr kumimoji="1" lang="en-US" altLang="zh-CN" sz="1700" dirty="0"/>
              <a:t>DMA_B</a:t>
            </a:r>
            <a:r>
              <a:rPr kumimoji="1" lang="zh-CN" altLang="en-US" sz="1700" dirty="0"/>
              <a:t>均匀切成</a:t>
            </a:r>
            <a:r>
              <a:rPr kumimoji="1" lang="en-US" altLang="zh-CN" sz="1700" dirty="0"/>
              <a:t>4</a:t>
            </a:r>
            <a:r>
              <a:rPr kumimoji="1" lang="zh-CN" altLang="en-US" sz="1700" dirty="0"/>
              <a:t>份有显著性能收益。</a:t>
            </a:r>
            <a:endParaRPr kumimoji="1" lang="en-US" altLang="zh-CN" sz="1700" dirty="0"/>
          </a:p>
          <a:p>
            <a:pPr marL="800100" lvl="1" indent="-342900">
              <a:buFont typeface="+mj-lt"/>
              <a:buAutoNum type="arabicPeriod"/>
            </a:pPr>
            <a:endParaRPr kumimoji="1" lang="en-US" altLang="zh-CN" sz="17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700" dirty="0"/>
              <a:t>同步（比如由</a:t>
            </a:r>
            <a:r>
              <a:rPr kumimoji="1" lang="en-US" altLang="zh-CN" sz="1700" dirty="0"/>
              <a:t>RMA</a:t>
            </a:r>
            <a:r>
              <a:rPr kumimoji="1" lang="zh-CN" altLang="en-US" sz="1700" dirty="0"/>
              <a:t>带来的同步）会对</a:t>
            </a:r>
            <a:r>
              <a:rPr kumimoji="1" lang="en-US" altLang="zh-CN" sz="1700" dirty="0"/>
              <a:t>DMA</a:t>
            </a:r>
            <a:r>
              <a:rPr kumimoji="1" lang="zh-CN" altLang="en-US" sz="1700" dirty="0"/>
              <a:t>性能产生较大影响，</a:t>
            </a:r>
            <a:r>
              <a:rPr kumimoji="1" lang="zh-CN" altLang="en-US" sz="1700" dirty="0">
                <a:highlight>
                  <a:srgbClr val="FCC129"/>
                </a:highlight>
              </a:rPr>
              <a:t>这是大部分场景多</a:t>
            </a:r>
            <a:r>
              <a:rPr kumimoji="1" lang="en-US" altLang="zh-CN" sz="1700" dirty="0">
                <a:highlight>
                  <a:srgbClr val="FCC129"/>
                </a:highlight>
              </a:rPr>
              <a:t>Master</a:t>
            </a:r>
            <a:r>
              <a:rPr kumimoji="1" lang="zh-CN" altLang="en-US" sz="1700" dirty="0">
                <a:highlight>
                  <a:srgbClr val="FCC129"/>
                </a:highlight>
              </a:rPr>
              <a:t>掉速的主要原因</a:t>
            </a:r>
            <a:r>
              <a:rPr kumimoji="1" lang="zh-CN" altLang="en-US" sz="1700" dirty="0"/>
              <a:t>，原因有待摸排。注意此时</a:t>
            </a:r>
            <a:r>
              <a:rPr kumimoji="1" lang="en-US" altLang="zh-CN" sz="1700" dirty="0"/>
              <a:t>RMA</a:t>
            </a:r>
            <a:r>
              <a:rPr kumimoji="1" lang="zh-CN" altLang="en-US" sz="1700" dirty="0"/>
              <a:t>通信自身一般不会带来性能损失，性能损失来源于引入同步后</a:t>
            </a:r>
            <a:r>
              <a:rPr kumimoji="1" lang="en-US" altLang="zh-CN" sz="1700" dirty="0"/>
              <a:t>DMA</a:t>
            </a:r>
            <a:r>
              <a:rPr kumimoji="1" lang="zh-CN" altLang="en-US" sz="1700" dirty="0"/>
              <a:t>性能下降。</a:t>
            </a:r>
            <a:endParaRPr kumimoji="1" lang="en-US" altLang="zh-CN" sz="17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547A50D-29F2-1230-2EB2-E507038298B0}"/>
              </a:ext>
            </a:extLst>
          </p:cNvPr>
          <p:cNvGrpSpPr/>
          <p:nvPr/>
        </p:nvGrpSpPr>
        <p:grpSpPr>
          <a:xfrm>
            <a:off x="6391254" y="579583"/>
            <a:ext cx="1527387" cy="1324053"/>
            <a:chOff x="6591378" y="1608162"/>
            <a:chExt cx="1527387" cy="1324053"/>
          </a:xfrm>
        </p:grpSpPr>
        <p:sp>
          <p:nvSpPr>
            <p:cNvPr id="8" name="菱形 7">
              <a:extLst>
                <a:ext uri="{FF2B5EF4-FFF2-40B4-BE49-F238E27FC236}">
                  <a16:creationId xmlns:a16="http://schemas.microsoft.com/office/drawing/2014/main" id="{1B1852FD-7030-87B9-4F11-2A52E6703589}"/>
                </a:ext>
              </a:extLst>
            </p:cNvPr>
            <p:cNvSpPr/>
            <p:nvPr/>
          </p:nvSpPr>
          <p:spPr>
            <a:xfrm>
              <a:off x="7268533" y="2164749"/>
              <a:ext cx="242187" cy="304800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圆角矩形 9">
              <a:extLst>
                <a:ext uri="{FF2B5EF4-FFF2-40B4-BE49-F238E27FC236}">
                  <a16:creationId xmlns:a16="http://schemas.microsoft.com/office/drawing/2014/main" id="{598C0C3E-034B-C688-8DF7-399685BBA761}"/>
                </a:ext>
              </a:extLst>
            </p:cNvPr>
            <p:cNvSpPr/>
            <p:nvPr/>
          </p:nvSpPr>
          <p:spPr>
            <a:xfrm>
              <a:off x="6777974" y="1608162"/>
              <a:ext cx="348916" cy="372979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20574E87-B6E0-D585-DDEC-D63A0D44BE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6890" y="1981141"/>
              <a:ext cx="193462" cy="2390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2925B24F-3BF1-872F-600D-ECC73BFC5E94}"/>
                </a:ext>
              </a:extLst>
            </p:cNvPr>
            <p:cNvCxnSpPr/>
            <p:nvPr/>
          </p:nvCxnSpPr>
          <p:spPr>
            <a:xfrm>
              <a:off x="6777974" y="2317149"/>
              <a:ext cx="13407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C68CFBC3-6CC2-4048-336E-520913CA5D03}"/>
                </a:ext>
              </a:extLst>
            </p:cNvPr>
            <p:cNvCxnSpPr/>
            <p:nvPr/>
          </p:nvCxnSpPr>
          <p:spPr>
            <a:xfrm>
              <a:off x="7389626" y="1608162"/>
              <a:ext cx="0" cy="13240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5577DE9-CF0D-1DD5-9993-BE0E24D6FD3B}"/>
                </a:ext>
              </a:extLst>
            </p:cNvPr>
            <p:cNvSpPr txBox="1"/>
            <p:nvPr/>
          </p:nvSpPr>
          <p:spPr>
            <a:xfrm>
              <a:off x="6591378" y="1979652"/>
              <a:ext cx="7377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64GB/s</a:t>
              </a:r>
              <a:endParaRPr kumimoji="1" lang="zh-CN" altLang="en-US" sz="1400" dirty="0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F4D1478A-B3AE-7040-B7E0-C2022E8C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684" y="2173516"/>
            <a:ext cx="5008129" cy="22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64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361950" y="6398036"/>
            <a:ext cx="11367943" cy="295144"/>
            <a:chOff x="371475" y="4964836"/>
            <a:chExt cx="11367943" cy="295144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71475" y="5125367"/>
              <a:ext cx="10521084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1341100" y="5125367"/>
              <a:ext cx="398318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0886209" y="4964836"/>
              <a:ext cx="454891" cy="295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0103" y="352983"/>
            <a:ext cx="7481981" cy="541920"/>
            <a:chOff x="0" y="338431"/>
            <a:chExt cx="7481981" cy="541920"/>
          </a:xfrm>
        </p:grpSpPr>
        <p:sp>
          <p:nvSpPr>
            <p:cNvPr id="5" name="矩形 4"/>
            <p:cNvSpPr/>
            <p:nvPr/>
          </p:nvSpPr>
          <p:spPr>
            <a:xfrm>
              <a:off x="0" y="348602"/>
              <a:ext cx="101600" cy="531749"/>
            </a:xfrm>
            <a:prstGeom prst="rect">
              <a:avLst/>
            </a:prstGeom>
            <a:solidFill>
              <a:srgbClr val="E26C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35003" y="338431"/>
              <a:ext cx="7246978" cy="531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600" b="1" dirty="0" err="1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Microbench</a:t>
              </a:r>
              <a:r>
                <a:rPr lang="zh-CN" altLang="en-US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逆向思路（待补充）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6400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361950" y="6398036"/>
            <a:ext cx="11367943" cy="295144"/>
            <a:chOff x="371475" y="4964836"/>
            <a:chExt cx="11367943" cy="295144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371475" y="5125367"/>
              <a:ext cx="10521084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1341100" y="5125367"/>
              <a:ext cx="398318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0886209" y="4964836"/>
              <a:ext cx="454891" cy="295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0103" y="352983"/>
            <a:ext cx="7481981" cy="541920"/>
            <a:chOff x="0" y="338431"/>
            <a:chExt cx="7481981" cy="541920"/>
          </a:xfrm>
        </p:grpSpPr>
        <p:sp>
          <p:nvSpPr>
            <p:cNvPr id="5" name="矩形 4"/>
            <p:cNvSpPr/>
            <p:nvPr/>
          </p:nvSpPr>
          <p:spPr>
            <a:xfrm>
              <a:off x="0" y="348602"/>
              <a:ext cx="101600" cy="531749"/>
            </a:xfrm>
            <a:prstGeom prst="rect">
              <a:avLst/>
            </a:prstGeom>
            <a:solidFill>
              <a:srgbClr val="E26C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35003" y="338431"/>
              <a:ext cx="7246978" cy="531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600" b="1" dirty="0">
                  <a:solidFill>
                    <a:srgbClr val="E26C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参与人员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7EB18B2-0379-EC7C-3609-F5AFD8926906}"/>
              </a:ext>
            </a:extLst>
          </p:cNvPr>
          <p:cNvSpPr txBox="1"/>
          <p:nvPr/>
        </p:nvSpPr>
        <p:spPr>
          <a:xfrm>
            <a:off x="361950" y="1122218"/>
            <a:ext cx="95163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感谢以下同学的付出：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孙瑞鑫：</a:t>
            </a:r>
            <a:r>
              <a:rPr kumimoji="1" lang="en-US" altLang="zh-CN" dirty="0"/>
              <a:t>DMA</a:t>
            </a:r>
            <a:r>
              <a:rPr kumimoji="1" lang="zh-CN" altLang="en-US" dirty="0"/>
              <a:t>性能冲突分析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路文斌：交叉开关和</a:t>
            </a:r>
            <a:r>
              <a:rPr kumimoji="1" lang="en-US" altLang="zh-CN" dirty="0"/>
              <a:t>HBM</a:t>
            </a:r>
            <a:r>
              <a:rPr kumimoji="1" lang="zh-CN" altLang="en-US" dirty="0"/>
              <a:t>交织分析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张智博：</a:t>
            </a:r>
            <a:r>
              <a:rPr kumimoji="1" lang="en-US" altLang="zh-CN" dirty="0"/>
              <a:t>ACE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SIMD</a:t>
            </a:r>
            <a:r>
              <a:rPr kumimoji="1" lang="zh-CN" altLang="en-US" dirty="0"/>
              <a:t>冲突分析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侯银星：</a:t>
            </a:r>
            <a:r>
              <a:rPr kumimoji="1" lang="en-US" altLang="zh-CN" dirty="0"/>
              <a:t>DMA</a:t>
            </a:r>
            <a:r>
              <a:rPr kumimoji="1" lang="zh-CN" altLang="en-US" dirty="0"/>
              <a:t>极限带宽分析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李雨杭：</a:t>
            </a:r>
            <a:r>
              <a:rPr kumimoji="1" lang="en-US" altLang="zh-CN" dirty="0"/>
              <a:t>DMA</a:t>
            </a:r>
            <a:r>
              <a:rPr kumimoji="1" lang="zh-CN" altLang="en-US" dirty="0"/>
              <a:t>极限带宽分析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张宇楠：</a:t>
            </a:r>
            <a:r>
              <a:rPr kumimoji="1" lang="en-US" altLang="zh-CN" dirty="0"/>
              <a:t>DMA</a:t>
            </a:r>
            <a:r>
              <a:rPr kumimoji="1" lang="zh-CN" altLang="en-US" dirty="0"/>
              <a:t>、</a:t>
            </a:r>
            <a:r>
              <a:rPr kumimoji="1" lang="en-US" altLang="zh-CN" dirty="0"/>
              <a:t>RMA</a:t>
            </a:r>
            <a:r>
              <a:rPr kumimoji="1" lang="zh-CN" altLang="en-US" dirty="0"/>
              <a:t>和</a:t>
            </a:r>
            <a:r>
              <a:rPr kumimoji="1" lang="en-US" altLang="zh-CN" dirty="0"/>
              <a:t>ACE</a:t>
            </a:r>
            <a:r>
              <a:rPr kumimoji="1" lang="zh-CN" altLang="en-US" dirty="0"/>
              <a:t>相关分析，</a:t>
            </a:r>
            <a:r>
              <a:rPr kumimoji="1" lang="en-US" altLang="zh-CN" dirty="0"/>
              <a:t>RMA</a:t>
            </a:r>
            <a:r>
              <a:rPr kumimoji="1" lang="zh-CN" altLang="en-US" dirty="0"/>
              <a:t>广播性能分析</a:t>
            </a:r>
          </a:p>
        </p:txBody>
      </p:sp>
    </p:spTree>
    <p:extLst>
      <p:ext uri="{BB962C8B-B14F-4D97-AF65-F5344CB8AC3E}">
        <p14:creationId xmlns:p14="http://schemas.microsoft.com/office/powerpoint/2010/main" val="1186700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30" y="425400"/>
            <a:ext cx="2646540" cy="13938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09" y="2809891"/>
            <a:ext cx="6734391" cy="207368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09" y="5202794"/>
            <a:ext cx="4294763" cy="548916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580809" y="4883575"/>
            <a:ext cx="679789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YyMDgwNzcyMDlmNjAwNmIxZGM4Y2Q4ZTlkMzgxNz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3943</TotalTime>
  <Words>3031</Words>
  <Application>Microsoft Macintosh PowerPoint</Application>
  <PresentationFormat>宽屏</PresentationFormat>
  <Paragraphs>349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Arial</vt:lpstr>
      <vt:lpstr>等线</vt:lpstr>
      <vt:lpstr>等线 Light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总经理办公室</dc:creator>
  <cp:lastModifiedBy>yuxuan-l17@mails.tsinghua.edu.cn</cp:lastModifiedBy>
  <cp:revision>998</cp:revision>
  <dcterms:created xsi:type="dcterms:W3CDTF">2022-08-08T07:47:00Z</dcterms:created>
  <dcterms:modified xsi:type="dcterms:W3CDTF">2024-02-28T09:13:20Z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ED37A67AFBBD4A91BC55956A9AA80C5B_12</vt:lpwstr>
  </property>
  <property fmtid="{D5CDD505-2E9C-101B-9397-08002B2CF9AE}" pid="3" name="KSOProductBuildVer">
    <vt:lpwstr>2052-12.1.0.15120</vt:lpwstr>
  </property>
</Properties>
</file>